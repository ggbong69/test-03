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97124d40af409d" /><Relationship Type="http://schemas.openxmlformats.org/officeDocument/2006/relationships/extended-properties" Target="/docProps/app.xml" Id="R67b3b4281c764a04" /><Relationship Type="http://schemas.openxmlformats.org/officeDocument/2006/relationships/officeDocument" Target="/ppt/presentation.xml" Id="Rdb4d32b4431749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a0f137edac4f6e"/>
  </p:sldMasterIdLst>
  <p:notesMasterIdLst>
    <p:notesMasterId xmlns:r="http://schemas.openxmlformats.org/officeDocument/2006/relationships" r:id="Rf69aabe78fd94ac5"/>
  </p:notesMasterIdLst>
  <p:sldIdLst>
    <p:sldId xmlns:r="http://schemas.openxmlformats.org/officeDocument/2006/relationships" id="256" r:id="R6b18da6f2a5e40aa"/>
    <p:sldId xmlns:r="http://schemas.openxmlformats.org/officeDocument/2006/relationships" id="257" r:id="Rca5d40ec0fe24d52"/>
    <p:sldId xmlns:r="http://schemas.openxmlformats.org/officeDocument/2006/relationships" id="258" r:id="R5e0c7d235fb74e1f"/>
    <p:sldId xmlns:r="http://schemas.openxmlformats.org/officeDocument/2006/relationships" id="259" r:id="R5098fc436e634b53"/>
    <p:sldId xmlns:r="http://schemas.openxmlformats.org/officeDocument/2006/relationships" id="260" r:id="Rdba3302ef294439f"/>
    <p:sldId xmlns:r="http://schemas.openxmlformats.org/officeDocument/2006/relationships" id="261" r:id="R7eda7bdf4b3240d4"/>
    <p:sldId xmlns:r="http://schemas.openxmlformats.org/officeDocument/2006/relationships" id="262" r:id="Rdb3d99c99ceb49e1"/>
    <p:sldId xmlns:r="http://schemas.openxmlformats.org/officeDocument/2006/relationships" id="263" r:id="R18c7fabc0594489d"/>
    <p:sldId xmlns:r="http://schemas.openxmlformats.org/officeDocument/2006/relationships" id="264" r:id="Rcf0a417acb6d404c"/>
    <p:sldId xmlns:r="http://schemas.openxmlformats.org/officeDocument/2006/relationships" id="265" r:id="Rbad561996c57404e"/>
    <p:sldId xmlns:r="http://schemas.openxmlformats.org/officeDocument/2006/relationships" id="266" r:id="Ra818bc96001748ff"/>
    <p:sldId xmlns:r="http://schemas.openxmlformats.org/officeDocument/2006/relationships" id="267" r:id="R1964638f033d407b"/>
    <p:sldId xmlns:r="http://schemas.openxmlformats.org/officeDocument/2006/relationships" id="268" r:id="R9ce520db6c7f4a9a"/>
    <p:sldId xmlns:r="http://schemas.openxmlformats.org/officeDocument/2006/relationships" id="269" r:id="R6e3f1c444e154ba4"/>
    <p:sldId xmlns:r="http://schemas.openxmlformats.org/officeDocument/2006/relationships" id="270" r:id="R5dcd13e0950a4d91"/>
    <p:sldId xmlns:r="http://schemas.openxmlformats.org/officeDocument/2006/relationships" id="271" r:id="Rfecc048e02574ef0"/>
    <p:sldId xmlns:r="http://schemas.openxmlformats.org/officeDocument/2006/relationships" id="272" r:id="R2187bb099d814407"/>
    <p:sldId xmlns:r="http://schemas.openxmlformats.org/officeDocument/2006/relationships" id="273" r:id="Re2b50c5c2a4e4251"/>
    <p:sldId xmlns:r="http://schemas.openxmlformats.org/officeDocument/2006/relationships" id="274" r:id="R9503f23031384139"/>
    <p:sldId xmlns:r="http://schemas.openxmlformats.org/officeDocument/2006/relationships" id="275" r:id="R949a82d88395455d"/>
    <p:sldId xmlns:r="http://schemas.openxmlformats.org/officeDocument/2006/relationships" id="276" r:id="Rb53f495674be40fa"/>
    <p:sldId xmlns:r="http://schemas.openxmlformats.org/officeDocument/2006/relationships" id="277" r:id="Rd7d0bbc3e5f04880"/>
    <p:sldId xmlns:r="http://schemas.openxmlformats.org/officeDocument/2006/relationships" id="278" r:id="R89959a8b08b94fc5"/>
    <p:sldId xmlns:r="http://schemas.openxmlformats.org/officeDocument/2006/relationships" id="279" r:id="Rc4409ece2e134728"/>
    <p:sldId xmlns:r="http://schemas.openxmlformats.org/officeDocument/2006/relationships" id="280" r:id="Raeaf0d26c44c46ae"/>
    <p:sldId xmlns:r="http://schemas.openxmlformats.org/officeDocument/2006/relationships" id="281" r:id="R46f122d921e24b77"/>
    <p:sldId xmlns:r="http://schemas.openxmlformats.org/officeDocument/2006/relationships" id="282" r:id="R780e70d2b1164bce"/>
    <p:sldId xmlns:r="http://schemas.openxmlformats.org/officeDocument/2006/relationships" id="283" r:id="R4a019630f03f4f36"/>
    <p:sldId xmlns:r="http://schemas.openxmlformats.org/officeDocument/2006/relationships" id="284" r:id="R3ed0bc4d61c44f0b"/>
    <p:sldId xmlns:r="http://schemas.openxmlformats.org/officeDocument/2006/relationships" id="285" r:id="R0022e905c19c42bf"/>
    <p:sldId xmlns:r="http://schemas.openxmlformats.org/officeDocument/2006/relationships" id="286" r:id="R89149635a3fc49d8"/>
    <p:sldId xmlns:r="http://schemas.openxmlformats.org/officeDocument/2006/relationships" id="287" r:id="Rf7ac3857eac74804"/>
    <p:sldId xmlns:r="http://schemas.openxmlformats.org/officeDocument/2006/relationships" id="288" r:id="Rf679ced8d20f4496"/>
    <p:sldId xmlns:r="http://schemas.openxmlformats.org/officeDocument/2006/relationships" id="289" r:id="Rae56d1beb9f04fad"/>
    <p:sldId xmlns:r="http://schemas.openxmlformats.org/officeDocument/2006/relationships" id="290" r:id="R40ae8dc1b4cf4659"/>
    <p:sldId xmlns:r="http://schemas.openxmlformats.org/officeDocument/2006/relationships" id="291" r:id="Rc2dea05ac23448d4"/>
    <p:sldId xmlns:r="http://schemas.openxmlformats.org/officeDocument/2006/relationships" id="292" r:id="R29a99de615aa4ec8"/>
    <p:sldId xmlns:r="http://schemas.openxmlformats.org/officeDocument/2006/relationships" id="293" r:id="Rde6e147cf52c480d"/>
    <p:sldId xmlns:r="http://schemas.openxmlformats.org/officeDocument/2006/relationships" id="294" r:id="Rac18cbfd3ffd4045"/>
    <p:sldId xmlns:r="http://schemas.openxmlformats.org/officeDocument/2006/relationships" id="295" r:id="R2221c0d69ee34407"/>
    <p:sldId xmlns:r="http://schemas.openxmlformats.org/officeDocument/2006/relationships" id="296" r:id="R686c5ea8b32d4fee"/>
    <p:sldId xmlns:r="http://schemas.openxmlformats.org/officeDocument/2006/relationships" id="297" r:id="R0660e189757d407d"/>
    <p:sldId xmlns:r="http://schemas.openxmlformats.org/officeDocument/2006/relationships" id="298" r:id="R728c95b52d294cef"/>
    <p:sldId xmlns:r="http://schemas.openxmlformats.org/officeDocument/2006/relationships" id="299" r:id="Ra03e3cdd64a64ee2"/>
    <p:sldId xmlns:r="http://schemas.openxmlformats.org/officeDocument/2006/relationships" id="300" r:id="R3258206dc799424a"/>
    <p:sldId xmlns:r="http://schemas.openxmlformats.org/officeDocument/2006/relationships" id="301" r:id="R22eaefd9f0fa4f65"/>
    <p:sldId xmlns:r="http://schemas.openxmlformats.org/officeDocument/2006/relationships" id="302" r:id="R54a40e0f5584438f"/>
    <p:sldId xmlns:r="http://schemas.openxmlformats.org/officeDocument/2006/relationships" id="303" r:id="R55639c992a1e44d0"/>
    <p:sldId xmlns:r="http://schemas.openxmlformats.org/officeDocument/2006/relationships" id="304" r:id="R1c9eb89fcbb14fdf"/>
    <p:sldId xmlns:r="http://schemas.openxmlformats.org/officeDocument/2006/relationships" id="305" r:id="R3a8481c715f6484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2b20e3d3164d87" /><Relationship Type="http://schemas.openxmlformats.org/officeDocument/2006/relationships/slideMaster" Target="/ppt/slideMasters/slideMaster1.xml" Id="Rf2a0f137edac4f6e" /><Relationship Type="http://schemas.openxmlformats.org/officeDocument/2006/relationships/notesMaster" Target="/ppt/notesMasters/notesMaster1.xml" Id="Rf69aabe78fd94ac5" /><Relationship Type="http://schemas.openxmlformats.org/officeDocument/2006/relationships/presProps" Target="/ppt/presProps.xml" Id="Rf2234e6fa31445af" /><Relationship Type="http://schemas.openxmlformats.org/officeDocument/2006/relationships/viewProps" Target="/ppt/viewProps.xml" Id="R42740bdcaa9149e5" /><Relationship Type="http://schemas.openxmlformats.org/officeDocument/2006/relationships/tableStyles" Target="/ppt/tableStyles.xml" Id="R11adbdd76e3740a8" /><Relationship Type="http://schemas.openxmlformats.org/officeDocument/2006/relationships/slide" Target="/ppt/slides/slide1.xml" Id="R6b18da6f2a5e40aa" /><Relationship Type="http://schemas.openxmlformats.org/officeDocument/2006/relationships/slide" Target="/ppt/slides/slide2.xml" Id="Rca5d40ec0fe24d52" /><Relationship Type="http://schemas.openxmlformats.org/officeDocument/2006/relationships/slide" Target="/ppt/slides/slide3.xml" Id="R5e0c7d235fb74e1f" /><Relationship Type="http://schemas.openxmlformats.org/officeDocument/2006/relationships/slide" Target="/ppt/slides/slide4.xml" Id="R5098fc436e634b53" /><Relationship Type="http://schemas.openxmlformats.org/officeDocument/2006/relationships/slide" Target="/ppt/slides/slide5.xml" Id="Rdba3302ef294439f" /><Relationship Type="http://schemas.openxmlformats.org/officeDocument/2006/relationships/slide" Target="/ppt/slides/slide6.xml" Id="R7eda7bdf4b3240d4" /><Relationship Type="http://schemas.openxmlformats.org/officeDocument/2006/relationships/slide" Target="/ppt/slides/slide7.xml" Id="Rdb3d99c99ceb49e1" /><Relationship Type="http://schemas.openxmlformats.org/officeDocument/2006/relationships/slide" Target="/ppt/slides/slide8.xml" Id="R18c7fabc0594489d" /><Relationship Type="http://schemas.openxmlformats.org/officeDocument/2006/relationships/slide" Target="/ppt/slides/slide9.xml" Id="Rcf0a417acb6d404c" /><Relationship Type="http://schemas.openxmlformats.org/officeDocument/2006/relationships/slide" Target="/ppt/slides/slide10.xml" Id="Rbad561996c57404e" /><Relationship Type="http://schemas.openxmlformats.org/officeDocument/2006/relationships/slide" Target="/ppt/slides/slide11.xml" Id="Ra818bc96001748ff" /><Relationship Type="http://schemas.openxmlformats.org/officeDocument/2006/relationships/slide" Target="/ppt/slides/slide12.xml" Id="R1964638f033d407b" /><Relationship Type="http://schemas.openxmlformats.org/officeDocument/2006/relationships/slide" Target="/ppt/slides/slide13.xml" Id="R9ce520db6c7f4a9a" /><Relationship Type="http://schemas.openxmlformats.org/officeDocument/2006/relationships/slide" Target="/ppt/slides/slide14.xml" Id="R6e3f1c444e154ba4" /><Relationship Type="http://schemas.openxmlformats.org/officeDocument/2006/relationships/slide" Target="/ppt/slides/slide15.xml" Id="R5dcd13e0950a4d91" /><Relationship Type="http://schemas.openxmlformats.org/officeDocument/2006/relationships/slide" Target="/ppt/slides/slide16.xml" Id="Rfecc048e02574ef0" /><Relationship Type="http://schemas.openxmlformats.org/officeDocument/2006/relationships/slide" Target="/ppt/slides/slide17.xml" Id="R2187bb099d814407" /><Relationship Type="http://schemas.openxmlformats.org/officeDocument/2006/relationships/slide" Target="/ppt/slides/slide18.xml" Id="Re2b50c5c2a4e4251" /><Relationship Type="http://schemas.openxmlformats.org/officeDocument/2006/relationships/slide" Target="/ppt/slides/slide19.xml" Id="R9503f23031384139" /><Relationship Type="http://schemas.openxmlformats.org/officeDocument/2006/relationships/slide" Target="/ppt/slides/slide20.xml" Id="R949a82d88395455d" /><Relationship Type="http://schemas.openxmlformats.org/officeDocument/2006/relationships/slide" Target="/ppt/slides/slide21.xml" Id="Rb53f495674be40fa" /><Relationship Type="http://schemas.openxmlformats.org/officeDocument/2006/relationships/slide" Target="/ppt/slides/slide22.xml" Id="Rd7d0bbc3e5f04880" /><Relationship Type="http://schemas.openxmlformats.org/officeDocument/2006/relationships/slide" Target="/ppt/slides/slide23.xml" Id="R89959a8b08b94fc5" /><Relationship Type="http://schemas.openxmlformats.org/officeDocument/2006/relationships/slide" Target="/ppt/slides/slide24.xml" Id="Rc4409ece2e134728" /><Relationship Type="http://schemas.openxmlformats.org/officeDocument/2006/relationships/slide" Target="/ppt/slides/slide25.xml" Id="Raeaf0d26c44c46ae" /><Relationship Type="http://schemas.openxmlformats.org/officeDocument/2006/relationships/slide" Target="/ppt/slides/slide26.xml" Id="R46f122d921e24b77" /><Relationship Type="http://schemas.openxmlformats.org/officeDocument/2006/relationships/slide" Target="/ppt/slides/slide27.xml" Id="R780e70d2b1164bce" /><Relationship Type="http://schemas.openxmlformats.org/officeDocument/2006/relationships/slide" Target="/ppt/slides/slide28.xml" Id="R4a019630f03f4f36" /><Relationship Type="http://schemas.openxmlformats.org/officeDocument/2006/relationships/slide" Target="/ppt/slides/slide29.xml" Id="R3ed0bc4d61c44f0b" /><Relationship Type="http://schemas.openxmlformats.org/officeDocument/2006/relationships/slide" Target="/ppt/slides/slide30.xml" Id="R0022e905c19c42bf" /><Relationship Type="http://schemas.openxmlformats.org/officeDocument/2006/relationships/slide" Target="/ppt/slides/slide31.xml" Id="R89149635a3fc49d8" /><Relationship Type="http://schemas.openxmlformats.org/officeDocument/2006/relationships/slide" Target="/ppt/slides/slide32.xml" Id="Rf7ac3857eac74804" /><Relationship Type="http://schemas.openxmlformats.org/officeDocument/2006/relationships/slide" Target="/ppt/slides/slide33.xml" Id="Rf679ced8d20f4496" /><Relationship Type="http://schemas.openxmlformats.org/officeDocument/2006/relationships/slide" Target="/ppt/slides/slide34.xml" Id="Rae56d1beb9f04fad" /><Relationship Type="http://schemas.openxmlformats.org/officeDocument/2006/relationships/slide" Target="/ppt/slides/slide35.xml" Id="R40ae8dc1b4cf4659" /><Relationship Type="http://schemas.openxmlformats.org/officeDocument/2006/relationships/slide" Target="/ppt/slides/slide36.xml" Id="Rc2dea05ac23448d4" /><Relationship Type="http://schemas.openxmlformats.org/officeDocument/2006/relationships/slide" Target="/ppt/slides/slide37.xml" Id="R29a99de615aa4ec8" /><Relationship Type="http://schemas.openxmlformats.org/officeDocument/2006/relationships/slide" Target="/ppt/slides/slide38.xml" Id="Rde6e147cf52c480d" /><Relationship Type="http://schemas.openxmlformats.org/officeDocument/2006/relationships/slide" Target="/ppt/slides/slide39.xml" Id="Rac18cbfd3ffd4045" /><Relationship Type="http://schemas.openxmlformats.org/officeDocument/2006/relationships/slide" Target="/ppt/slides/slide40.xml" Id="R2221c0d69ee34407" /><Relationship Type="http://schemas.openxmlformats.org/officeDocument/2006/relationships/slide" Target="/ppt/slides/slide41.xml" Id="R686c5ea8b32d4fee" /><Relationship Type="http://schemas.openxmlformats.org/officeDocument/2006/relationships/slide" Target="/ppt/slides/slide42.xml" Id="R0660e189757d407d" /><Relationship Type="http://schemas.openxmlformats.org/officeDocument/2006/relationships/slide" Target="/ppt/slides/slide43.xml" Id="R728c95b52d294cef" /><Relationship Type="http://schemas.openxmlformats.org/officeDocument/2006/relationships/slide" Target="/ppt/slides/slide44.xml" Id="Ra03e3cdd64a64ee2" /><Relationship Type="http://schemas.openxmlformats.org/officeDocument/2006/relationships/slide" Target="/ppt/slides/slide45.xml" Id="R3258206dc799424a" /><Relationship Type="http://schemas.openxmlformats.org/officeDocument/2006/relationships/slide" Target="/ppt/slides/slide46.xml" Id="R22eaefd9f0fa4f65" /><Relationship Type="http://schemas.openxmlformats.org/officeDocument/2006/relationships/slide" Target="/ppt/slides/slide47.xml" Id="R54a40e0f5584438f" /><Relationship Type="http://schemas.openxmlformats.org/officeDocument/2006/relationships/slide" Target="/ppt/slides/slide48.xml" Id="R55639c992a1e44d0" /><Relationship Type="http://schemas.openxmlformats.org/officeDocument/2006/relationships/slide" Target="/ppt/slides/slide49.xml" Id="R1c9eb89fcbb14fdf" /><Relationship Type="http://schemas.openxmlformats.org/officeDocument/2006/relationships/slide" Target="/ppt/slides/slide50.xml" Id="R3a8481c715f648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7abdbd93cd47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d347780aaf456b" /><Relationship Type="http://schemas.openxmlformats.org/officeDocument/2006/relationships/notesMaster" Target="/ppt/notesMasters/notesMaster1.xml" Id="R4e30e46dad9948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ef8bb17c5941e3" /><Relationship Type="http://schemas.openxmlformats.org/officeDocument/2006/relationships/notesMaster" Target="/ppt/notesMasters/notesMaster1.xml" Id="R5263b5dc13d74f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0d91c031fa4277" /><Relationship Type="http://schemas.openxmlformats.org/officeDocument/2006/relationships/notesMaster" Target="/ppt/notesMasters/notesMaster1.xml" Id="Re692d922383a4e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0326546f794391" /><Relationship Type="http://schemas.openxmlformats.org/officeDocument/2006/relationships/notesMaster" Target="/ppt/notesMasters/notesMaster1.xml" Id="Re716d84ecd1b40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ccbeaa7063437f" /><Relationship Type="http://schemas.openxmlformats.org/officeDocument/2006/relationships/notesMaster" Target="/ppt/notesMasters/notesMaster1.xml" Id="R7109df9252284d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682c23ace24621" /><Relationship Type="http://schemas.openxmlformats.org/officeDocument/2006/relationships/notesMaster" Target="/ppt/notesMasters/notesMaster1.xml" Id="Rc98ccd428edc49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bdc05cfe8747fc" /><Relationship Type="http://schemas.openxmlformats.org/officeDocument/2006/relationships/notesMaster" Target="/ppt/notesMasters/notesMaster1.xml" Id="Rb0ce51e08aae48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e3e4511858424a" /><Relationship Type="http://schemas.openxmlformats.org/officeDocument/2006/relationships/notesMaster" Target="/ppt/notesMasters/notesMaster1.xml" Id="Re9773e1247ee41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f040b67df34edd" /><Relationship Type="http://schemas.openxmlformats.org/officeDocument/2006/relationships/notesMaster" Target="/ppt/notesMasters/notesMaster1.xml" Id="R8633f45dd7f24f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5f705760194511" /><Relationship Type="http://schemas.openxmlformats.org/officeDocument/2006/relationships/notesMaster" Target="/ppt/notesMasters/notesMaster1.xml" Id="Rb5672be013d643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c361942b8a4dae" /><Relationship Type="http://schemas.openxmlformats.org/officeDocument/2006/relationships/notesMaster" Target="/ppt/notesMasters/notesMaster1.xml" Id="Rcc70e311534f42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4e9eac4264f471d" /><Relationship Type="http://schemas.openxmlformats.org/officeDocument/2006/relationships/notesMaster" Target="/ppt/notesMasters/notesMaster1.xml" Id="Rfa8bf2a52a5140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f31b2d7eb134eed" /><Relationship Type="http://schemas.openxmlformats.org/officeDocument/2006/relationships/notesMaster" Target="/ppt/notesMasters/notesMaster1.xml" Id="Rdff47815206046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026d6657bfe4abc" /><Relationship Type="http://schemas.openxmlformats.org/officeDocument/2006/relationships/notesMaster" Target="/ppt/notesMasters/notesMaster1.xml" Id="R1e470a73bff543f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ddc22d89be4fcc" /><Relationship Type="http://schemas.openxmlformats.org/officeDocument/2006/relationships/notesMaster" Target="/ppt/notesMasters/notesMaster1.xml" Id="R5d91ba5c4ec04a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abb92df28646b2" /><Relationship Type="http://schemas.openxmlformats.org/officeDocument/2006/relationships/notesMaster" Target="/ppt/notesMasters/notesMaster1.xml" Id="R393db99a75344cc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123a5b2c12b4f45" /><Relationship Type="http://schemas.openxmlformats.org/officeDocument/2006/relationships/notesMaster" Target="/ppt/notesMasters/notesMaster1.xml" Id="Rdde01623665d45f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573b6710307482f" /><Relationship Type="http://schemas.openxmlformats.org/officeDocument/2006/relationships/notesMaster" Target="/ppt/notesMasters/notesMaster1.xml" Id="R071cd1dbc8b54fc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62a276e873740ef" /><Relationship Type="http://schemas.openxmlformats.org/officeDocument/2006/relationships/notesMaster" Target="/ppt/notesMasters/notesMaster1.xml" Id="R6b4fee7c4c9340a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91f32e87a214c04" /><Relationship Type="http://schemas.openxmlformats.org/officeDocument/2006/relationships/notesMaster" Target="/ppt/notesMasters/notesMaster1.xml" Id="R9fb696f65f4d4eb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2c6f3b15e104f6b" /><Relationship Type="http://schemas.openxmlformats.org/officeDocument/2006/relationships/notesMaster" Target="/ppt/notesMasters/notesMaster1.xml" Id="R82c027bc25634c4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86260e5855e406d" /><Relationship Type="http://schemas.openxmlformats.org/officeDocument/2006/relationships/notesMaster" Target="/ppt/notesMasters/notesMaster1.xml" Id="R78dd230d792b4fa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9524a6823d341f8" /><Relationship Type="http://schemas.openxmlformats.org/officeDocument/2006/relationships/notesMaster" Target="/ppt/notesMasters/notesMaster1.xml" Id="R5fc96aaf242849b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9b92e960e994c7b" /><Relationship Type="http://schemas.openxmlformats.org/officeDocument/2006/relationships/notesMaster" Target="/ppt/notesMasters/notesMaster1.xml" Id="R1166f55071b8498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a6dce9ee0424ea9" /><Relationship Type="http://schemas.openxmlformats.org/officeDocument/2006/relationships/notesMaster" Target="/ppt/notesMasters/notesMaster1.xml" Id="R621841880c4743c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f42fbb47b0a44b2" /><Relationship Type="http://schemas.openxmlformats.org/officeDocument/2006/relationships/notesMaster" Target="/ppt/notesMasters/notesMaster1.xml" Id="Rc874efe34db8453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984e28ec88a4142" /><Relationship Type="http://schemas.openxmlformats.org/officeDocument/2006/relationships/notesMaster" Target="/ppt/notesMasters/notesMaster1.xml" Id="R025f0f56d69d4ce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3d7fe24b0fd43a0" /><Relationship Type="http://schemas.openxmlformats.org/officeDocument/2006/relationships/notesMaster" Target="/ppt/notesMasters/notesMaster1.xml" Id="Re3e279615cb142a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bb4f91f1afe4dbc" /><Relationship Type="http://schemas.openxmlformats.org/officeDocument/2006/relationships/notesMaster" Target="/ppt/notesMasters/notesMaster1.xml" Id="R95b3df36fcdc421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fc72575fcb24a16" /><Relationship Type="http://schemas.openxmlformats.org/officeDocument/2006/relationships/notesMaster" Target="/ppt/notesMasters/notesMaster1.xml" Id="Rb9e68fa58e97421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2e79d5d498d4b2d" /><Relationship Type="http://schemas.openxmlformats.org/officeDocument/2006/relationships/notesMaster" Target="/ppt/notesMasters/notesMaster1.xml" Id="R87683c53b01d428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865529582e44c5a" /><Relationship Type="http://schemas.openxmlformats.org/officeDocument/2006/relationships/notesMaster" Target="/ppt/notesMasters/notesMaster1.xml" Id="R938588c17bb648f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b3c6f4ee50f4da9" /><Relationship Type="http://schemas.openxmlformats.org/officeDocument/2006/relationships/notesMaster" Target="/ppt/notesMasters/notesMaster1.xml" Id="Redf09144bb7c463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cc1d6aba47d43e0" /><Relationship Type="http://schemas.openxmlformats.org/officeDocument/2006/relationships/notesMaster" Target="/ppt/notesMasters/notesMaster1.xml" Id="R2ee753e52c3b40f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e11c35a695c478e" /><Relationship Type="http://schemas.openxmlformats.org/officeDocument/2006/relationships/notesMaster" Target="/ppt/notesMasters/notesMaster1.xml" Id="R0663a9ce021a4ed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02ac0037f8e4bfe" /><Relationship Type="http://schemas.openxmlformats.org/officeDocument/2006/relationships/notesMaster" Target="/ppt/notesMasters/notesMaster1.xml" Id="R834287d80f1945c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e9c0508ec56451e" /><Relationship Type="http://schemas.openxmlformats.org/officeDocument/2006/relationships/notesMaster" Target="/ppt/notesMasters/notesMaster1.xml" Id="Ra1dd2b5f43ab408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e79e59954454536" /><Relationship Type="http://schemas.openxmlformats.org/officeDocument/2006/relationships/notesMaster" Target="/ppt/notesMasters/notesMaster1.xml" Id="Rdd03ebc849de451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9a72e135603a4528" /><Relationship Type="http://schemas.openxmlformats.org/officeDocument/2006/relationships/notesMaster" Target="/ppt/notesMasters/notesMaster1.xml" Id="Rb2ff4369309448d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fd1d8ba27f94a6e" /><Relationship Type="http://schemas.openxmlformats.org/officeDocument/2006/relationships/notesMaster" Target="/ppt/notesMasters/notesMaster1.xml" Id="R1ccaa81df6344e90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9c087af758142c5" /><Relationship Type="http://schemas.openxmlformats.org/officeDocument/2006/relationships/notesMaster" Target="/ppt/notesMasters/notesMaster1.xml" Id="R9a68d648f37d44f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aedc50aaad74dd6" /><Relationship Type="http://schemas.openxmlformats.org/officeDocument/2006/relationships/notesMaster" Target="/ppt/notesMasters/notesMaster1.xml" Id="R91e6e63b7eae40b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96d6de2e6e943b7" /><Relationship Type="http://schemas.openxmlformats.org/officeDocument/2006/relationships/notesMaster" Target="/ppt/notesMasters/notesMaster1.xml" Id="R8d55a47972aa4e3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e592f9d16144d81" /><Relationship Type="http://schemas.openxmlformats.org/officeDocument/2006/relationships/notesMaster" Target="/ppt/notesMasters/notesMaster1.xml" Id="R6b304e17c18642e7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14eef94038a4a47" /><Relationship Type="http://schemas.openxmlformats.org/officeDocument/2006/relationships/notesMaster" Target="/ppt/notesMasters/notesMaster1.xml" Id="R3051ecda46a54b4e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7f9c408e0f948ab" /><Relationship Type="http://schemas.openxmlformats.org/officeDocument/2006/relationships/notesMaster" Target="/ppt/notesMasters/notesMaster1.xml" Id="Rde526ed9940f4e77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e1bab3630094c88" /><Relationship Type="http://schemas.openxmlformats.org/officeDocument/2006/relationships/notesMaster" Target="/ppt/notesMasters/notesMaster1.xml" Id="R4acc2c7ff30d4b6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25388c1897f42a2" /><Relationship Type="http://schemas.openxmlformats.org/officeDocument/2006/relationships/notesMaster" Target="/ppt/notesMasters/notesMaster1.xml" Id="R3e850479e0ad4b7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52946b4ed23440f1" /><Relationship Type="http://schemas.openxmlformats.org/officeDocument/2006/relationships/notesMaster" Target="/ppt/notesMasters/notesMaster1.xml" Id="Rcf0c67aff7f4403c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97cb416ed9cf4c90" /><Relationship Type="http://schemas.openxmlformats.org/officeDocument/2006/relationships/notesMaster" Target="/ppt/notesMasters/notesMaster1.xml" Id="Re125fa06cbfb4c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게임내용.md</a:t>
            </a:r>
          </a:p>
          <a:p xmlns:a="http://schemas.openxmlformats.org/drawingml/2006/main">
            <a:r>
              <a:t>- 사용자 제공 HIGHTONE_game_design_updated_v10.0_Paperlogy.pptx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5a80f0dc414e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e07c54aa694ea7" /><Relationship Type="http://schemas.openxmlformats.org/officeDocument/2006/relationships/slideLayout" Target="/ppt/slideLayouts/slideLayout1.xml" Id="R83224633ae4042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224633ae4042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c1d874e174959" /><Relationship Type="http://schemas.openxmlformats.org/officeDocument/2006/relationships/notesSlide" Target="/ppt/notesSlides/notesSlide1.xml" Id="R102c2370dd534e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312d2ba6043ea" /><Relationship Type="http://schemas.openxmlformats.org/officeDocument/2006/relationships/notesSlide" Target="/ppt/notesSlides/notesSlide2.xml" Id="R82869ce2ad604b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a286820b444d0" /><Relationship Type="http://schemas.openxmlformats.org/officeDocument/2006/relationships/notesSlide" Target="/ppt/notesSlides/notesSlide3.xml" Id="Rd6656cad95a347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98775f2654d22" /><Relationship Type="http://schemas.openxmlformats.org/officeDocument/2006/relationships/notesSlide" Target="/ppt/notesSlides/notesSlide4.xml" Id="R5ecb57b668d641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0b85b5a5ed4f9d" /><Relationship Type="http://schemas.openxmlformats.org/officeDocument/2006/relationships/notesSlide" Target="/ppt/notesSlides/notesSlide5.xml" Id="R96e1e0a2064f49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8ac6f8d4c4a48" /><Relationship Type="http://schemas.openxmlformats.org/officeDocument/2006/relationships/notesSlide" Target="/ppt/notesSlides/notesSlide6.xml" Id="Rb7d7477d9c0d46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e6252a6664485" /><Relationship Type="http://schemas.openxmlformats.org/officeDocument/2006/relationships/notesSlide" Target="/ppt/notesSlides/notesSlide7.xml" Id="Rec951d65a73e4a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ec793f1aa4e82" /><Relationship Type="http://schemas.openxmlformats.org/officeDocument/2006/relationships/notesSlide" Target="/ppt/notesSlides/notesSlide8.xml" Id="R93f1b103b3b442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2d560b49241b6" /><Relationship Type="http://schemas.openxmlformats.org/officeDocument/2006/relationships/notesSlide" Target="/ppt/notesSlides/notesSlide9.xml" Id="R53ee167885f240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e432f89bf44c4" /><Relationship Type="http://schemas.openxmlformats.org/officeDocument/2006/relationships/notesSlide" Target="/ppt/notesSlides/notesSlide10.xml" Id="R8494ed872bc841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1e352022746d8" /><Relationship Type="http://schemas.openxmlformats.org/officeDocument/2006/relationships/notesSlide" Target="/ppt/notesSlides/notesSlide11.xml" Id="R16887874333c41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c909dd3a84bc5" /><Relationship Type="http://schemas.openxmlformats.org/officeDocument/2006/relationships/notesSlide" Target="/ppt/notesSlides/notesSlide12.xml" Id="R80db4498404c4a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ded6af1964fe0" /><Relationship Type="http://schemas.openxmlformats.org/officeDocument/2006/relationships/notesSlide" Target="/ppt/notesSlides/notesSlide13.xml" Id="R83852083668945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d932e17054fb2" /><Relationship Type="http://schemas.openxmlformats.org/officeDocument/2006/relationships/notesSlide" Target="/ppt/notesSlides/notesSlide14.xml" Id="R943390859f2945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8e0fea3104be5" /><Relationship Type="http://schemas.openxmlformats.org/officeDocument/2006/relationships/notesSlide" Target="/ppt/notesSlides/notesSlide15.xml" Id="R8fdc33fba677438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1dd63c1d743ef" /><Relationship Type="http://schemas.openxmlformats.org/officeDocument/2006/relationships/notesSlide" Target="/ppt/notesSlides/notesSlide16.xml" Id="Ref6ece79d5274c6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a3720ab894c41" /><Relationship Type="http://schemas.openxmlformats.org/officeDocument/2006/relationships/notesSlide" Target="/ppt/notesSlides/notesSlide17.xml" Id="R105be90d3c7d49f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7570dba2f4931" /><Relationship Type="http://schemas.openxmlformats.org/officeDocument/2006/relationships/notesSlide" Target="/ppt/notesSlides/notesSlide18.xml" Id="R43f0f559ddf6403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16ed419f4464c" /><Relationship Type="http://schemas.openxmlformats.org/officeDocument/2006/relationships/notesSlide" Target="/ppt/notesSlides/notesSlide19.xml" Id="R56008ce9fd654c7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8bc6864454dae" /><Relationship Type="http://schemas.openxmlformats.org/officeDocument/2006/relationships/notesSlide" Target="/ppt/notesSlides/notesSlide20.xml" Id="R7f5ca74ce168457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e5839ed194d7f" /><Relationship Type="http://schemas.openxmlformats.org/officeDocument/2006/relationships/notesSlide" Target="/ppt/notesSlides/notesSlide21.xml" Id="Re09466e7a68d458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85a20756742b7" /><Relationship Type="http://schemas.openxmlformats.org/officeDocument/2006/relationships/notesSlide" Target="/ppt/notesSlides/notesSlide22.xml" Id="Rbc0d1c10a29d458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df78a0c674338" /><Relationship Type="http://schemas.openxmlformats.org/officeDocument/2006/relationships/notesSlide" Target="/ppt/notesSlides/notesSlide23.xml" Id="Rbe2fda2aae52464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ed8543ac04d9c" /><Relationship Type="http://schemas.openxmlformats.org/officeDocument/2006/relationships/notesSlide" Target="/ppt/notesSlides/notesSlide24.xml" Id="Rc222b15685cf44d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e9746d8c04983" /><Relationship Type="http://schemas.openxmlformats.org/officeDocument/2006/relationships/notesSlide" Target="/ppt/notesSlides/notesSlide25.xml" Id="R22e77901932746b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5514f8dce4864" /><Relationship Type="http://schemas.openxmlformats.org/officeDocument/2006/relationships/notesSlide" Target="/ppt/notesSlides/notesSlide26.xml" Id="R078660a7ab164b6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4d14df46947e2" /><Relationship Type="http://schemas.openxmlformats.org/officeDocument/2006/relationships/notesSlide" Target="/ppt/notesSlides/notesSlide27.xml" Id="R1419212a20a6454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1e6e3f2cd4e25" /><Relationship Type="http://schemas.openxmlformats.org/officeDocument/2006/relationships/notesSlide" Target="/ppt/notesSlides/notesSlide28.xml" Id="R2abb54f8c6194c3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0553f9e99496c" /><Relationship Type="http://schemas.openxmlformats.org/officeDocument/2006/relationships/notesSlide" Target="/ppt/notesSlides/notesSlide29.xml" Id="Rc0452b216f564b9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76718c76d4a6d" /><Relationship Type="http://schemas.openxmlformats.org/officeDocument/2006/relationships/notesSlide" Target="/ppt/notesSlides/notesSlide30.xml" Id="R185600baf86f4d8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6e048c7c94a2b" /><Relationship Type="http://schemas.openxmlformats.org/officeDocument/2006/relationships/notesSlide" Target="/ppt/notesSlides/notesSlide31.xml" Id="Rf20ffff96eae425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6ce520bee4437" /><Relationship Type="http://schemas.openxmlformats.org/officeDocument/2006/relationships/notesSlide" Target="/ppt/notesSlides/notesSlide32.xml" Id="R992af2ae651b44c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a784e40a34030" /><Relationship Type="http://schemas.openxmlformats.org/officeDocument/2006/relationships/notesSlide" Target="/ppt/notesSlides/notesSlide33.xml" Id="R66293d058cba46f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6c66e85c44922" /><Relationship Type="http://schemas.openxmlformats.org/officeDocument/2006/relationships/notesSlide" Target="/ppt/notesSlides/notesSlide34.xml" Id="R5e032fac13c0401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10006630d4a60" /><Relationship Type="http://schemas.openxmlformats.org/officeDocument/2006/relationships/image" Target="/ppt/media/image.png" Id="Ra513b388d9bf41ff" /><Relationship Type="http://schemas.openxmlformats.org/officeDocument/2006/relationships/notesSlide" Target="/ppt/notesSlides/notesSlide35.xml" Id="R7446b08fe52542f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f3a8e20df4da3" /><Relationship Type="http://schemas.openxmlformats.org/officeDocument/2006/relationships/notesSlide" Target="/ppt/notesSlides/notesSlide36.xml" Id="R511959f0acbe493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01dd3280d4d67" /><Relationship Type="http://schemas.openxmlformats.org/officeDocument/2006/relationships/notesSlide" Target="/ppt/notesSlides/notesSlide37.xml" Id="R22c6527e08d14b6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d9d02f0334d10" /><Relationship Type="http://schemas.openxmlformats.org/officeDocument/2006/relationships/notesSlide" Target="/ppt/notesSlides/notesSlide38.xml" Id="Raba93dd1bdf24c7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f6c8187e0455c" /><Relationship Type="http://schemas.openxmlformats.org/officeDocument/2006/relationships/notesSlide" Target="/ppt/notesSlides/notesSlide39.xml" Id="Rfc4e85fc57a34f28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648876f3b4fd8" /><Relationship Type="http://schemas.openxmlformats.org/officeDocument/2006/relationships/notesSlide" Target="/ppt/notesSlides/notesSlide40.xml" Id="R27d3d37b290a482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c616cde314fba" /><Relationship Type="http://schemas.openxmlformats.org/officeDocument/2006/relationships/notesSlide" Target="/ppt/notesSlides/notesSlide41.xml" Id="R54770cc3999f4e7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b85f1dc854674" /><Relationship Type="http://schemas.openxmlformats.org/officeDocument/2006/relationships/notesSlide" Target="/ppt/notesSlides/notesSlide42.xml" Id="Rc61b5a61292c4df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602bbe11a4d80" /><Relationship Type="http://schemas.openxmlformats.org/officeDocument/2006/relationships/notesSlide" Target="/ppt/notesSlides/notesSlide43.xml" Id="R2e9521fc73594ba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ba7e0e4a74b82" /><Relationship Type="http://schemas.openxmlformats.org/officeDocument/2006/relationships/notesSlide" Target="/ppt/notesSlides/notesSlide44.xml" Id="Rf601ccc64343405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c0d002e164da5" /><Relationship Type="http://schemas.openxmlformats.org/officeDocument/2006/relationships/notesSlide" Target="/ppt/notesSlides/notesSlide45.xml" Id="R9b038215bfc3443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f16584ffc4393" /><Relationship Type="http://schemas.openxmlformats.org/officeDocument/2006/relationships/notesSlide" Target="/ppt/notesSlides/notesSlide46.xml" Id="Rc61c60dd115849cb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35b27304d4ccd" /><Relationship Type="http://schemas.openxmlformats.org/officeDocument/2006/relationships/notesSlide" Target="/ppt/notesSlides/notesSlide47.xml" Id="R2d796abe32db46b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e4ad63ef24ce2" /><Relationship Type="http://schemas.openxmlformats.org/officeDocument/2006/relationships/notesSlide" Target="/ppt/notesSlides/notesSlide48.xml" Id="Rcef60392c637406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9a9386bd24d66" /><Relationship Type="http://schemas.openxmlformats.org/officeDocument/2006/relationships/notesSlide" Target="/ppt/notesSlides/notesSlide49.xml" Id="R2485c97a8ad74f7f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4c8768cd14c8e" /><Relationship Type="http://schemas.openxmlformats.org/officeDocument/2006/relationships/notesSlide" Target="/ppt/notesSlides/notesSlide50.xml" Id="R37c6c502bdc046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0AC4A56D-6307-41FB-978F-FB6AF004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45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645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HIGHTONE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0FC986C-879A-40F6-A5C4-9FE3B675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25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하이톤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D71C2EEB-1CCA-4754-B7B6-E8AB1EA3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8DA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406A2B14-4FDC-4B6E-9692-7370443A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2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게임 기획서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1BDF33FB-2BBC-490F-AD95-990A2BD8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다트 스코어어택 로그라이트 · PC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기획 김건의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9B59DF05-6622-4588-BC08-99851964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441097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7B9C0B3A-CAD7-4C6C-87F0-8C839ED1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목차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11C39F5C-3ED1-486E-835E-9E32D044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BFD0064C-1703-4E84-86C5-C2EE324F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A679A75E-CE9F-4604-BB66-A310F406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E9FC0A4A-EB4B-4F39-BDB9-849323F4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049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게임 개요  03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4AAECA81-8CB5-4021-B5CF-F9C5316A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76425"/>
            <a:ext cx="4495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게임 정의 · 플레이 단위 · 핵심 자원</a:t>
            </a:r>
          </a:p>
        </p:txBody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9D0A43EC-E5A7-491E-A954-001E2B7A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0507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EAF730DB-8A84-4464-B3A0-55E83003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24AA4353-D787-4495-B5E0-E9C7326D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기획 의도  04–06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03815B96-A045-412A-9E4B-C866241F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43225"/>
            <a:ext cx="4495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목표 · 핵심 경험 · 설계 원칙</a:t>
            </a:r>
          </a:p>
        </p:txBody>
      </p:sp>
      <p:sp>
        <p:nvSpPr>
          <p:cNvPr id="11" name="직선 연결선 10">
            <a:extLst xmlns:a="http://schemas.openxmlformats.org/drawingml/2006/main">
              <a:ext uri="{FF2B5EF4-FFF2-40B4-BE49-F238E27FC236}">
                <a16:creationId xmlns:a16="http://schemas.microsoft.com/office/drawing/2014/main" id="{0C0E0E72-868E-4CE3-B3F5-1075D561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7187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306AC8AE-E1A0-42B8-AFEA-A5E9C0BE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1861A6D3-B6E6-40AD-8E90-B9F66A7F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385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재미 요소  07–09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06152E5D-CD51-4BF6-8EA6-A4852B83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4495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손의 숙련 · 빌드 순서 · 선택의 긴장</a:t>
            </a:r>
          </a:p>
        </p:txBody>
      </p:sp>
      <p:sp>
        <p:nvSpPr>
          <p:cNvPr id="15" name="직선 연결선 14">
            <a:extLst xmlns:a="http://schemas.openxmlformats.org/drawingml/2006/main">
              <a:ext uri="{FF2B5EF4-FFF2-40B4-BE49-F238E27FC236}">
                <a16:creationId xmlns:a16="http://schemas.microsoft.com/office/drawing/2014/main" id="{D0A49358-83F6-4E17-94BB-6ACEDFF7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3867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02156629-A443-4014-9065-F1D56B85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04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42F4B5BE-8141-47DA-817A-45B6C327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053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시스템  10–28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B3054543-7C9F-4FB1-8557-576C1ACA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76825"/>
            <a:ext cx="4495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런 · 조준 · 점수 · 스티커 · 골드 · 상점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8CDB84C5-FA1A-43C6-88C8-8E2D6573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049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05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082917FC-37A3-4131-87CB-AADD0502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049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보상 요소  29–33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CB22ED24-D929-4A83-A9C7-0F9E10AF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76425"/>
            <a:ext cx="4495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보상 구조 · 딱지 · 스타트 팩 · 리그</a:t>
            </a:r>
          </a:p>
        </p:txBody>
      </p:sp>
      <p:sp>
        <p:nvSpPr>
          <p:cNvPr id="22" name="직선 연결선 21">
            <a:extLst xmlns:a="http://schemas.openxmlformats.org/drawingml/2006/main">
              <a:ext uri="{FF2B5EF4-FFF2-40B4-BE49-F238E27FC236}">
                <a16:creationId xmlns:a16="http://schemas.microsoft.com/office/drawing/2014/main" id="{C2D22E5F-F4FD-4389-9D00-424E15A7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0507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3CD18E4D-FF1B-400E-A344-47FA91B7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51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06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532E381F-0628-4B77-BF82-A110F1B0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051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UI/UX  34–37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6FCD34A5-73DC-4E66-A36F-9D8C5CBF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76625"/>
            <a:ext cx="4495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화면 구성 · 입력 · 상태별 처리</a:t>
            </a:r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4F16B487-A5E9-45DE-B474-7E4A8897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0527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6AFF63C7-A061-411F-85C3-27954043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05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07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F676358F-A830-40EB-95F7-DECF4AC6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053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개발 범위·부록  38–50</a:t>
            </a:r>
          </a:p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35138AB5-D834-49DE-BFB1-4B40B3FA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76825"/>
            <a:ext cx="4495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구현 상태 · 밸런스 · 콘텐츠 데이터</a:t>
            </a:r>
          </a:p>
        </p:txBody>
      </p:sp>
    </p:spTree>
    <p:extLst>
      <p:ext uri="{BB962C8B-B14F-4D97-AF65-F5344CB8AC3E}">
        <p14:creationId xmlns:p14="http://schemas.microsoft.com/office/powerpoint/2010/main" val="16379790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8496483A-107D-42B1-BA79-45803896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게임 개요 - 한 장 요약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CF94223B-C684-4A6A-9ABB-E670DEB3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EC02EE8B-993D-466C-8670-8AFC8F46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8E60451B-83BC-4701-A854-786835A3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3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HIGHTONE은 타이밍에 맞춰 다트를 던지고, 스티커 순서를 설계해 목표 점수를 넘기는 스코어어택 로그라이트다.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7A54BD4F-0E74-44E4-A16F-EE111838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플레이 단위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6280CE10-9614-4D41-BBDB-4457BBB8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한 런은 8개 앤티로 구성한다. 앤티마다 소판·대판·보스판을 차례로 진행하므로, 완주까지 총 24판을 플레이한다.</a:t>
            </a:r>
          </a:p>
        </p:txBody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5FA496FC-B30C-4D75-96C2-B381D2DA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99D5D714-3740-4F38-85EE-F48AD635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핵심 자원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7BB03A8E-73A5-43CE-A37B-FF3458ED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제한된 다트로 점수를 만들고, 클리어 보상·남은 다트·이자·스티커·딱지로 골드를 얻어 다음 상점에서 사용한다.</a:t>
            </a:r>
          </a:p>
        </p:txBody>
      </p:sp>
      <p:sp>
        <p:nvSpPr>
          <p:cNvPr id="10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DE2495A7-EA6A-42B0-BB8A-AD688311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CD7A167B-D174-409B-AA18-63D3E512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성장 요소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312F7155-F71D-4CAE-870B-772829B4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스티커·다트·개조·영역 강화·설비를 모아 조준 방식과 점수 계산을 바꾼다. 같은 런에서도 구매에 따라 노리는 위치와 손의 움직임이 달라진다.</a:t>
            </a:r>
          </a:p>
        </p:txBody>
      </p:sp>
    </p:spTree>
    <p:extLst>
      <p:ext uri="{BB962C8B-B14F-4D97-AF65-F5344CB8AC3E}">
        <p14:creationId xmlns:p14="http://schemas.microsoft.com/office/powerpoint/2010/main" val="16847807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63E4B674-15DA-4D5E-96AE-E697397A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기획 의도 - 목표가 긴장을 만든다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B7798F31-AC77-4867-8FDB-510003DE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71242216-3D05-4997-B072-D8E841CD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04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383C2811-F01F-4943-8C35-30F41A16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제한된 다트를 모두 사용하기 전에 각 판의 목표 점수를 넘기고, 8앤티의 보스판까지 클리어한다.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4973BB39-3060-4871-BC18-3737EE22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판 클리어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C7F2D4C9-72A7-40F9-864A-A4E7A951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한 발의 점수 정산이 끝났을 때 누적 점수가 목표를 넘으면 즉시 판을 끝낸다. 남은 다트는 더 던지지 않고 골드 정산에 사용한다.</a:t>
            </a:r>
          </a:p>
        </p:txBody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FF89CC8D-B35B-43B9-B716-AD032F39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81C096D9-A9CD-4AB1-B261-A5B03FBE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런 실패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0D608D58-D931-4C88-81E0-45C8638E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다트를 모두 사용했는데 목표 점수에 못 미치면 런이 끝난다. 목숨 스티커의 구제 조건을 만족하면 한 번 살아나고 해당 스티커는 파괴된다.</a:t>
            </a:r>
          </a:p>
        </p:txBody>
      </p:sp>
      <p:sp>
        <p:nvSpPr>
          <p:cNvPr id="10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6AA871E9-754A-4305-A10E-41EF3FAD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028C7164-87D3-49DA-AE15-2D663CA0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런 클리어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0ACA33D2-5694-4D57-A7CD-08B7D8A8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8번째 앤티의 보스판을 클리어하면 런을 완주한다. 마지막 판 뒤에는 상점이 열리지 않으며, 선택한 팩과 리그의 해금 진행도를 저장한다.</a:t>
            </a:r>
          </a:p>
        </p:txBody>
      </p:sp>
    </p:spTree>
    <p:extLst>
      <p:ext uri="{BB962C8B-B14F-4D97-AF65-F5344CB8AC3E}">
        <p14:creationId xmlns:p14="http://schemas.microsoft.com/office/powerpoint/2010/main" val="8222058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B0DE9F74-DF5A-47C7-BD28-E6B06301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기획 의도 - 핵심 경험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3E7A37C9-AB9D-42A7-8EF2-A58D86D9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86ED834E-2FE8-4FE3-8590-40F9D45D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05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64A7DD1-2809-47B1-8BBD-7F8125FF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스티커가 노릴 위치와 조준 방식을 바꾸고, 랙의 발동 순서가 한 발의 최종 점수를 바꾼다.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0DD1D352-45EE-4898-8023-DAADE146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스티커에 따라 손의 목표가 달라진다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F4053B20-5117-41BC-9284-9CE5B1CC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트리플 스티커를 얻으면 좁은 트리플 띠를 계속 노리고, 빗나감 스티커를 얻으면 보드 밖도 득점 후보가 된다. 조준 스티커를 들면 게이지 자체가 다른 타이밍 액션으로 바뀐다.</a:t>
            </a:r>
          </a:p>
        </p:txBody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59D3EAD5-C4FD-4736-9927-5BCA6935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453E86DB-F9C9-4D1F-B628-AB7441E9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발동 순서로 점수를 키운다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70A7AA9B-679E-4A82-8B35-879C972C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스티커는 랙의 왼쪽부터 발동한다. 배수 +N을 먼저 쌓고 배수 ×N을 뒤에 놓으면 앞에서 더한 값까지 함께 커진다. 순서를 바꾸는 행동 자체가 빌드 설계다.</a:t>
            </a:r>
          </a:p>
        </p:txBody>
      </p:sp>
    </p:spTree>
    <p:extLst>
      <p:ext uri="{BB962C8B-B14F-4D97-AF65-F5344CB8AC3E}">
        <p14:creationId xmlns:p14="http://schemas.microsoft.com/office/powerpoint/2010/main" val="3677136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9273E7B1-1F41-4ED3-A92B-960DCAD7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기획 의도 - 설계 원칙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6C54FF25-A0D2-4584-A556-114571DB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16A817E1-B55F-42FC-9A0A-16D978DD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06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77A3A202-9BBC-4D28-BA3A-33819C7B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2ACD9AB6-7CEF-44CF-94F4-F1CAB1CA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049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목표 곡선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435EB9FB-8EEA-4438-912C-A4C181C5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76425"/>
            <a:ext cx="4495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리그 수치를 기존 목표에 곱하지 않는다. 앤티 표에 난도별 곡선을 따로 두고 리그가 사용할 줄을 고른다. 같은 앤티는 소판 &lt; 대판 &lt; 보스판 순이다.</a:t>
            </a:r>
          </a:p>
        </p:txBody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DC87854F-5F83-43D9-9C4C-5CF79049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5272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AF0D6B9F-09C6-49D4-8F06-D12AE50C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04B128DD-5168-457F-B305-4E0501AC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194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실력 × 빌드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21C08284-C1DC-48D8-95CD-D2F12C65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4495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착탄 칸이 칩의 시작값을 만들고 스티커·개조가 배수를 키운다. 조준이나 아이템 한쪽만으로는 후반 목표를 넘지 못하게 한다.</a:t>
            </a:r>
          </a:p>
        </p:txBody>
      </p:sp>
      <p:sp>
        <p:nvSpPr>
          <p:cNvPr id="11" name="직선 연결선 10">
            <a:extLst xmlns:a="http://schemas.openxmlformats.org/drawingml/2006/main">
              <a:ext uri="{FF2B5EF4-FFF2-40B4-BE49-F238E27FC236}">
                <a16:creationId xmlns:a16="http://schemas.microsoft.com/office/drawing/2014/main" id="{4F6747BC-0FBD-4CBC-8ABA-EF959A67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17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6D1ACCEC-B5E1-4D82-92DB-6F15560E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F504FA21-1100-49F3-ACCD-139649EB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338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조건 난도와 보상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42E70FD0-6C3E-46EE-9D7F-3B37F549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05325"/>
            <a:ext cx="4495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넓고 자주 맞는 조건은 작게, 좁은 띠·반복 이력·위험한 실패 조건은 크게 보상해 어려운 행동의 기대값을 맞춘다.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DDA3B70B-F56C-47B6-97D1-9532BF7E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049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04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9635B609-9B24-4E94-AA2A-D33228F5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049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조준의 교환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140EC734-AA15-462A-A15A-63511857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76425"/>
            <a:ext cx="4495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정확도를 높이는 다트·설비는 배수나 골드를 희생한다. 속도와 위험을 높이는 선택은 더 큰 점수로 돌려준다.</a:t>
            </a:r>
          </a:p>
        </p:txBody>
      </p:sp>
      <p:sp>
        <p:nvSpPr>
          <p:cNvPr id="18" name="직선 연결선 17">
            <a:extLst xmlns:a="http://schemas.openxmlformats.org/drawingml/2006/main">
              <a:ext uri="{FF2B5EF4-FFF2-40B4-BE49-F238E27FC236}">
                <a16:creationId xmlns:a16="http://schemas.microsoft.com/office/drawing/2014/main" id="{596831F6-FD81-498B-87DF-9409778F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5272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895B5B7D-4075-45A5-9DC1-1DEDD513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194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05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C3538932-372C-4DD3-9E6C-DA230A9D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앤티별 검증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875861FD-CED3-4CE0-8E17-67B8CB2B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90875"/>
            <a:ext cx="4495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1–2는 기본 조작과 첫 시너지, 3–4는 다트·개조 선택, 5–6은 완성 빌드와 경제 회수, 7–8은 리그 패널티 속 최종 완성을 확인한다.</a:t>
            </a:r>
          </a:p>
        </p:txBody>
      </p:sp>
      <p:sp>
        <p:nvSpPr>
          <p:cNvPr id="22" name="직선 연결선 21">
            <a:extLst xmlns:a="http://schemas.openxmlformats.org/drawingml/2006/main">
              <a:ext uri="{FF2B5EF4-FFF2-40B4-BE49-F238E27FC236}">
                <a16:creationId xmlns:a16="http://schemas.microsoft.com/office/drawing/2014/main" id="{BF1011D4-F6F2-482A-9341-BCFC7DF3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6717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953271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BCE16D57-E7DC-4027-B79E-6EEC6244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재미 요소 - 타이밍이 실력으로 남는다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F5EAD6E2-D990-4A40-8D73-B2C0D968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4B91FC5F-4352-4A22-B983-072D69CF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07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0D1E9679-EC43-43CF-B59C-9483D808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착탄 위치를 정하는 방법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36F80EE-DAF0-4D7B-8635-87288F54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0101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세로 게이지가 좌우로 왕복한다. 첫 입력으로 X좌표를 고정한다.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이후 가로 게이지가 위아래로 왕복한다. 두 번째 입력으로 Y좌표를 고정한다.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두 선의 교차점이 착탄 위치가 되고, 짧은 확인 텀 뒤에 다트가 날아간다.</a:t>
            </a:r>
          </a:p>
        </p:txBody>
      </p:sp>
      <p:sp>
        <p:nvSpPr>
          <p:cNvPr id="6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357B7A32-2F2B-4237-B7DA-303D64A3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BD968EFF-4818-47FF-BCEE-87E7E256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4305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연습이 실력으로 남는 규칙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C587D12F-FC50-4C2F-8426-BADAEBDE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33600"/>
            <a:ext cx="50101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게이지는 일정한 주기로 움직이며 착탄 오차에 난수를 사용하지 않는다. 같은 시점에 누르면 같은 위치에 꽂힌다.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게이지 진폭은 판보다 넓어 빗나감이 자주 발생한다. 속도는 다트·제약·설비와 플레이어의 속도 조절 입력에 따라 달라진다.</a:t>
            </a:r>
          </a:p>
        </p:txBody>
      </p:sp>
    </p:spTree>
    <p:extLst>
      <p:ext uri="{BB962C8B-B14F-4D97-AF65-F5344CB8AC3E}">
        <p14:creationId xmlns:p14="http://schemas.microsoft.com/office/powerpoint/2010/main" val="2824639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3A05F91D-C670-44F9-BD42-7EC91912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재미 요소 - 순서가 점수를 바꾼다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1BEE5BB0-D384-4A3A-9E79-8FC64571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D2C699A9-826A-4094-A214-0A2DDF9D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08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5661D323-B15E-45DD-A418-D6F4F067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배수 +2 뒤 배수 ×2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DC0D9B15-6127-47CA-A9C7-C588F7B2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0101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트리플 20 명중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기본 칩 20 · 기본 배수 3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스티커: 칩 +10 → 배수 +2 → 배수 ×2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현재 칩 = 20 + 10 = 30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현재 배수 = (3 + 2) × 2 = 10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한 발 점수 = 300</a:t>
            </a:r>
          </a:p>
        </p:txBody>
      </p:sp>
      <p:sp>
        <p:nvSpPr>
          <p:cNvPr id="6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11C88ABA-5B7B-4AE2-B7A2-6C6BFE8D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1ADDCD6D-730C-4350-A66E-F1093D0F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4305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배수 ×2 뒤 배수 +2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63709259-233D-4BBF-B22A-12CD70E2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33600"/>
            <a:ext cx="50101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트리플 20 명중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기본 칩 20 · 기본 배수 3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스티커: 칩 +10 → 배수 ×2 → 배수 +2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현재 칩 = 20 + 10 = 30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현재 배수 = 3 × 2 + 2 = 8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한 발 점수 = 240</a:t>
            </a:r>
          </a:p>
        </p:txBody>
      </p:sp>
    </p:spTree>
    <p:extLst>
      <p:ext uri="{BB962C8B-B14F-4D97-AF65-F5344CB8AC3E}">
        <p14:creationId xmlns:p14="http://schemas.microsoft.com/office/powerpoint/2010/main" val="5744114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C38C28CD-1525-4FE1-B0C8-D66259AD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재미 요소 - 상점과 딱지 사이의 선택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20475024-5C1A-4DF3-87BF-23532253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36844A4C-24E9-4CA7-B99A-8329C713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09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06EA2A3A-B19A-49A4-9EB3-A3F0B4C7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소판·대판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F5D07139-D47A-43A5-A5C7-45627D99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0101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판을 플레이해 목표 점수를 넘기면 보상과 상점을 얻는다.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판을 건너뛰면 점수와 골드, 상점을 모두 포기하고 표시된 딱지를 받는다.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따라서 현재 빌드를 키울 상점과 다음 판에 유리한 딱지 중 하나를 선택한다.</a:t>
            </a:r>
          </a:p>
        </p:txBody>
      </p:sp>
      <p:sp>
        <p:nvSpPr>
          <p:cNvPr id="6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0EC41578-BDFB-4425-8518-B5F9EB70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54009C66-CA45-4D11-BF93-A1425A72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4305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보스판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3C8F8FBE-BB3A-4F37-AF9F-E7AE4165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33600"/>
            <a:ext cx="50101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보스판은 건너뛸 수 없다.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입장 전에 서로 다른 제약 3개 중 하나를 고른다. 제약은 셀·영역·조준·보드 밖 규칙 중 하나를 공격한다.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보스를 클리어하면 다음 앤티로 넘어가며, 8앤티 보스가 런의 마지막 판이다.</a:t>
            </a:r>
          </a:p>
        </p:txBody>
      </p:sp>
    </p:spTree>
    <p:extLst>
      <p:ext uri="{BB962C8B-B14F-4D97-AF65-F5344CB8AC3E}">
        <p14:creationId xmlns:p14="http://schemas.microsoft.com/office/powerpoint/2010/main" val="12229928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0AC4A56D-6307-41FB-978F-FB6AF004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45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645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SYSTEMS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0FC986C-879A-40F6-A5C4-9FE3B675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25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시스템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D71C2EEB-1CCA-4754-B7B6-E8AB1EA3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8DA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406A2B14-4FDC-4B6E-9692-7370443A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2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03 · SYSTEMS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1BDF33FB-2BBC-490F-AD95-990A2BD8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투척부터 골드·상점까지,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입력과 출력이 이어지는 규칙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9B59DF05-6622-4588-BC08-99851964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441097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5F0DAA16-3032-4A87-BB99-D05AADF5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런 구조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4510E379-3356-4FAD-A91B-A8CEDA48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EAD92DB6-39AF-49E0-A358-D84DA78A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11</a:t>
            </a:r>
          </a:p>
        </p:txBody>
      </p:sp>
      <p:sp>
        <p:nvSpPr>
          <p:cNvPr id="4" name="직선 연결선 3">
            <a:extLst xmlns:a="http://schemas.openxmlformats.org/drawingml/2006/main">
              <a:ext uri="{FF2B5EF4-FFF2-40B4-BE49-F238E27FC236}">
                <a16:creationId xmlns:a16="http://schemas.microsoft.com/office/drawing/2014/main" id="{BC246B27-238A-4DF4-8DFD-DE3C5964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622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8DA8"/>
            </a:solidFill>
            <a:prstDash val="solid"/>
          </a:ln>
        </p:spPr>
      </p:sp>
      <p:sp>
        <p:nvSpPr>
          <p:cNvPr id="5" name="직선 연결선 4">
            <a:extLst xmlns:a="http://schemas.openxmlformats.org/drawingml/2006/main">
              <a:ext uri="{FF2B5EF4-FFF2-40B4-BE49-F238E27FC236}">
                <a16:creationId xmlns:a16="http://schemas.microsoft.com/office/drawing/2014/main" id="{42F8207F-5495-4089-A55A-27A2259B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622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8DA8"/>
            </a:solidFill>
            <a:prstDash val="solid"/>
          </a:ln>
        </p:spPr>
      </p:sp>
      <p:sp>
        <p:nvSpPr>
          <p:cNvPr id="6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3ECA62C9-CEEB-440A-A3E7-1B2435A1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622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8DA8"/>
            </a:solidFill>
            <a:prstDash val="solid"/>
          </a:ln>
        </p:spPr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1DA388F8-9F40-41BE-AEED-AD3760D3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622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8DA8"/>
            </a:solidFill>
            <a:prstDash val="solid"/>
          </a:ln>
        </p:spPr>
      </p:sp>
      <p:sp>
        <p:nvSpPr>
          <p:cNvPr id="8" name="직선 연결선 7">
            <a:extLst xmlns:a="http://schemas.openxmlformats.org/drawingml/2006/main">
              <a:ext uri="{FF2B5EF4-FFF2-40B4-BE49-F238E27FC236}">
                <a16:creationId xmlns:a16="http://schemas.microsoft.com/office/drawing/2014/main" id="{FD285D33-6CAD-40B3-9997-C6DEB453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622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8DA8"/>
            </a:solidFill>
            <a:prstDash val="solid"/>
          </a:ln>
        </p:spPr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F9EB9EEA-3E84-4F16-AB81-124F10C9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47900"/>
            <a:ext cx="15240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8F5F7"/>
          </a:solidFill>
          <a:ln xmlns:a="http://schemas.openxmlformats.org/drawingml/2006/main" w="9525">
            <a:solidFill>
              <a:srgbClr val="168DA8"/>
            </a:solidFill>
            <a:prstDash val="solid"/>
          </a:ln>
        </p:spPr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AE7583FD-6239-442B-8556-C7E958A9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47925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팩·리그 선택</a:t>
            </a: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472F6622-5D83-4E49-A9A0-96F99491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247900"/>
            <a:ext cx="15240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1157949B-284B-4C78-90AC-7DE1E174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47925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앤티 시작</a:t>
            </a:r>
          </a:p>
        </p:txBody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9B75B5D6-94D9-4204-B064-04C9B79B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47900"/>
            <a:ext cx="15240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83020868-A0A7-4C2F-B235-11186186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47925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소판·대판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77F7D5DB-6B4B-4AD3-A4F3-E65DB59D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47900"/>
            <a:ext cx="15240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81459594-F3CF-45DB-9931-FD93E4FF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47925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보스 제약 선택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49AF6502-9A30-4C08-9B6A-28937F50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247900"/>
            <a:ext cx="15240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44A3B8D2-59B7-42BE-8397-DFABB08C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47925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보스판</a:t>
            </a:r>
          </a:p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486480F9-C3C0-4CE4-9A75-BA918A5C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47900"/>
            <a:ext cx="15240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C87B417C-7C1E-4DC6-A658-30BB2700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47925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다음 앤티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54D44BC4-4257-4407-B27B-10FA5C31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10058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한 앤티에는 소판·대판·보스판이 한 번씩 등장한다. 소판과 대판은 플레이하거나 딱지를 받고 건너뛸 수 있고, 보스판은 반드시 플레이한다. 클리어한 판 뒤에는 상점이 열리지만 마지막 보스판 뒤에는 바로 런 결과로 이동한다.</a:t>
            </a:r>
          </a:p>
        </p:txBody>
      </p:sp>
    </p:spTree>
    <p:extLst>
      <p:ext uri="{BB962C8B-B14F-4D97-AF65-F5344CB8AC3E}">
        <p14:creationId xmlns:p14="http://schemas.microsoft.com/office/powerpoint/2010/main" val="16306691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C38C28CD-1525-4FE1-B0C8-D66259AD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판 선택과 건너뛰기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20475024-5C1A-4DF3-87BF-23532253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36844A4C-24E9-4CA7-B99A-8329C713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12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06EA2A3A-B19A-49A4-9EB3-A3F0B4C7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소판·대판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F5D07139-D47A-43A5-A5C7-45627D99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0101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판을 플레이해 목표 점수를 넘기면 보상과 상점을 얻는다.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판을 건너뛰면 점수와 골드, 상점을 모두 포기하고 표시된 딱지를 받는다.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따라서 현재 빌드를 키울 상점과 다음 판에 유리한 딱지 중 하나를 선택한다.</a:t>
            </a:r>
          </a:p>
        </p:txBody>
      </p:sp>
      <p:sp>
        <p:nvSpPr>
          <p:cNvPr id="6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0EC41578-BDFB-4425-8518-B5F9EB70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54009C66-CA45-4D11-BF93-A1425A72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4305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보스판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3C8F8FBE-BB3A-4F37-AF9F-E7AE4165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33600"/>
            <a:ext cx="50101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보스판은 건너뛸 수 없다.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입장 전에 서로 다른 제약 3개 중 하나를 고른다. 제약은 셀·영역·조준·보드 밖 규칙 중 하나를 공격한다.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보스를 클리어하면 다음 앤티로 넘어가며, 8앤티 보스가 런의 마지막 판이다.</a:t>
            </a:r>
          </a:p>
        </p:txBody>
      </p:sp>
    </p:spTree>
    <p:extLst>
      <p:ext uri="{BB962C8B-B14F-4D97-AF65-F5344CB8AC3E}">
        <p14:creationId xmlns:p14="http://schemas.microsoft.com/office/powerpoint/2010/main" val="12229928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08AE0ADA-D1BB-4C11-A796-57080877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투척 흐름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BBD71730-8E63-4A2F-8C6A-651F2145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A335593F-9642-4E2E-A408-1BE1AEA1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13</a:t>
            </a:r>
          </a:p>
        </p:txBody>
      </p:sp>
      <p:sp>
        <p:nvSpPr>
          <p:cNvPr id="4" name="직선 연결선 3">
            <a:extLst xmlns:a="http://schemas.openxmlformats.org/drawingml/2006/main">
              <a:ext uri="{FF2B5EF4-FFF2-40B4-BE49-F238E27FC236}">
                <a16:creationId xmlns:a16="http://schemas.microsoft.com/office/drawing/2014/main" id="{D69C847C-7DF9-4019-9FCF-1C74E674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622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8DA8"/>
            </a:solidFill>
            <a:prstDash val="solid"/>
          </a:ln>
        </p:spPr>
      </p:sp>
      <p:sp>
        <p:nvSpPr>
          <p:cNvPr id="5" name="직선 연결선 4">
            <a:extLst xmlns:a="http://schemas.openxmlformats.org/drawingml/2006/main">
              <a:ext uri="{FF2B5EF4-FFF2-40B4-BE49-F238E27FC236}">
                <a16:creationId xmlns:a16="http://schemas.microsoft.com/office/drawing/2014/main" id="{0990E58B-7BB3-4E2F-9B9F-DDEB1823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622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8DA8"/>
            </a:solidFill>
            <a:prstDash val="solid"/>
          </a:ln>
        </p:spPr>
      </p:sp>
      <p:sp>
        <p:nvSpPr>
          <p:cNvPr id="6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A4F35362-D007-4C88-87F8-A203EEBA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622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8DA8"/>
            </a:solidFill>
            <a:prstDash val="solid"/>
          </a:ln>
        </p:spPr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4248B32A-944E-4D06-900D-6D469947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622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8DA8"/>
            </a:solidFill>
            <a:prstDash val="solid"/>
          </a:ln>
        </p:spPr>
      </p:sp>
      <p:sp>
        <p:nvSpPr>
          <p:cNvPr id="8" name="직선 연결선 7">
            <a:extLst xmlns:a="http://schemas.openxmlformats.org/drawingml/2006/main">
              <a:ext uri="{FF2B5EF4-FFF2-40B4-BE49-F238E27FC236}">
                <a16:creationId xmlns:a16="http://schemas.microsoft.com/office/drawing/2014/main" id="{605CD70E-C95B-4D1F-9DF3-3DE55207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622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8DA8"/>
            </a:solidFill>
            <a:prstDash val="solid"/>
          </a:ln>
        </p:spPr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9EB658DE-ED10-4DC3-91BE-33F5B5AF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47900"/>
            <a:ext cx="15240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8F5F7"/>
          </a:solidFill>
          <a:ln xmlns:a="http://schemas.openxmlformats.org/drawingml/2006/main" w="9525">
            <a:solidFill>
              <a:srgbClr val="168DA8"/>
            </a:solidFill>
            <a:prstDash val="solid"/>
          </a:ln>
        </p:spPr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B4678C68-EEB3-4FA0-837A-DEC3DF50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47925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다트 선택</a:t>
            </a: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CACF1899-E641-4FCB-AF13-9716322F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247900"/>
            <a:ext cx="15240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C0C64A98-7335-4660-B0CC-FDE507D8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47925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조준 방식 확인</a:t>
            </a:r>
          </a:p>
        </p:txBody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2563DE6B-F7A2-4E24-97A3-AB4D81D0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47900"/>
            <a:ext cx="15240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D1B604D7-659A-43CD-828C-2FC1B289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47925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1차 입력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043EC216-BD26-4DE9-9A55-D23F6F59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47900"/>
            <a:ext cx="15240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A9B22520-5A05-4427-8868-B092E41C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47925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2차 입력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FB25CD6E-286F-4275-A96C-04622E8A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247900"/>
            <a:ext cx="15240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2B1E56F5-CDBB-4BEF-8263-7868D5A1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47925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확인·비행</a:t>
            </a:r>
          </a:p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E1B49AA5-098D-43AF-8B61-4281D6F5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47900"/>
            <a:ext cx="15240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E3B348A8-7A7C-4953-AD6C-551E41EC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47925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점수 정산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931CA69A-18A1-467E-8126-7BF95CD6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10058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남은 다트가 여러 종류라면 먼저 한 발을 고른다. 조준을 시작하면 다트와 조준 방식이 잠긴다. 기본·원·빗각은 두 번 입력하고, 나머지 방식은 한 번의 입력이나 드래그로 착탄을 정한다. 착탄 뒤에는 정산 큐가 끝날 때까지 다음 조작을 받지 않는다.</a:t>
            </a:r>
          </a:p>
        </p:txBody>
      </p:sp>
    </p:spTree>
    <p:extLst>
      <p:ext uri="{BB962C8B-B14F-4D97-AF65-F5344CB8AC3E}">
        <p14:creationId xmlns:p14="http://schemas.microsoft.com/office/powerpoint/2010/main" val="8816568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125883BC-6FE8-4D4A-94A7-711F5CF0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조준 방식 8종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EA140A87-E385-4536-9D42-6A44F0E0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6D371B86-396D-4446-B15A-EB17BF38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14</a:t>
            </a:r>
          </a:p>
        </p:txBody>
      </p:sp>
      <p:graphicFrame>
        <p:nvGraphicFramePr>
          <p:cNvPr id="10" name="표 7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553700" cy="4762503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333500"/>
                <a:gridCol w="2190750"/>
                <a:gridCol w="1714500"/>
                <a:gridCol w="1714500"/>
                <a:gridCol w="3600450"/>
              </a:tblGrid>
              <a:tr h="529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방식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손이 하는 일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잠금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조준 변화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런에서의 의미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세로 → 가로 게이지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일정 주기, 난수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연습이 그대로 실력으로 남음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원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원 크기 → 회전 각도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2회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반지름과 각도를 분리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중앙과 링을 읽는 감각이 달라짐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빗각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기울어진 두 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축 각도가 다트마다 변경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외운 좌표 대신 즉시 대응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겹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두 축을 동시에 정지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1회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서로 다른 박자로 왕복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한 번에 교차점을 읽음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흔들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커서 주변 점을 정지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지정 범위 안에서 점이 부유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정밀점보다 조준 범위를 선택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놓기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원하는 위치 클릭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1회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클릭 위치에 즉시 착탄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빗나감이 거의 없는 안정형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당김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벽의 다트를 끌어 놓기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드래그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속도·방향이 투척 벡터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손 움직임이 곧 투척력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반동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연발 중 위로 밀림 제어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연속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발사 완료 뒤 일괄 정산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조준과 반동 제어를 결합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660162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2ECA382E-7F96-4B8A-9B39-AB4FB3C6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다트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E63C6BB8-36F6-4140-A990-D57DC843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04C62B1B-1925-47A1-940F-AABADAAD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15</a:t>
            </a:r>
          </a:p>
        </p:txBody>
      </p:sp>
      <p:graphicFrame>
        <p:nvGraphicFramePr>
          <p:cNvPr id="10" name="표 7"/>
          <p:cNvGraphicFramePr/>
          <p:nvPr/>
        </p:nvGraphicFramePr>
        <p:xfrm>
          <a:off xmlns:a="http://schemas.openxmlformats.org/drawingml/2006/main" x="685799" y="1428750"/>
          <a:ext xmlns:a="http://schemas.openxmlformats.org/drawingml/2006/main" cx="10820400" cy="4476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89394"/>
                <a:gridCol w="2729321"/>
                <a:gridCol w="2813423"/>
                <a:gridCol w="2988262"/>
              </a:tblGrid>
              <a:tr h="559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다트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조준 변화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점수 변화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빌드 역할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표준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수치의 기준선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무거운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게이지가 느려짐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-1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정확도와 점수를 교환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가벼운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게이지가 빨라짐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증가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위험한 고배수 투척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관통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기본 조준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1 고정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착탄 칸과 양옆 칸 값을 일부 획득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자석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착탄점을 중심으로 당김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-1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빗나감을 줄이는 안정형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구매 규칙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상점에서 선택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표준 다트 1발 대체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탄창의 구성 자체가 바뀜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선택 규칙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 전 변경 가능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 시작 뒤 잠금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남은 다트가 같으면 선택 단계 생략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52577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42256E66-6AE3-4EC2-8270-6B7EF9E1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점수 공식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1D2CF50B-7268-4AAD-B010-551B8E05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0F50923B-8257-48D5-A5CB-F31F1F69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16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779767BA-E67F-4F9A-9EDF-7D1793CE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7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7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한 발의 점수 = 현재 칩 × 현재 배수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E864630-FF7F-4802-8769-7D7C8D7F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현재 칩의 시작값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EB5D8D69-37E1-4717-9605-85E8660D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착탄 칸 값 + 영역 강화 + 다트 보정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F10E492D-C207-4F3F-898B-CEF1FBA5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14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현재 배수의 시작값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5D507788-39A5-437E-AFD9-F107A32C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337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착탄 영역 배수 + 영역 강화 + 다트 보정</a:t>
            </a:r>
          </a:p>
        </p:txBody>
      </p:sp>
      <p:sp>
        <p:nvSpPr>
          <p:cNvPr id="9" name="직선 연결선 8">
            <a:extLst xmlns:a="http://schemas.openxmlformats.org/drawingml/2006/main">
              <a:ext uri="{FF2B5EF4-FFF2-40B4-BE49-F238E27FC236}">
                <a16:creationId xmlns:a16="http://schemas.microsoft.com/office/drawing/2014/main" id="{EFE814B2-95EE-4945-B6F3-C6E4D9D6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92B10190-5DFF-48B8-8464-44B3DB07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칩 +N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E8831B32-5408-4910-93B6-3C23A50A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88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88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발동한 순간 현재 칩에 N을 더한다.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9F62048E-DF04-4692-9ABD-79E91B3B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24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배수 +N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56765738-8025-438E-846B-C604BB66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434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88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88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발동한 순간 현재 배수에 N을 더한다.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DE541BE6-0555-47B6-8D01-C4B69892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2435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배수 ×N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B82464A4-03F2-4C2F-A868-3C88510D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43450"/>
            <a:ext cx="340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88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88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앞에서 만든 현재 배수를 N배 한다.</a:t>
            </a:r>
          </a:p>
        </p:txBody>
      </p:sp>
    </p:spTree>
    <p:extLst>
      <p:ext uri="{BB962C8B-B14F-4D97-AF65-F5344CB8AC3E}">
        <p14:creationId xmlns:p14="http://schemas.microsoft.com/office/powerpoint/2010/main" val="11631000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1B7D7FDB-D304-4433-91A0-608C475D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점수 정산 큐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6D7402B0-CF54-473E-82E0-6018AAB3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A5D84946-BBD0-496E-9084-B9BD6CB6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17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4325A33-5AAE-4ADA-AF54-8C573BEB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B5A1ABDA-E332-41A1-9EC5-BF134591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049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착탄 정보 기록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920DC6DA-FB6D-49CA-92E3-020FBD18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76425"/>
            <a:ext cx="4495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섹터 숫자·영역·보드 밖 여부를 기록한다.</a:t>
            </a:r>
          </a:p>
        </p:txBody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FAD976B0-D3D2-421F-B10F-F6453C33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0507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BFDA9F73-9ABF-447C-A5F7-321C3CBF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E1C6CCB2-86BE-4B0E-8874-39DF3288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칩 결정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CCFBAD77-60FD-4B6D-9A67-68026DE9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43225"/>
            <a:ext cx="4495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착탄 칸과 다트가 만드는 현재 칩을 정한다.</a:t>
            </a:r>
          </a:p>
        </p:txBody>
      </p:sp>
      <p:sp>
        <p:nvSpPr>
          <p:cNvPr id="11" name="직선 연결선 10">
            <a:extLst xmlns:a="http://schemas.openxmlformats.org/drawingml/2006/main">
              <a:ext uri="{FF2B5EF4-FFF2-40B4-BE49-F238E27FC236}">
                <a16:creationId xmlns:a16="http://schemas.microsoft.com/office/drawing/2014/main" id="{DE5AB4CC-1022-4AFD-9B70-D80852F9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7187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605C4B01-2E7B-4DEE-B475-07537355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5E91FA1A-6E9C-40C2-BC52-12430069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385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영역 배수 결정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1DD1E2A5-D18E-46A1-A49E-EB06AF8B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4495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싱글·더블·트리플·불·보드 밖의 기본 배수를 적용한다.</a:t>
            </a:r>
          </a:p>
        </p:txBody>
      </p:sp>
      <p:sp>
        <p:nvSpPr>
          <p:cNvPr id="15" name="직선 연결선 14">
            <a:extLst xmlns:a="http://schemas.openxmlformats.org/drawingml/2006/main">
              <a:ext uri="{FF2B5EF4-FFF2-40B4-BE49-F238E27FC236}">
                <a16:creationId xmlns:a16="http://schemas.microsoft.com/office/drawing/2014/main" id="{DA6A7F11-51A9-401C-805A-F014017C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3867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E2B64C23-4251-4F5E-932A-1C509BEC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04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E2D0529C-970B-4177-A6AE-04E61949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053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관통 다트 처리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61056887-01BA-4684-87E0-160A3029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76825"/>
            <a:ext cx="4495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관통이라면 착탄 칸 양옆의 칸 값을 차례로 더한다.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F05BF200-2540-4406-966F-E00DB7BE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049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05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6C5AC320-E76A-42FE-A5C2-6EA9381F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049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스티커 순서대로 발동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9F2427D5-F3FE-41A9-87C7-A57927D9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76425"/>
            <a:ext cx="4495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랙의 왼쪽부터 조건을 확인하고 맞는 효과를 적용한다.</a:t>
            </a:r>
          </a:p>
        </p:txBody>
      </p:sp>
      <p:sp>
        <p:nvSpPr>
          <p:cNvPr id="22" name="직선 연결선 21">
            <a:extLst xmlns:a="http://schemas.openxmlformats.org/drawingml/2006/main">
              <a:ext uri="{FF2B5EF4-FFF2-40B4-BE49-F238E27FC236}">
                <a16:creationId xmlns:a16="http://schemas.microsoft.com/office/drawing/2014/main" id="{0063B04E-8D5C-4F8B-AA6C-20B57DEE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0507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3907105E-21A1-4FF6-8EF0-975FAF14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717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06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7B647590-042A-4590-9058-88E302CC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한 발 점수 확정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15F86AA3-28E2-4BBC-935C-DD84C303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43225"/>
            <a:ext cx="4495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완성된 칩과 배수를 곱해 판의 누적 점수에 더한다.</a:t>
            </a:r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B73614E4-FEC8-4717-9D0D-55A42CF0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7187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5FA80D1E-14E0-4429-8160-FFD6A21A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385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07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88DFE171-7D9F-48F5-AD49-57A83B36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385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판 종료 확인</a:t>
            </a:r>
          </a:p>
        </p:txBody>
      </p:sp>
      <p:sp>
        <p:nvSpPr>
          <p:cNvPr id="29" name="직사각형 28">
            <a:extLst xmlns:a="http://schemas.openxmlformats.org/drawingml/2006/main">
              <a:ext uri="{FF2B5EF4-FFF2-40B4-BE49-F238E27FC236}">
                <a16:creationId xmlns:a16="http://schemas.microsoft.com/office/drawing/2014/main" id="{4D18B2F0-3E5F-4E1C-9767-95CF184E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10025"/>
            <a:ext cx="4495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목표를 넘으면 끝내고, 부족하면 남은 다트로 다음 투척을 시작한다.</a:t>
            </a:r>
          </a:p>
        </p:txBody>
      </p:sp>
      <p:sp>
        <p:nvSpPr>
          <p:cNvPr id="30" name="직선 연결선 29">
            <a:extLst xmlns:a="http://schemas.openxmlformats.org/drawingml/2006/main">
              <a:ext uri="{FF2B5EF4-FFF2-40B4-BE49-F238E27FC236}">
                <a16:creationId xmlns:a16="http://schemas.microsoft.com/office/drawing/2014/main" id="{0DA8F1D5-2DF2-43C9-87BE-8C45136E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3867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928889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1A9D85E3-4AEA-463A-BD00-03A0B23C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스티커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FDC4FB20-3863-4563-AE13-E17B42CB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78311ECC-0768-418E-8EE7-A8AA6FCA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18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A5B49B8-B8FD-455C-88E2-A9DAD416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스티커는 ‘조건 + 효과’로 이루어지며, 랙의 왼쪽부터 발동해 칩·배수·골드·조준 규칙을 바꾼다.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A1CAE4A8-CEC3-45D1-95A6-F125F179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조건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24D168D6-1487-428A-8BBF-793A0A71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현재 착탄 위치, 투척 순서, 이전 투척 기록, 빗나감, 남은 다트와 보유 골드 같은 문맥을 읽는다.</a:t>
            </a:r>
          </a:p>
        </p:txBody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CD6DA2A9-81D2-4764-9848-2B5713CB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3683DCA0-BA95-42A6-A38C-D0CE82E0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효과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0F007C57-CE1E-4B78-8348-E813923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칩 +N, 배수 +N, 배수 ×N, 골드, 성장·소멸, 목숨, 조준 방식 변경처럼 점수와 런 규칙을 바꾼다.</a:t>
            </a:r>
          </a:p>
        </p:txBody>
      </p:sp>
      <p:sp>
        <p:nvSpPr>
          <p:cNvPr id="10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0126AF48-39A9-4C18-8A7D-82E0780B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7621824D-B79A-47F6-8F11-C9C2ADA2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랙과 등급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0D501168-30E6-489E-84BA-2329CAD4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기본 랙은 5칸이며 순서를 직접 바꿀 수 있다. 등급은 흔함·보통·희귀이고, 희귀할수록 빌드의 방향을 크게 바꾼다.</a:t>
            </a:r>
          </a:p>
        </p:txBody>
      </p:sp>
    </p:spTree>
    <p:extLst>
      <p:ext uri="{BB962C8B-B14F-4D97-AF65-F5344CB8AC3E}">
        <p14:creationId xmlns:p14="http://schemas.microsoft.com/office/powerpoint/2010/main" val="11270553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02168D7C-0B48-43C3-9F32-1CFD3A44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스티커 조건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4E3BA9FF-7350-4940-B58D-3961A2E3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7EF5FD13-B08E-4542-A19A-2E642C3C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19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FC5E2B33-DDC6-41DD-80E9-AC0818AB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현재 투척에서 읽는 값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6E138A08-F7C5-453F-9CD7-88FAF182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0101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위치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트리플 · 더블 · 띠 · 불 · 보드 밖 · 홀짝 · 좌우 · 숫자 구간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순서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판의 첫 발 · 마지막 발 · 매 6번째 투척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문맥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남은 다트 · 보유 스티커 · 보유 골드 · 빈 랙</a:t>
            </a:r>
          </a:p>
        </p:txBody>
      </p:sp>
      <p:sp>
        <p:nvSpPr>
          <p:cNvPr id="6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0ADC3525-0872-43F2-8D40-FD4355B6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C9876AA1-45DE-4870-AA3C-E2B6C731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4305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이전 기록에서 읽는 값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E43DF11F-DEFC-43DB-BA72-0FB67B4A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33600"/>
            <a:ext cx="50101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직전 결과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같은 숫자 · 다른 숫자 · 직전 빗나감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반복 이력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같은 숫자 2~4회 · 같은 영역 3회 · 서로 다른 숫자·영역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후속 조건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‘트리플을 맞힌 뒤’처럼 완성한 다음 발부터 활성화되는 상태</a:t>
            </a:r>
          </a:p>
        </p:txBody>
      </p:sp>
    </p:spTree>
    <p:extLst>
      <p:ext uri="{BB962C8B-B14F-4D97-AF65-F5344CB8AC3E}">
        <p14:creationId xmlns:p14="http://schemas.microsoft.com/office/powerpoint/2010/main" val="11695329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CFCB2208-0806-4712-AB0B-D61BB0EC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다트보드 개조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8532E821-DB1E-47D3-880E-759E5E6A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CBCF104B-AF4F-49D2-B5C6-A2BF5AA0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20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5E938C6D-7E5D-49BC-B2C2-C24471C2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3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개조는 다트보드를 기본 상태에서 다시 조립해 띠의 폭·위치·불·섹터를 바꾼다. 슬롯을 쓰지 않고 런 동안 유지된다.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A5B3DA12-89C8-42FA-890C-43822A53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변경하는 요소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2624A10F-AE75-474E-858A-B9D605C5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트리플·더블 띠의 폭과 위치, 추가 띠, 불의 크기, 보드 크기, 섹터 숫자와 칸 배치를 바꾼다.</a:t>
            </a:r>
          </a:p>
        </p:txBody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A6269F3B-1B32-4BB1-BED4-9A13037F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1CD60599-2A0F-454D-909C-2A6E4C34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고정된 재구축 순서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F7FF78CB-E723-4160-A6FA-2F814817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기본 보드에서 개조 목록을 정해진 순서로 다시 적용한다. 구매 순서가 달라도 같은 개조 조합이면 같은 보드가 나온다.</a:t>
            </a:r>
          </a:p>
        </p:txBody>
      </p:sp>
      <p:sp>
        <p:nvSpPr>
          <p:cNvPr id="10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4CF6F292-E9A4-4AF5-968F-BD1C1F67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F8AF6521-10DD-4E96-910E-9E4B0795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상점 후보 필터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A780E7D5-5162-441E-86E3-6A3AAC67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띠가 겹치거나 최소 폭이 무너지는 조합, 보드 값을 지나치게 올리는 개조, 이미 산 개조는 매대 후보에서 제외한다.</a:t>
            </a:r>
          </a:p>
        </p:txBody>
      </p:sp>
    </p:spTree>
    <p:extLst>
      <p:ext uri="{BB962C8B-B14F-4D97-AF65-F5344CB8AC3E}">
        <p14:creationId xmlns:p14="http://schemas.microsoft.com/office/powerpoint/2010/main" val="21177328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428E434F-77CC-4B9B-9AD2-A6FDC10C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영역 강화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FFD0509C-A5A5-4C90-B1EA-186B9697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1866427E-63E9-4ADC-9675-5C880698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21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EBE887F0-30DE-49B2-B7F6-016C21C3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350" b="0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다섯 강화 트랙은 해당 영역의 시작값을 올린다. 아우터 불과 이너 불은 불 트랙 하나를 공유하며, 보드 아웃은 점수가 생겨도 빗나감으로 기록된다.</a:t>
            </a:r>
          </a:p>
        </p:txBody>
      </p:sp>
      <p:graphicFrame>
        <p:nvGraphicFramePr>
          <p:cNvPr id="12" name="표 9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553700" cy="3905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190750"/>
                <a:gridCol w="3143250"/>
                <a:gridCol w="1905000"/>
                <a:gridCol w="1905000"/>
                <a:gridCol w="1409700"/>
              </a:tblGrid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강화 트랙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적용 대상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올라가는 값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플레이 변화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공통 규칙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싱글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싱글 영역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영역 시작값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넓은 영역의 안정적인 칩 확보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런 동안 유지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더블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더블 띠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영역 시작값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좁은 띠의 고배수 강화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런 동안 유지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 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영역 시작값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가장 위험한 고배수 영역 강화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런 동안 유지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아우터·이너 불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공유 시작값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중앙을 노리는 빌드 강화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두 불이 한 트랙 공유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보드 아웃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 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빗나감 시작 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실패를 득점 자원으로 전환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빗나감 깃발 유지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04971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9D785992-2CDE-44D5-B1A2-953EC540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빗나감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C5ED1D55-333A-4FB3-800E-4AF049F5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5ABFB152-FF2B-45C4-8818-9F0BD7F4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22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E3DE0463-401A-4DE4-BCC3-02480ED0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9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보드 밖도 정산 큐에 들어간다. 기본값은 칩 0·배수 1이며, 빗나감 조건과 보드 아웃 강화가 이 결과를 바꾼다.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462E0D7B-D4AA-4D3C-B5A6-C8B23DA2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빗나감 깃발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82C15461-F7B8-45E0-95B2-D60A4929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숫자·띠·불 같은 명중 조건은 발동하지 않고, ‘빗나가면’과 ‘직전 투척이 빗나갔다면’ 조건만 살아남는다.</a:t>
            </a:r>
          </a:p>
        </p:txBody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301268FD-96CF-41CA-9197-B679C864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2579BBD5-D783-4B3E-AFC8-6C0C28D5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빗나감 스티커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63684CF8-4549-4EA2-8248-3F82D418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빗나갈 때 칩이나 배수를 얻는 스티커를 모으면 보드 밖이 의도적인 득점 위치가 된다. 정확히 맞히는 빌드와 다른 조준 목표를 만든다.</a:t>
            </a:r>
          </a:p>
        </p:txBody>
      </p:sp>
      <p:sp>
        <p:nvSpPr>
          <p:cNvPr id="10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7A7D5574-4E48-42D3-AFC6-435E881F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0A1E60A6-1185-401A-A4CD-3F7F595C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보드 아웃 강화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CFA8C2BD-65CA-4CF2-9F3B-5448AE1C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보드 아웃 트랙을 올리면 빗나가도 시작 칩이 생긴다. 점수를 얻더라도 빗나감 깃발은 유지되어 실패 조건 스티커도 함께 발동한다.</a:t>
            </a:r>
          </a:p>
        </p:txBody>
      </p:sp>
    </p:spTree>
    <p:extLst>
      <p:ext uri="{BB962C8B-B14F-4D97-AF65-F5344CB8AC3E}">
        <p14:creationId xmlns:p14="http://schemas.microsoft.com/office/powerpoint/2010/main" val="23484361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1FF39521-FB05-4C7F-A084-EB40324A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골드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A209CD72-833E-4009-A16C-B50828B4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631DA41A-55EF-44FB-8507-3C90641B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23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F94FE781-F233-4C88-BB35-2FCBDF77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3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3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획득 = 클리어 보상 + 남은 다트 + 이자 + 스티커·딱지·판매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2DE6358D-9C7A-4B6D-8575-B49540E8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획득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16BE33FB-EE8D-4BF1-AEE5-EE7FEC44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소판 &lt; 대판 &lt; 보스판 순으로 기본 보상이 커진다. 클리어 시 남은 다트마다 골드를 받고, 골드 스티커·딱지·판매 수익을 더한다.</a:t>
            </a: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88FD7E98-5CA8-4ED1-BF21-C40C1C10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사용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313742D6-29F8-4BDE-A9F0-92B09695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956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매대의 스티커·다트·개조·소비 아이템, 설비, 유료 새로고침에 쓴다. 금 리그에서는 판마다 유지비가 빠진다.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83CF5233-7ACD-47BD-8D6D-A7A35645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연결 규칙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21D133A5-3B90-41D3-926D-D89144CD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보유 골드에는 상한까지 이자가 붙어 저축을 유도한다. 반대로 잔탄 보상은 빠른 클리어, 상점은 즉시 투자를 유도한다. 일당 팩은 이자를 없애고 잔탄 보상을 2배로 바꾼다.</a:t>
            </a:r>
          </a:p>
        </p:txBody>
      </p:sp>
    </p:spTree>
    <p:extLst>
      <p:ext uri="{BB962C8B-B14F-4D97-AF65-F5344CB8AC3E}">
        <p14:creationId xmlns:p14="http://schemas.microsoft.com/office/powerpoint/2010/main" val="185592007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5F0DAA16-3032-4A87-BB99-D05AADF5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상점 흐름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4510E379-3356-4FAD-A91B-A8CEDA48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EAD92DB6-39AF-49E0-A358-D84DA78A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24</a:t>
            </a:r>
          </a:p>
        </p:txBody>
      </p:sp>
      <p:sp>
        <p:nvSpPr>
          <p:cNvPr id="4" name="직선 연결선 3">
            <a:extLst xmlns:a="http://schemas.openxmlformats.org/drawingml/2006/main">
              <a:ext uri="{FF2B5EF4-FFF2-40B4-BE49-F238E27FC236}">
                <a16:creationId xmlns:a16="http://schemas.microsoft.com/office/drawing/2014/main" id="{BC246B27-238A-4DF4-8DFD-DE3C5964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622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8DA8"/>
            </a:solidFill>
            <a:prstDash val="solid"/>
          </a:ln>
        </p:spPr>
      </p:sp>
      <p:sp>
        <p:nvSpPr>
          <p:cNvPr id="5" name="직선 연결선 4">
            <a:extLst xmlns:a="http://schemas.openxmlformats.org/drawingml/2006/main">
              <a:ext uri="{FF2B5EF4-FFF2-40B4-BE49-F238E27FC236}">
                <a16:creationId xmlns:a16="http://schemas.microsoft.com/office/drawing/2014/main" id="{42F8207F-5495-4089-A55A-27A2259B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622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8DA8"/>
            </a:solidFill>
            <a:prstDash val="solid"/>
          </a:ln>
        </p:spPr>
      </p:sp>
      <p:sp>
        <p:nvSpPr>
          <p:cNvPr id="6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3ECA62C9-CEEB-440A-A3E7-1B2435A1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622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8DA8"/>
            </a:solidFill>
            <a:prstDash val="solid"/>
          </a:ln>
        </p:spPr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1DA388F8-9F40-41BE-AEED-AD3760D3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622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8DA8"/>
            </a:solidFill>
            <a:prstDash val="solid"/>
          </a:ln>
        </p:spPr>
      </p:sp>
      <p:sp>
        <p:nvSpPr>
          <p:cNvPr id="8" name="직선 연결선 7">
            <a:extLst xmlns:a="http://schemas.openxmlformats.org/drawingml/2006/main">
              <a:ext uri="{FF2B5EF4-FFF2-40B4-BE49-F238E27FC236}">
                <a16:creationId xmlns:a16="http://schemas.microsoft.com/office/drawing/2014/main" id="{FD285D33-6CAD-40B3-9997-C6DEB453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622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68DA8"/>
            </a:solidFill>
            <a:prstDash val="solid"/>
          </a:ln>
        </p:spPr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F9EB9EEA-3E84-4F16-AB81-124F10C9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47900"/>
            <a:ext cx="15240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E8F5F7"/>
          </a:solidFill>
          <a:ln xmlns:a="http://schemas.openxmlformats.org/drawingml/2006/main" w="9525">
            <a:solidFill>
              <a:srgbClr val="168DA8"/>
            </a:solidFill>
            <a:prstDash val="solid"/>
          </a:ln>
        </p:spPr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AE7583FD-6239-442B-8556-C7E958A9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47925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판 클리어</a:t>
            </a: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472F6622-5D83-4E49-A9A0-96F99491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247900"/>
            <a:ext cx="15240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1157949B-284B-4C78-90AC-7DE1E174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47925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딜러가 4개 투척</a:t>
            </a:r>
          </a:p>
        </p:txBody>
      </p:sp>
      <p:sp>
        <p:nvSpPr>
          <p:cNvPr id="13" name="사각형: 둥근 모서리 12">
            <a:extLst xmlns:a="http://schemas.openxmlformats.org/drawingml/2006/main">
              <a:ext uri="{FF2B5EF4-FFF2-40B4-BE49-F238E27FC236}">
                <a16:creationId xmlns:a16="http://schemas.microsoft.com/office/drawing/2014/main" id="{9B75B5D6-94D9-4204-B064-04C9B79B8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47900"/>
            <a:ext cx="15240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83020868-A0A7-4C2F-B235-11186186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47925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매물·설비 확인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77F7D5DB-6B4B-4AD3-A4F3-E65DB59D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47900"/>
            <a:ext cx="15240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81459594-F3CF-45DB-9931-FD93E4FF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47925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구매·판매</a:t>
            </a:r>
          </a:p>
        </p:txBody>
      </p:sp>
      <p:sp>
        <p:nvSpPr>
          <p:cNvPr id="17" name="사각형: 둥근 모서리 16">
            <a:extLst xmlns:a="http://schemas.openxmlformats.org/drawingml/2006/main">
              <a:ext uri="{FF2B5EF4-FFF2-40B4-BE49-F238E27FC236}">
                <a16:creationId xmlns:a16="http://schemas.microsoft.com/office/drawing/2014/main" id="{49AF6502-9A30-4C08-9B6A-28937F50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247900"/>
            <a:ext cx="15240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44A3B8D2-59B7-42BE-8397-DFABB08C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47925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새로고침</a:t>
            </a:r>
          </a:p>
        </p:txBody>
      </p:sp>
      <p:sp>
        <p:nvSpPr>
          <p:cNvPr id="19" name="사각형: 둥근 모서리 18">
            <a:extLst xmlns:a="http://schemas.openxmlformats.org/drawingml/2006/main">
              <a:ext uri="{FF2B5EF4-FFF2-40B4-BE49-F238E27FC236}">
                <a16:creationId xmlns:a16="http://schemas.microsoft.com/office/drawing/2014/main" id="{486480F9-C3C0-4CE4-9A75-BA918A5C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47900"/>
            <a:ext cx="15240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C87B417C-7C1E-4DC6-A658-30BB2700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47925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3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상점 종료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54D44BC4-4257-4407-B27B-10FA5C31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10058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7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클리어한 판 뒤에 상점이 열린다. 매대에는 스티커·개조·다트·소비 아이템이 정확히 4개 놓이고, 왼쪽 벽에는 해당 앤티의 설비가 걸린다. 무료 새로고침을 다 쓰면 비용이 누적해서 오르며, 상점을 나가면 다음 판 선택으로 이동한다.</a:t>
            </a:r>
          </a:p>
        </p:txBody>
      </p:sp>
    </p:spTree>
    <p:extLst>
      <p:ext uri="{BB962C8B-B14F-4D97-AF65-F5344CB8AC3E}">
        <p14:creationId xmlns:p14="http://schemas.microsoft.com/office/powerpoint/2010/main" val="163066919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C38C28CD-1525-4FE1-B0C8-D66259AD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구매·판매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20475024-5C1A-4DF3-87BF-23532253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36844A4C-24E9-4CA7-B99A-8329C713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25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06EA2A3A-B19A-49A4-9EB3-A3F0B4C7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딜러와 새로고침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F5D07139-D47A-43A5-A5C7-45627D99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0101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딜러가 물건을 펠트 위로 던지며, 충돌과 굴림이 실제 배치를 정한다.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새로고침하면 딜러가 팔로 매대를 왼쪽 창구까지 쓸어 버리고 새 물건을 다시 던진다.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이미 보유한 스티커·개조와 아직 해금되지 않은 콘텐츠는 후보에서 빠진다.</a:t>
            </a:r>
          </a:p>
        </p:txBody>
      </p:sp>
      <p:sp>
        <p:nvSpPr>
          <p:cNvPr id="6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0EC41578-BDFB-4425-8518-B5F9EB70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54009C66-CA45-4D11-BF93-A1425A72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4305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구매와 판매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3C8F8FBE-BB3A-4F37-AF9F-E7AE4165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33600"/>
            <a:ext cx="50101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구매 방법은 두 가지다. 물건을 오른쪽 계산대로 밀거나, 물건을 누른 뒤 계산대를 누른다.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골드 부족·슬롯 부족·교체할 표준 다트 없음은 계산대 한 곳에서 판정한다.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판매는 랙의 스티커를 집어 지갑 옆 판매 창구에 넣는다.</a:t>
            </a:r>
          </a:p>
        </p:txBody>
      </p:sp>
    </p:spTree>
    <p:extLst>
      <p:ext uri="{BB962C8B-B14F-4D97-AF65-F5344CB8AC3E}">
        <p14:creationId xmlns:p14="http://schemas.microsoft.com/office/powerpoint/2010/main" val="122299280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142AF35B-CC7C-4539-8270-71A13F2F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설비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86E5A716-AF1A-4EF0-942D-C7E1DC70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8C784C19-8E3C-414B-A7FB-01701412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26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127C4307-B400-4A16-94E2-A630FB52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구매와 유지 규칙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33D942D-B2AC-461D-A068-A92254BF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0101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설비는 매대가 아니라 상점 왼쪽 벽에 걸린다. 새로고침해도 바뀌지 않는다.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/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rPr>
                <a:latin typeface="Paperlogy 4 Regular"/>
                <a:ea typeface="Paperlogy 4 Regular"/>
                <a:cs typeface="Paperlogy 4 Regular"/>
              </a:rPr>
              <a:t>앤티마다 하나가 등장하고, 사지 않으면 그 앤티의 세 상점에서 계속 보인다.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앤티가 넘어갈 때까지 사지 않으면 사라지며, 구매한 설비는 런 끝까지 유지된다.</a:t>
            </a:r>
          </a:p>
        </p:txBody>
      </p:sp>
      <p:sp>
        <p:nvSpPr>
          <p:cNvPr id="6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7C46BDF5-E455-4AF0-98B3-CF0ED9D7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61F8087F-8357-48BC-A8D6-69B27927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4305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설비 7종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7ABD17E7-63E5-4196-AFB8-D8204F4E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33600"/>
            <a:ext cx="50101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매대 칸 늘리기 1·2단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무료 새로고침 추가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rPr>
                <a:latin typeface="Paperlogy 4 Regular"/>
                <a:ea typeface="Paperlogy 4 Regular"/>
                <a:cs typeface="Paperlogy 4 Regular"/>
              </a:rPr>
              <a:t>이자 상한 올리기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조준 게이지 느리게 1·2단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다트 1발 추가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경제뿐 아니라 조준과 손의 여유도 성장시키는 장기 업그레이드다.</a:t>
            </a:r>
          </a:p>
        </p:txBody>
      </p:sp>
    </p:spTree>
    <p:extLst>
      <p:ext uri="{BB962C8B-B14F-4D97-AF65-F5344CB8AC3E}">
        <p14:creationId xmlns:p14="http://schemas.microsoft.com/office/powerpoint/2010/main" val="108410901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EAB0B46A-A62A-4A04-9DEC-4C07E96F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보스 제약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816E9921-79DE-4AFF-B0FD-A9ECBEB0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06EF8168-CF85-4492-AD84-C8FB2E81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27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3299EE42-76A0-4BB4-A320-68D91FED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3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보스판에 들어가기 전에 서로 다른 제약 3개 중 하나를 반드시 고른다. 선택한 제약은 해당 보스판에만 적용된다.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15259C86-CDCA-4CDF-8516-A10CDAF7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제약이 공격하는 네 축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B7B4855B-493A-48E3-889A-284DAEB0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셀·숫자, 더블·트리플 같은 영역, 게이지 속도·표시 같은 조준, 보드 밖·빗나감 규칙을 바꾼다.</a:t>
            </a:r>
          </a:p>
        </p:txBody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9ED16ADB-CCC8-4CA3-A985-34CC695C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D6EA8D90-DFE3-4EFF-9FF7-8149C9AA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선택 기준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51DBD32B-1CBA-4C97-B6BE-494D4A4D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링을 좁히는 제약과 조준을 흔드는 제약 중 현재 스티커·다트·개조 빌드에 덜 치명적인 것을 고른다.</a:t>
            </a:r>
          </a:p>
        </p:txBody>
      </p:sp>
      <p:sp>
        <p:nvSpPr>
          <p:cNvPr id="10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8880A081-8164-43AF-890B-80F38BBD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0E9C8C00-7AA3-4919-83C5-C17F5862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현재 조정 중인 값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FCA68DF4-0EF5-4D80-BBB4-D5534576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‘높은 목표’의 증가율은 임시값이다. 제약은 추가 보상 없이 보스 난도를 바꾸는 규칙으로 사용한다.</a:t>
            </a:r>
          </a:p>
        </p:txBody>
      </p:sp>
    </p:spTree>
    <p:extLst>
      <p:ext uri="{BB962C8B-B14F-4D97-AF65-F5344CB8AC3E}">
        <p14:creationId xmlns:p14="http://schemas.microsoft.com/office/powerpoint/2010/main" val="31281700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C38C28CD-1525-4FE1-B0C8-D66259AD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시스템 - 소비 아이템과 가공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20475024-5C1A-4DF3-87BF-23532253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36844A4C-24E9-4CA7-B99A-8329C713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28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06EA2A3A-B19A-49A4-9EB3-A3F0B4C7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소비 아이템 · 가안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F5D07139-D47A-43A5-A5C7-45627D99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0101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역할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>강화·가공을 한 번에 적용하는 소모 자원이다.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/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>획득과 보관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상점 또는 딱지로 얻고 기본 2칸에 보관한다. 구매 즉시 사용하거나 이후에 꺼내 쓴다.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사용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유효한 스티커·다트·영역만 표시하고, 대상에 놓으면 적용 후 소모된다.</a:t>
            </a:r>
          </a:p>
        </p:txBody>
      </p:sp>
      <p:sp>
        <p:nvSpPr>
          <p:cNvPr id="6" name="직선 연결선 5">
            <a:extLst xmlns:a="http://schemas.openxmlformats.org/drawingml/2006/main">
              <a:ext uri="{FF2B5EF4-FFF2-40B4-BE49-F238E27FC236}">
                <a16:creationId xmlns:a16="http://schemas.microsoft.com/office/drawing/2014/main" id="{0EC41578-BDFB-4425-8518-B5F9EB70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0" cy="409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54009C66-CA45-4D11-BF93-A1425A72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43050"/>
            <a:ext cx="501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가공 · 미구현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3C8F8FBE-BB3A-4F37-AF9F-E7AE4165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33600"/>
            <a:ext cx="50101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역할</a:t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>스티커나 다트 하나에 영구 변형을 붙인다.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/>
            </a:r>
          </a:p>
          <a:p xmlns:a="http://schemas.openxmlformats.org/drawingml/2006/main">
            <a:pPr>
              <a:buNone/>
              <a:defRPr>
                <a:latin typeface="Paperlogy 4 Regular"/>
                <a:ea typeface="Paperlogy 4 Regular"/>
                <a:cs typeface="Paperlogy 4 Regular"/>
              </a:defRPr>
            </a:pPr>
            <a:r>
              <a:t>후보 효과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슬롯 확장 · 칩/배수 강화 · 조건 변형 · 조준 안정화 · 배수 보정 · 영역 반응 · 판매가 증가.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/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남은 설계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대상 선택, 적용 확인, 덮어쓰기, 상점 등장과 가격 규칙을 구현·검증해야 한다.</a:t>
            </a:r>
          </a:p>
        </p:txBody>
      </p:sp>
    </p:spTree>
    <p:extLst>
      <p:ext uri="{BB962C8B-B14F-4D97-AF65-F5344CB8AC3E}">
        <p14:creationId xmlns:p14="http://schemas.microsoft.com/office/powerpoint/2010/main" val="122299280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0AC4A56D-6307-41FB-978F-FB6AF004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45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645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REWARDS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0FC986C-879A-40F6-A5C4-9FE3B675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25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보상 요소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D71C2EEB-1CCA-4754-B7B6-E8AB1EA3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8DA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406A2B14-4FDC-4B6E-9692-7370443A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2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04 · REWARDS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1BDF33FB-2BBC-490F-AD95-990A2BD8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클리어·건너뛰기·해금이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다음 선택을 만든다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9B59DF05-6622-4588-BC08-99851964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54410976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8496483A-107D-42B1-BA79-45803896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보상 요소 - 보상 구조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CF94223B-C684-4A6A-9ABB-E670DEB3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EC02EE8B-993D-466C-8670-8AFC8F46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30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8E60451B-83BC-4701-A854-786835A3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보상은 판을 끝낸 방식에 따라 즉시 자원, 다음 판 효과, 다음 상점 기회로 나뉜다.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7A54BD4F-0E74-44E4-A16F-EE111838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클리어 보상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6280CE10-9614-4D41-BBDB-4457BBB8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판 종류별 기본 골드 + 남은 다트 보상 + 이자를 받는다. 빠르게 클리어할수록 다음 상점의 선택지가 넓어진다.</a:t>
            </a:r>
          </a:p>
        </p:txBody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5FA496FC-B30C-4D75-96C2-B381D2DA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99D5D714-3740-4F38-85EE-F48AD635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건너뛰기 보상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7BB03A8E-73A5-43CE-A37B-FF3458ED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소판·대판의 점수와 상점을 포기하는 대신 딱지를 얻는다. 딱지는 즉시·다음 판·다음 상점·다음 보스에 효과를 예약한다.</a:t>
            </a:r>
          </a:p>
        </p:txBody>
      </p:sp>
      <p:sp>
        <p:nvSpPr>
          <p:cNvPr id="10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DE2495A7-EA6A-42B0-BB8A-AD688311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CD7A167B-D174-409B-AA18-63D3E512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성장·해금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312F7155-F71D-4CAE-870B-772829B4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상점에서 스티커·다트·개조·설비를 구매해 런을 성장시키고, 완주로 스타트 팩과 리그를 순차 해금한다.</a:t>
            </a:r>
          </a:p>
        </p:txBody>
      </p:sp>
    </p:spTree>
    <p:extLst>
      <p:ext uri="{BB962C8B-B14F-4D97-AF65-F5344CB8AC3E}">
        <p14:creationId xmlns:p14="http://schemas.microsoft.com/office/powerpoint/2010/main" val="168478072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6A439020-3D42-4F2B-8FDE-E66785D4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보상 요소 - 딱지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0BD33CE2-BA71-4EB5-9634-5A1E4ACB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7A1CFDE0-941F-42A0-8302-D2D6DCC4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31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36A81B6E-4713-4819-99AC-FF3EE645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0B3745AF-3B2F-4A78-BA02-262173AD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049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즉시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806FF9A8-B121-493A-912D-FCCF8CCD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76425"/>
            <a:ext cx="4495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딱지를 받는 순간 골드·강화 같은 보상이 적용된다.</a:t>
            </a:r>
          </a:p>
        </p:txBody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E110907B-9209-4FDF-A588-BD18C26D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5272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7560686E-ED61-43D3-A3B0-5D04FB60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E3166C80-FC5D-4B6C-BE27-735961A1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194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다음 판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4769CB87-E8DF-41CF-91B2-16C7DF54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4495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다음 판에서만 여벌 다트나 일시 효과를 제공한다.</a:t>
            </a:r>
          </a:p>
        </p:txBody>
      </p:sp>
      <p:sp>
        <p:nvSpPr>
          <p:cNvPr id="11" name="직선 연결선 10">
            <a:extLst xmlns:a="http://schemas.openxmlformats.org/drawingml/2006/main">
              <a:ext uri="{FF2B5EF4-FFF2-40B4-BE49-F238E27FC236}">
                <a16:creationId xmlns:a16="http://schemas.microsoft.com/office/drawing/2014/main" id="{7F595F43-2B5E-4983-A719-4C512C5E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17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4852CCF7-63DE-440D-89B8-40BB2312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3E6501A0-DF46-4473-AB5A-8139B055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338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다음 상점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A0DB1F54-B385-4612-A5DB-80966E7A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05325"/>
            <a:ext cx="4495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무료 새로고침·매대 확장·무료 상품을 다음 상점에 적용한다.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61FB7BE7-D16A-4E43-A29F-9E710CF0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049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04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8AB5679D-9A94-4F3D-A4C6-EF0C5F36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049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다음 보스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872EE1C3-AAEE-4864-BBDD-23B1BA41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76425"/>
            <a:ext cx="4495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보스 제약 선택지를 늘리거나 보스전에 필요한 보상을 예약한다.</a:t>
            </a:r>
          </a:p>
        </p:txBody>
      </p:sp>
      <p:sp>
        <p:nvSpPr>
          <p:cNvPr id="18" name="직선 연결선 17">
            <a:extLst xmlns:a="http://schemas.openxmlformats.org/drawingml/2006/main">
              <a:ext uri="{FF2B5EF4-FFF2-40B4-BE49-F238E27FC236}">
                <a16:creationId xmlns:a16="http://schemas.microsoft.com/office/drawing/2014/main" id="{CF1FDC19-DE19-41BE-BEA6-C9B52D69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5272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48F20995-EB39-47D9-A41E-03071C5C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194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05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0003B42F-3188-4E85-93B6-6590B546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보상 종류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830006D0-96DE-4885-96F0-DCFC8218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90875"/>
            <a:ext cx="4495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골드·다트·영역 강화·소비 아이템·스티커·무료 상품을 준다.</a:t>
            </a:r>
          </a:p>
        </p:txBody>
      </p:sp>
      <p:sp>
        <p:nvSpPr>
          <p:cNvPr id="22" name="직선 연결선 21">
            <a:extLst xmlns:a="http://schemas.openxmlformats.org/drawingml/2006/main">
              <a:ext uri="{FF2B5EF4-FFF2-40B4-BE49-F238E27FC236}">
                <a16:creationId xmlns:a16="http://schemas.microsoft.com/office/drawing/2014/main" id="{D1F74AF7-CB91-4C1F-AB51-E25CE888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6717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C94820AD-97D4-4FBE-AC9A-04CE0286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338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06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C8A7B17B-583B-4979-984B-1D4964D7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338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등장 규칙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802E6EF2-52CA-494E-A4F1-8169AE18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05325"/>
            <a:ext cx="4495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소판·대판을 건너뛸 때만 얻으며, 낮은 앤티에는 강한 딱지가 등장하지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72135673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2ECA382E-7F96-4B8A-9B39-AB4FB3C6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보상 요소 - 스타트 팩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E63C6BB8-36F6-4140-A990-D57DC843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04C62B1B-1925-47A1-940F-AABADAAD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32</a:t>
            </a:r>
          </a:p>
        </p:txBody>
      </p:sp>
      <p:graphicFrame>
        <p:nvGraphicFramePr>
          <p:cNvPr id="10" name="표 7"/>
          <p:cNvGraphicFramePr/>
          <p:nvPr/>
        </p:nvGraphicFramePr>
        <p:xfrm>
          <a:off xmlns:a="http://schemas.openxmlformats.org/drawingml/2006/main" x="685799" y="1428750"/>
          <a:ext xmlns:a="http://schemas.openxmlformats.org/drawingml/2006/main" cx="10820400" cy="4476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89394"/>
                <a:gridCol w="2729321"/>
                <a:gridCol w="2813423"/>
                <a:gridCol w="2988262"/>
              </a:tblGrid>
              <a:tr h="559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스타트 팩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시작 조건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대가·변화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해금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기본 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기본 물건과 수치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처음부터 사용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여벌 팩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 +1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남은 다트의 가치 상실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이전 팩으로 완주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넓은 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스티커 랙 +1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 -1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이전 팩으로 완주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선금 팩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시작 골드 증가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소비 아이템 슬롯 -1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이전 팩으로 완주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일당 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남은 다트 골드 2배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이자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이전 팩으로 완주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히든 팩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조준·계산 방식 분기 자리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내용 미정, 현재 기본과 동일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통계 조건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공통 규칙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직접 버프보다 물건을 지급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매매·봉인·파괴 규칙에 포함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완주 순서대로 개방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525772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125883BC-6FE8-4D4A-94A7-711F5CF0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보상 요소 - 리그와 해금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EA140A87-E385-4536-9D42-6A44F0E0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6D371B86-396D-4446-B15A-EB17BF38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33</a:t>
            </a:r>
          </a:p>
        </p:txBody>
      </p:sp>
      <p:graphicFrame>
        <p:nvGraphicFramePr>
          <p:cNvPr id="10" name="표 7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553700" cy="4762503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333500"/>
                <a:gridCol w="2190750"/>
                <a:gridCol w="1714500"/>
                <a:gridCol w="1714500"/>
                <a:gridCol w="3600450"/>
              </a:tblGrid>
              <a:tr h="529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리그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추가되는 규칙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공격하는 축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플레이 영향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해금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기준선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기본 목표와 경제를 익힘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처음부터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붉은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소판 골드 0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경제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목표보다 여유를 먼저 줄임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앞 리그 완주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초록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가파른 목표 곡선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빌드 성장 속도를 검증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앞 리그 완주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검정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 판 스티커 1장 봉인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랙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한 자리가 비활성인 채 시작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앞 리그 완주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파랑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 1발 감소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투척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직접적인 득점 기회 감소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앞 리그 완주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보라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목표 곡선 추가 상승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완성 빌드의 점수를 요구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앞 리그 완주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주황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가격 상승 + 스티커 마모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경제·지속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구매와 교체 시점을 압박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앞 리그 완주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금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판마다 유지비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경제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전 구간의 자금 운용을 압박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앞 리그 완주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660162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0AC4A56D-6307-41FB-978F-FB6AF004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68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645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645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UI / UX</a:t>
            </a:r>
          </a:p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0FC986C-879A-40F6-A5C4-9FE3B675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25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UI/UX</a:t>
            </a:r>
          </a:p>
        </p:txBody>
      </p:sp>
      <p:sp>
        <p:nvSpPr>
          <p:cNvPr id="3" name="직선 연결선 2">
            <a:extLst xmlns:a="http://schemas.openxmlformats.org/drawingml/2006/main">
              <a:ext uri="{FF2B5EF4-FFF2-40B4-BE49-F238E27FC236}">
                <a16:creationId xmlns:a16="http://schemas.microsoft.com/office/drawing/2014/main" id="{D71C2EEB-1CCA-4754-B7B6-E8AB1EA3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8DA8"/>
            </a:solidFill>
            <a:prstDash val="solid"/>
          </a:ln>
        </p:spPr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406A2B14-4FDC-4B6E-9692-7370443A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2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2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05 · UI / UX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1BDF33FB-2BBC-490F-AD95-990A2BD8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입력 잠금과 상태 피드백으로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500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작은 화면에서도 흐름을 읽게 한다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9B59DF05-6622-4588-BC08-99851964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54410976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660A7512-D0AD-46E3-9F0F-7DE719CC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UI/UX - 플레이 화면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8F03149D-DBB2-48ED-A79E-997B18ED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E046FB33-3B74-454E-B25C-0C377059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35</a:t>
            </a:r>
          </a:p>
        </p:txBody>
      </p:sp>
      <p:pic>
        <p:nvPicPr>
          <p:cNvPr id="329" name="그림 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513b388d9bf41ff"/>
          <a:srcRect xmlns:a="http://schemas.openxmlformats.org/drawingml/2006/main" l="0" t="0" r="0" b="7032"/>
          <a:stretch xmlns:a="http://schemas.openxmlformats.org/drawingml/2006/main"/>
        </p:blipFill>
        <p:spPr>
          <a:xfrm xmlns:a="http://schemas.openxmlformats.org/drawingml/2006/main">
            <a:off x="2567031" y="2636543"/>
            <a:ext cx="7057938" cy="3688056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chemeClr val="accent2"/>
            </a:solidFill>
          </a:ln>
        </p:spPr>
      </p:pic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382FDF6-9FEA-4012-8584-B855EABB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571" y="4614140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Paperlogy 6 SemiBold"/>
                <a:ea typeface="Paperlogy 6 SemiBold"/>
                <a:cs typeface="Paperlogy 6 SemiBold"/>
              </a:defRPr>
            </a:pPr>
            <a:r>
              <a:rPr>
                <a:latin typeface="Paperlogy 6 SemiBold"/>
                <a:ea typeface="Paperlogy 6 SemiBold"/>
                <a:cs typeface="Paperlogy 6 SemiBold"/>
              </a:rPr>
              <a:t>다트보드</a:t>
            </a:r>
          </a:p>
        </p:txBody>
      </p:sp>
      <p:cxnSp>
        <p:nvCxnSpPr>
          <p:cNvPr id="331" name="직선 연결선 27"/>
          <p:cNvCxnSpPr>
            <a:stCxn xmlns:a="http://schemas.openxmlformats.org/drawingml/2006/main" id="26" idx="1"/>
            <a:endCxn xmlns:a="http://schemas.openxmlformats.org/drawingml/2006/main" id="60" idx="3"/>
          </p:cNvCxnSpPr>
          <p:nvPr/>
        </p:nvCxnSpPr>
        <p:spPr>
          <a:xfrm xmlns:a="http://schemas.openxmlformats.org/drawingml/2006/main" flipH="1">
            <a:off x="7569542" y="4798806"/>
            <a:ext cx="2416029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2916EB8-AB78-46AD-87CE-23D751F7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571" y="3904912"/>
            <a:ext cx="87716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Paperlogy 6 SemiBold"/>
                <a:ea typeface="Paperlogy 6 SemiBold"/>
                <a:cs typeface="Paperlogy 6 SemiBold"/>
              </a:defRPr>
            </a:pPr>
            <a:r>
              <a:rPr>
                <a:latin typeface="Paperlogy 6 SemiBold"/>
                <a:ea typeface="Paperlogy 6 SemiBold"/>
                <a:cs typeface="Paperlogy 6 SemiBold"/>
              </a:rPr>
              <a:t>조준선</a:t>
            </a:r>
          </a:p>
        </p:txBody>
      </p:sp>
      <p:cxnSp>
        <p:nvCxnSpPr>
          <p:cNvPr id="333" name="직선 연결선 31"/>
          <p:cNvCxnSpPr>
            <a:stCxn xmlns:a="http://schemas.openxmlformats.org/drawingml/2006/main" id="31" idx="1"/>
          </p:cNvCxnSpPr>
          <p:nvPr/>
        </p:nvCxnSpPr>
        <p:spPr>
          <a:xfrm xmlns:a="http://schemas.openxmlformats.org/drawingml/2006/main" flipH="1">
            <a:off x="7709483" y="4089578"/>
            <a:ext cx="2276088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9605EB4A-2676-45E4-B076-28D78032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5111" y="2861032"/>
            <a:ext cx="213712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Paperlogy 6 SemiBold"/>
                <a:ea typeface="Paperlogy 6 SemiBold"/>
                <a:cs typeface="Paperlogy 6 SemiBold"/>
              </a:defRPr>
            </a:pPr>
            <a:r>
              <a:rPr>
                <a:latin typeface="Paperlogy 6 SemiBold"/>
                <a:ea typeface="Paperlogy 6 SemiBold"/>
                <a:cs typeface="Paperlogy 6 SemiBold"/>
              </a:rPr>
              <a:t>스티커 랙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CAB4CB0-8B47-4D8C-B274-7E88263E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3135" y="1732754"/>
            <a:ext cx="190629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Paperlogy 6 SemiBold"/>
                <a:ea typeface="Paperlogy 6 SemiBold"/>
                <a:cs typeface="Paperlogy 6 SemiBold"/>
              </a:defRPr>
            </a:pPr>
            <a:r>
              <a:rPr>
                <a:latin typeface="Paperlogy 6 SemiBold"/>
                <a:ea typeface="Paperlogy 6 SemiBold"/>
                <a:cs typeface="Paperlogy 6 SemiBold"/>
              </a:rPr>
              <a:t>소비 아이템 슬롯</a:t>
            </a:r>
          </a:p>
        </p:txBody>
      </p:sp>
      <p:cxnSp>
        <p:nvCxnSpPr>
          <p:cNvPr id="336" name="직선 연결선 36"/>
          <p:cNvCxnSpPr>
            <a:stCxn xmlns:a="http://schemas.openxmlformats.org/drawingml/2006/main" id="35" idx="1"/>
            <a:endCxn xmlns:a="http://schemas.openxmlformats.org/drawingml/2006/main" id="68" idx="3"/>
          </p:cNvCxnSpPr>
          <p:nvPr/>
        </p:nvCxnSpPr>
        <p:spPr>
          <a:xfrm xmlns:a="http://schemas.openxmlformats.org/drawingml/2006/main" flipH="1">
            <a:off x="7742407" y="3045698"/>
            <a:ext cx="2152704" cy="9416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337" name="직선 연결선 39"/>
          <p:cNvCxnSpPr>
            <a:stCxn xmlns:a="http://schemas.openxmlformats.org/drawingml/2006/main" id="36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3706281" y="2102086"/>
            <a:ext cx="1" cy="727116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6AA39D4F-AB47-44B5-BE43-05670BAB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661" y="1729794"/>
            <a:ext cx="110799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Paperlogy 6 SemiBold"/>
                <a:ea typeface="Paperlogy 6 SemiBold"/>
                <a:cs typeface="Paperlogy 6 SemiBold"/>
              </a:defRPr>
            </a:pPr>
            <a:r>
              <a:rPr>
                <a:latin typeface="Paperlogy 6 SemiBold"/>
                <a:ea typeface="Paperlogy 6 SemiBold"/>
                <a:cs typeface="Paperlogy 6 SemiBold"/>
              </a:rPr>
              <a:t>현재 점수 / 목표</a:t>
            </a:r>
          </a:p>
        </p:txBody>
      </p:sp>
      <p:cxnSp>
        <p:nvCxnSpPr>
          <p:cNvPr id="339" name="직선 연결선 46"/>
          <p:cNvCxnSpPr>
            <a:stCxn xmlns:a="http://schemas.openxmlformats.org/drawingml/2006/main" id="44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>
            <a:off x="6361659" y="2099126"/>
            <a:ext cx="1" cy="568945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52" name="직사각형 51">
            <a:extLst xmlns:a="http://schemas.openxmlformats.org/drawingml/2006/main">
              <a:ext uri="{FF2B5EF4-FFF2-40B4-BE49-F238E27FC236}">
                <a16:creationId xmlns:a16="http://schemas.microsoft.com/office/drawing/2014/main" id="{CDF37E02-0690-4205-B080-030F8ECC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5435" y="2829202"/>
            <a:ext cx="641693" cy="325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DB565C46-612D-4581-B01F-2FC6E7CC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9436" y="2668071"/>
            <a:ext cx="4524447" cy="161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6B4EFED6-C74A-4C7A-AE4E-3BF6B427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668" y="3398147"/>
            <a:ext cx="2896874" cy="28013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직사각형 67">
            <a:extLst xmlns:a="http://schemas.openxmlformats.org/drawingml/2006/main">
              <a:ext uri="{FF2B5EF4-FFF2-40B4-BE49-F238E27FC236}">
                <a16:creationId xmlns:a16="http://schemas.microsoft.com/office/drawing/2014/main" id="{B46A0550-6259-4BA9-8380-D701DAB9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5533" y="2837216"/>
            <a:ext cx="2896874" cy="4357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2375FBD8-0053-434D-99AE-32DA9703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06" y="4867522"/>
            <a:ext cx="116089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Paperlogy 6 SemiBold"/>
                <a:ea typeface="Paperlogy 6 SemiBold"/>
                <a:cs typeface="Paperlogy 6 SemiBold"/>
              </a:defRPr>
            </a:pPr>
            <a:r>
              <a:rPr>
                <a:latin typeface="Paperlogy 6 SemiBold"/>
                <a:ea typeface="Paperlogy 6 SemiBold"/>
                <a:cs typeface="Paperlogy 6 SemiBold"/>
              </a:rPr>
              <a:t>남은 다트</a:t>
            </a:r>
          </a:p>
        </p:txBody>
      </p:sp>
      <p:sp>
        <p:nvSpPr>
          <p:cNvPr id="75" name="직사각형 74">
            <a:extLst xmlns:a="http://schemas.openxmlformats.org/drawingml/2006/main">
              <a:ext uri="{FF2B5EF4-FFF2-40B4-BE49-F238E27FC236}">
                <a16:creationId xmlns:a16="http://schemas.microsoft.com/office/drawing/2014/main" id="{689583E7-E51D-4E10-9B37-A4943BD1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240" y="3904912"/>
            <a:ext cx="1002609" cy="2294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cxnSp>
        <p:nvCxnSpPr>
          <p:cNvPr id="346" name="직선 연결선 75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1732601" y="5052188"/>
            <a:ext cx="884639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1" name="TextBox 80">
            <a:extLst xmlns:a="http://schemas.openxmlformats.org/drawingml/2006/main">
              <a:ext uri="{FF2B5EF4-FFF2-40B4-BE49-F238E27FC236}">
                <a16:creationId xmlns:a16="http://schemas.microsoft.com/office/drawing/2014/main" id="{754161C8-55BC-4136-8E2D-AF624A40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06" y="2895991"/>
            <a:ext cx="116089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Paperlogy 6 SemiBold"/>
                <a:ea typeface="Paperlogy 6 SemiBold"/>
                <a:cs typeface="Paperlogy 6 SemiBold"/>
              </a:defRPr>
            </a:pPr>
            <a:r>
              <a:rPr>
                <a:latin typeface="Paperlogy 6 SemiBold"/>
                <a:ea typeface="Paperlogy 6 SemiBold"/>
                <a:cs typeface="Paperlogy 6 SemiBold"/>
              </a:rPr>
              <a:t>보유 골드</a:t>
            </a:r>
          </a:p>
        </p:txBody>
      </p:sp>
      <p:cxnSp>
        <p:nvCxnSpPr>
          <p:cNvPr id="348" name="직선 연결선 81"/>
          <p:cNvCxnSpPr>
            <a:stCxn xmlns:a="http://schemas.openxmlformats.org/drawingml/2006/main" id="81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1732601" y="3080657"/>
            <a:ext cx="975809" cy="1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4" name="직사각형 83">
            <a:extLst xmlns:a="http://schemas.openxmlformats.org/drawingml/2006/main">
              <a:ext uri="{FF2B5EF4-FFF2-40B4-BE49-F238E27FC236}">
                <a16:creationId xmlns:a16="http://schemas.microsoft.com/office/drawing/2014/main" id="{BE770A7A-CFBA-47F6-9DF6-7325E364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410" y="2953088"/>
            <a:ext cx="604718" cy="255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1849312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1E9D343B-DEFC-47AD-A714-9E3D595D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UI/UX - 화면 흐름과 조작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C4D52B5D-2F2D-461D-9DF5-E6104E46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E3020443-7050-4390-8142-50232D07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36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DD6B3A75-FB38-4EC9-9BD3-F91ADBD9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제목 → 새 런 설정 → 판 선택 → 제약 선택 → 다트판 → 정산 → 상점 → 런 종료의 흐름으로 화면을 나눈다.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DB66BEA3-C7BA-4AAA-9AC6-11A9484D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새 런 설정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48272998-9C3B-4389-B43E-2D8CB72D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새 런 화면에서 스타트 팩과 리그를 함께 고른다. 타이틀에서는 컬렉션·설정·통계로 이동한다.</a:t>
            </a:r>
          </a:p>
        </p:txBody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CCA260E2-0EEF-4D21-B836-3D4DE7AF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12B0A9E2-E8D9-4B89-949C-ADDC835A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입력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A0F8156D-9897-44D9-B194-3EBFE1F6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왼쪽 클릭은 조준 잠금·선택·구매에 사용한다. 드래그는 매물을 계산대로 밀거나 스티커 순서를 바꿀 때 쓴다. 스페이스는 진행, ESC는 뒤로, F11은 전체화면이다.</a:t>
            </a:r>
          </a:p>
        </p:txBody>
      </p:sp>
      <p:sp>
        <p:nvSpPr>
          <p:cNvPr id="10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D2DF257D-F64D-40F3-930C-7CCAA07E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97176EFF-79CE-4A8F-8DB4-AF086008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화면 전환과 가독성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2DAB78AC-2DA9-481C-98E8-9FA9C9BF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테이블과 다트판 전환 연출은 그림만 움직이고 게임 상태를 바꾸지 않는다. 눕힌 카드 위의 글자는 기울이지 않아 640×360에서도 읽히게 한다.</a:t>
            </a:r>
          </a:p>
        </p:txBody>
      </p:sp>
    </p:spTree>
    <p:extLst>
      <p:ext uri="{BB962C8B-B14F-4D97-AF65-F5344CB8AC3E}">
        <p14:creationId xmlns:p14="http://schemas.microsoft.com/office/powerpoint/2010/main" val="116432422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6A439020-3D42-4F2B-8FDE-E66785D4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UI/UX - 상태별 처리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0BD33CE2-BA71-4EB5-9634-5A1E4ACB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7A1CFDE0-941F-42A0-8302-D2D6DCC4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37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36A81B6E-4713-4819-99AC-FF3EE645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0B3745AF-3B2F-4A78-BA02-262173AD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049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조준 시작 뒤 다트 선택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806FF9A8-B121-493A-912D-FCCF8CCD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76425"/>
            <a:ext cx="4495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다른 다트를 눌러도 바뀌지 않는다. 현재 다트와 조준 방식을 유지한다.</a:t>
            </a:r>
          </a:p>
        </p:txBody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E110907B-9209-4FDF-A588-BD18C26D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5272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7560686E-ED61-43D3-A3B0-5D04FB60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E3166C80-FC5D-4B6C-BE27-735961A1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194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정산 중 스티커 이동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4769CB87-E8DF-41CF-91B2-16C7DF54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4495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드래그를 받지 않고 정산을 시작할 때의 랙 순서를 끝까지 사용한다.</a:t>
            </a:r>
          </a:p>
        </p:txBody>
      </p:sp>
      <p:sp>
        <p:nvSpPr>
          <p:cNvPr id="11" name="직선 연결선 10">
            <a:extLst xmlns:a="http://schemas.openxmlformats.org/drawingml/2006/main">
              <a:ext uri="{FF2B5EF4-FFF2-40B4-BE49-F238E27FC236}">
                <a16:creationId xmlns:a16="http://schemas.microsoft.com/office/drawing/2014/main" id="{7F595F43-2B5E-4983-A719-4C512C5E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17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4852CCF7-63DE-440D-89B8-40BB2312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3E6501A0-DF46-4473-AB5A-8139B055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338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목표 점수 초과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A0DB1F54-B385-4612-A5DB-80966E7A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05325"/>
            <a:ext cx="4495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현재 투척의 큐를 모두 보여 준 뒤 판을 끝낸다. 남은 다트는 골드 정산에만 사용한다.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61FB7BE7-D16A-4E43-A29F-9E710CF0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049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04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8AB5679D-9A94-4F3D-A4C6-EF0C5F36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049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점수가 나는 빗나감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872EE1C3-AAEE-4864-BBDD-23B1BA41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76425"/>
            <a:ext cx="4495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보드 아웃 강화로 점수를 얻어도 빗나감 깃발은 유지한다.</a:t>
            </a:r>
          </a:p>
        </p:txBody>
      </p:sp>
      <p:sp>
        <p:nvSpPr>
          <p:cNvPr id="18" name="직선 연결선 17">
            <a:extLst xmlns:a="http://schemas.openxmlformats.org/drawingml/2006/main">
              <a:ext uri="{FF2B5EF4-FFF2-40B4-BE49-F238E27FC236}">
                <a16:creationId xmlns:a16="http://schemas.microsoft.com/office/drawing/2014/main" id="{CF1FDC19-DE19-41BE-BEA6-C9B52D69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5272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48F20995-EB39-47D9-A41E-03071C5C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194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05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0003B42F-3188-4E85-93B6-6590B546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목숨 스티커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830006D0-96DE-4885-96F0-DCFC8218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90875"/>
            <a:ext cx="4495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실패 조건과 구제 기준을 만족하면 한 번 살아나고 해당 스티커를 파괴한다.</a:t>
            </a:r>
          </a:p>
        </p:txBody>
      </p:sp>
      <p:sp>
        <p:nvSpPr>
          <p:cNvPr id="22" name="직선 연결선 21">
            <a:extLst xmlns:a="http://schemas.openxmlformats.org/drawingml/2006/main">
              <a:ext uri="{FF2B5EF4-FFF2-40B4-BE49-F238E27FC236}">
                <a16:creationId xmlns:a16="http://schemas.microsoft.com/office/drawing/2014/main" id="{D1F74AF7-CB91-4C1F-AB51-E25CE888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6717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C94820AD-97D4-4FBE-AC9A-04CE0286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338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06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C8A7B17B-583B-4979-984B-1D4964D7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338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상점이 열리지 않는 경우</a:t>
            </a:r>
          </a:p>
        </p:txBody>
      </p:sp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802E6EF2-52CA-494E-A4F1-8169AE18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05325"/>
            <a:ext cx="4495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소판·대판을 건너뛰면 상점 없이 다음 판으로 간다. 마지막 보스판 뒤에도 상점이 없다.</a:t>
            </a:r>
          </a:p>
        </p:txBody>
      </p:sp>
    </p:spTree>
    <p:extLst>
      <p:ext uri="{BB962C8B-B14F-4D97-AF65-F5344CB8AC3E}">
        <p14:creationId xmlns:p14="http://schemas.microsoft.com/office/powerpoint/2010/main" val="172135673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8496483A-107D-42B1-BA79-45803896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개발 범위 - 구현 상태와 다음 검증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CF94223B-C684-4A6A-9ABB-E670DEB3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EC02EE8B-993D-466C-8670-8AFC8F46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38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8E60451B-83BC-4701-A854-786835A3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3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20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현재 버전은 핵심 루프와 주요 성장 축이 동작하며, 소비 아이템·가공과 고난도 수치는 검증 단계다.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7A54BD4F-0E74-44E4-A16F-EE111838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구현 완료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6280CE10-9614-4D41-BBDB-4457BBB8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8앤티·24판, 8종 조준, 점수 큐, 스티커·다트·개조·영역 강화, 골드·상점·설비·딱지, 스타트 팩·리그, UI 상태 처리.</a:t>
            </a:r>
          </a:p>
        </p:txBody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5FA496FC-B30C-4D75-96C2-B381D2DA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99D5D714-3740-4F38-85EE-F48AD635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가안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7BB03A8E-73A5-43CE-A37B-FF3458ED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소비 아이템의 목록·가격·매대 규칙. 플레이 테스트 후 보관 슬롯과 사용 시점을 확정한다.</a:t>
            </a:r>
          </a:p>
        </p:txBody>
      </p:sp>
      <p:sp>
        <p:nvSpPr>
          <p:cNvPr id="10" name="직선 연결선 9">
            <a:extLst xmlns:a="http://schemas.openxmlformats.org/drawingml/2006/main">
              <a:ext uri="{FF2B5EF4-FFF2-40B4-BE49-F238E27FC236}">
                <a16:creationId xmlns:a16="http://schemas.microsoft.com/office/drawing/2014/main" id="{DE2495A7-EA6A-42B0-BB8A-AD688311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CD7A167B-D174-409B-AA18-63D3E512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725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다음 검증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312F7155-F71D-4CAE-870B-772829B4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425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가공 8종 구현, 높은 목표 수치 조정, 앤티별 목표 곡선과 경제 회수 구간, 12~15분 플레이타임을 실측한다.</a:t>
            </a:r>
          </a:p>
        </p:txBody>
      </p:sp>
    </p:spTree>
    <p:extLst>
      <p:ext uri="{BB962C8B-B14F-4D97-AF65-F5344CB8AC3E}">
        <p14:creationId xmlns:p14="http://schemas.microsoft.com/office/powerpoint/2010/main" val="168478072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9273E7B1-1F41-4ED3-A92B-960DCAD7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부록 - 밸런스 설계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6C54FF25-A0D2-4584-A556-114571DB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16A817E1-B55F-42FC-9A0A-16D978DD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39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77A3A202-9BBC-4D28-BA3A-33819C7B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01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2ACD9AB6-7CEF-44CF-94F4-F1CAB1CA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049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목표 곡선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435EB9FB-8EEA-4438-912C-A4C181C5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76425"/>
            <a:ext cx="4495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리그 수치를 기존 목표에 곱하지 않는다. 앤티 표에 난도별 곡선을 따로 두고 리그가 사용할 줄을 고른다. 같은 앤티는 소판 &lt; 대판 &lt; 보스판 순이다.</a:t>
            </a:r>
          </a:p>
        </p:txBody>
      </p:sp>
      <p:sp>
        <p:nvSpPr>
          <p:cNvPr id="7" name="직선 연결선 6">
            <a:extLst xmlns:a="http://schemas.openxmlformats.org/drawingml/2006/main">
              <a:ext uri="{FF2B5EF4-FFF2-40B4-BE49-F238E27FC236}">
                <a16:creationId xmlns:a16="http://schemas.microsoft.com/office/drawing/2014/main" id="{DC87854F-5F83-43D9-9C4C-5CF79049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5272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AF0D6B9F-09C6-49D4-8F06-D12AE50C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02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04B128DD-5168-457F-B305-4E0501AC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194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실력 × 빌드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21C08284-C1DC-48D8-95CD-D2F12C65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4495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착탄 칸이 칩의 시작값을 만들고 스티커·개조가 배수를 키운다. 조준이나 아이템 한쪽만으로는 후반 목표를 넘지 못하게 한다.</a:t>
            </a:r>
          </a:p>
        </p:txBody>
      </p:sp>
      <p:sp>
        <p:nvSpPr>
          <p:cNvPr id="11" name="직선 연결선 10">
            <a:extLst xmlns:a="http://schemas.openxmlformats.org/drawingml/2006/main">
              <a:ext uri="{FF2B5EF4-FFF2-40B4-BE49-F238E27FC236}">
                <a16:creationId xmlns:a16="http://schemas.microsoft.com/office/drawing/2014/main" id="{4F6747BC-0FBD-4CBC-8ABA-EF959A67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17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6D1ACCEC-B5E1-4D82-92DB-6F15560E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03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F504FA21-1100-49F3-ACCD-139649EB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338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조건 난도와 보상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42E70FD0-6C3E-46EE-9D7F-3B37F549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05325"/>
            <a:ext cx="4495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넓고 자주 맞는 조건은 작게, 좁은 띠·반복 이력·위험한 실패 조건은 크게 보상해 어려운 행동의 기대값을 맞춘다.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DDA3B70B-F56C-47B6-97D1-9532BF7E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049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04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9635B609-9B24-4E94-AA2A-D33228F5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0495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조준의 교환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140EC734-AA15-462A-A15A-63511857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76425"/>
            <a:ext cx="4495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정확도를 높이는 다트·설비는 배수나 골드를 희생한다. 속도와 위험을 높이는 선택은 더 큰 점수로 돌려준다.</a:t>
            </a:r>
          </a:p>
        </p:txBody>
      </p:sp>
      <p:sp>
        <p:nvSpPr>
          <p:cNvPr id="18" name="직선 연결선 17">
            <a:extLst xmlns:a="http://schemas.openxmlformats.org/drawingml/2006/main">
              <a:ext uri="{FF2B5EF4-FFF2-40B4-BE49-F238E27FC236}">
                <a16:creationId xmlns:a16="http://schemas.microsoft.com/office/drawing/2014/main" id="{596831F6-FD81-498B-87DF-9409778F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5272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895B5B7D-4075-45A5-9DC1-1DEDD513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194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500" b="1">
                <a:solidFill>
                  <a:srgbClr val="168DA8"/>
                </a:solidFill>
                <a:latin typeface="Paperlogy 6 SemiBold"/>
                <a:ea typeface="Paperlogy 6 SemiBold"/>
                <a:cs typeface="Paperlogy 6 SemiBold"/>
              </a:rPr>
              <a:t>05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C3538932-372C-4DD3-9E6C-DA230A9D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19400"/>
            <a:ext cx="449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650" b="1">
                <a:solidFill>
                  <a:srgbClr val="171717"/>
                </a:solidFill>
                <a:latin typeface="Paperlogy 6 SemiBold"/>
                <a:ea typeface="Paperlogy 6 SemiBold"/>
                <a:cs typeface="Paperlogy 6 SemiBold"/>
              </a:rPr>
              <a:t>앤티별 검증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875861FD-CED3-4CE0-8E17-67B8CB2B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90875"/>
            <a:ext cx="4495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13" b="0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defRPr>
            </a:pPr>
            <a:r>
              <a:rPr sz="1313">
                <a:solidFill>
                  <a:srgbClr val="62666C"/>
                </a:solidFill>
                <a:latin typeface="Paperlogy 4 Regular"/>
                <a:ea typeface="Paperlogy 4 Regular"/>
                <a:cs typeface="Paperlogy 4 Regular"/>
              </a:rPr>
              <a:t>1–2는 기본 조작과 첫 시너지, 3–4는 다트·개조 선택, 5–6은 완성 빌드와 경제 회수, 7–8은 리그 패널티 속 최종 완성을 확인한다.</a:t>
            </a:r>
          </a:p>
        </p:txBody>
      </p:sp>
      <p:sp>
        <p:nvSpPr>
          <p:cNvPr id="22" name="직선 연결선 21">
            <a:extLst xmlns:a="http://schemas.openxmlformats.org/drawingml/2006/main">
              <a:ext uri="{FF2B5EF4-FFF2-40B4-BE49-F238E27FC236}">
                <a16:creationId xmlns:a16="http://schemas.microsoft.com/office/drawing/2014/main" id="{BF1011D4-F6F2-482A-9341-BCFC7DF3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67175"/>
            <a:ext cx="449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9532714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ABF3229D-7D5B-41B0-ACF7-0EE65B30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부록 - 스티커 데이터·흔함 1/5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F702FD72-E6C0-4001-9252-F85A889A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3C16E760-A5AE-474B-8731-972AFF12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40</a:t>
            </a:r>
          </a:p>
        </p:txBody>
      </p:sp>
      <p:graphicFrame>
        <p:nvGraphicFramePr>
          <p:cNvPr id="10" name="표 7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553700" cy="47867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524000"/>
                <a:gridCol w="3048000"/>
                <a:gridCol w="4267200"/>
                <a:gridCol w="857250"/>
                <a:gridCol w="857250"/>
              </a:tblGrid>
              <a:tr h="4329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해금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대물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15 이상 섹터 명중 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가장자리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더블 명중 시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+3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짝수 애호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짝수 섹터 명중 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좌익수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왼쪽 절반 명중 시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밑천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 이하 섹터 명중 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+2</a:t>
                      </a:r>
                    </a:p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정산 때 보유 골드 6 이하면 +4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홀수 애호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홀수 섹터 명중 시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+14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우익수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오른쪽 절반 명중 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소물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 이하 섹터 명중 시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+5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삼중고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 명중 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빗나감 배수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빗나가면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191107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FEA6371D-1DE7-4982-B2E7-127C5E55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부록 - 스티커 데이터·흔함 2/5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A3BE861F-3274-47A2-B73B-93ABB4EF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B9A25410-CDB0-4504-9ADE-86F3F64B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41</a:t>
            </a:r>
          </a:p>
        </p:txBody>
      </p:sp>
      <p:graphicFrame>
        <p:nvGraphicFramePr>
          <p:cNvPr id="10" name="표 7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553700" cy="4762505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524000"/>
                <a:gridCol w="3048000"/>
                <a:gridCol w="4267200"/>
                <a:gridCol w="857250"/>
                <a:gridCol w="857250"/>
              </a:tblGrid>
              <a:tr h="4329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해금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랙 집합체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보유 </a:t>
                      </a: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스티커</a:t>
                      </a: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1개당 배수 +3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잔여 깃발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남은 다트 1개당 점수 +30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프로 수당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더블·트리플·불 명중 시 절반 확률로 골드 +2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과충전 증폭기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×3 · 라운드마다 0.1% 확률로 파괴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이중 짝맞춤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다른 두 숫자를 각 2회 맞힌 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영역 집중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영역 종류 3회를 맞힌 뒤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+80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분산 궤적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다른 숫자 세 곳을 맞힌 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완벽주의 수당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한 발도 안 빗나가면 골드 +2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분산 관통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다른 숫자 세 곳을 맞힌 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+100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295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한 영역 고집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영역 종류 3회를 맞힌 뒤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+10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045297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23FFF0DC-8F8A-4E5F-9C91-CD2C79FD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부록 - 스티커 데이터·흔함 3/5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F0098B59-0092-4A71-805E-7B437FD6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5435DDBC-7909-4B24-9C71-5A454384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42</a:t>
            </a:r>
          </a:p>
        </p:txBody>
      </p:sp>
      <p:graphicFrame>
        <p:nvGraphicFramePr>
          <p:cNvPr id="10" name="표 7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553700" cy="4762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524000"/>
                <a:gridCol w="3048000"/>
                <a:gridCol w="4267200"/>
                <a:gridCol w="857250"/>
                <a:gridCol w="857250"/>
              </a:tblGrid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해금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짝수 보정기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짝수 섹터 명중 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정산 모듈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라운드마다 골드 +4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명중 적립기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명중마다 배수 +1 · 빗나가면 −1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불안정 증폭기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+15 · 라운드마다 1/6 확률로 파괴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소수 정예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이번 라운드 다트가 3개 이하면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녹는 점수원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+100 에서 시작 · 던질 때마다 −5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기본 증폭기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숫자 한 쌍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숫자 2회를 맞힌 뒤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+8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예비 다트 홀더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라운드 시작 다트 +1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47703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88EAE241-AF31-4E09-9737-D46DA042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부록 - 스티커 데이터·흔함 4/5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1C328A1C-2F05-47E9-B7BA-FBFAF8F6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768E734D-157B-4B72-BBCC-94DFD406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43</a:t>
            </a:r>
          </a:p>
        </p:txBody>
      </p:sp>
      <p:graphicFrame>
        <p:nvGraphicFramePr>
          <p:cNvPr id="10" name="표 7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553700" cy="4762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524000"/>
                <a:gridCol w="3048000"/>
                <a:gridCol w="4267200"/>
                <a:gridCol w="857250"/>
                <a:gridCol w="857250"/>
              </a:tblGrid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해금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이중 짝 증폭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다른 두 숫자를 각 2회 맞힌 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오차 인쇄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+0~23 무작위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마지막 고도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라운드 마지막 다트에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홀수 보정기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홀수 섹터 명중 시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+31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첫 고난도 촬영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라운드 첫 더블·트리플·불 명중 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소모성 증폭기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+20 에서 시작 · 라운드마다 −4 · 0이면 파괴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최저점 반격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라운드 최저 명중 숫자 1당 배수 +2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분산 주자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다른 숫자 세 곳을 맞힌 뒤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발동할 때마다 점수 +15 누적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고난도 표적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더블·트리플·불 명중 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006647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D8D7DE7D-3B9B-4CC7-9977-B09DD538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부록 - 스티커 데이터·흔함 5/5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A54A0162-BD5A-4261-8F77-E793C744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2BDD9428-EAC4-4479-AAB2-8129E897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44</a:t>
            </a:r>
          </a:p>
        </p:txBody>
      </p:sp>
      <p:graphicFrame>
        <p:nvGraphicFramePr>
          <p:cNvPr id="10" name="표 7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553700" cy="4762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524000"/>
                <a:gridCol w="3048000"/>
                <a:gridCol w="4267200"/>
                <a:gridCol w="857250"/>
                <a:gridCol w="857250"/>
              </a:tblGrid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해금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 연구원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 명중 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+20 · 배수 +4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무거운 대기열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무거운 다트 1개당 배수 +13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숫자 보너스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숫자 2회를 맞힌 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고난도 미소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더블·트리플·불 명중 시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+5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착탄 이력계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 영역의 런 누적 명중 1회당 배수 +1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진열 가치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다른 </a:t>
                      </a: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스티커</a:t>
                      </a: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판매가 합계만큼 배수 추가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4·10 무전기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4·10번 명중 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+10 · 배수 +4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세 발 집중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숫자 3회를 맞힌 뒤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+100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세 발 증폭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숫자 3회를 맞힌 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130696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3C7BC9EC-5F81-481A-8889-7BD6F161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부록 - 스티커 데이터·보통 1/3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37A9EC01-318B-42A5-9CB0-2F1D13DB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DFC501B7-0349-4B92-96D6-9B0775CD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45</a:t>
            </a:r>
          </a:p>
        </p:txBody>
      </p:sp>
      <p:graphicFrame>
        <p:nvGraphicFramePr>
          <p:cNvPr id="10" name="표 7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553700" cy="4762503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524000"/>
                <a:gridCol w="3048000"/>
                <a:gridCol w="4267200"/>
                <a:gridCol w="857250"/>
                <a:gridCol w="857250"/>
              </a:tblGrid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해금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본전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직전과 다른 섹터면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+12</a:t>
                      </a:r>
                    </a:p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한 발도 안 빗나가면 골드 +3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띠쟁이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트리플·더블 어디든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+20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명중왕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 명중 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첫 발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라운드 첫 다트에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+45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막판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라운드 마지막 다트에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판돈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라운드 첫 다트에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+26</a:t>
                      </a:r>
                    </a:p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남은 다트 1개당 골드 +1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외골수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직전과 같은 섹터면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손맛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이번 라운드에 트리플을 맞힌 뒤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+30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57860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354DAA8-FA93-4A62-AD0F-7232C19B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부록 - 스티커 데이터·보통 2/3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BCF14A71-93E6-4C32-AD18-66F96262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EA61612A-AD7D-4BFE-9E80-31717948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46</a:t>
            </a:r>
          </a:p>
        </p:txBody>
      </p:sp>
      <p:graphicFrame>
        <p:nvGraphicFramePr>
          <p:cNvPr id="10" name="표 7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553700" cy="4762503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524000"/>
                <a:gridCol w="3048000"/>
                <a:gridCol w="4267200"/>
                <a:gridCol w="857250"/>
                <a:gridCol w="857250"/>
              </a:tblGrid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해금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연속 빗나감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직전 투척이 빗나갔다면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마지막 곡예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라운드 마지막 다트에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×3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자금 증폭끈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보유 골드 5당 배수 +2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자금 과녁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보유 골드 1당 점수 +2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반복 궤도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이미 명중한 영역을 다시 맞히면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압축 투척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기본에서 줄어든 다트 1개당 배수 +4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피보나치 과녁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1·2·3·5·8번 명중 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네 영역 화분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네 영역을 모두 맞힌 뒤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×3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87053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6C61473C-9221-48C5-9F68-CB5A6F73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부록 - 스티커 데이터·보통 3/3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DA1A9083-A27E-4A5B-B1DA-CE554843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0CAFDD8A-0F05-4A26-9EA5-C8749AE4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47</a:t>
            </a:r>
          </a:p>
        </p:txBody>
      </p:sp>
      <p:graphicFrame>
        <p:nvGraphicFramePr>
          <p:cNvPr id="10" name="표 7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553700" cy="4762504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524000"/>
                <a:gridCol w="3048000"/>
                <a:gridCol w="4267200"/>
                <a:gridCol w="857250"/>
                <a:gridCol w="857250"/>
              </a:tblGrid>
              <a:tr h="595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해금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빈 랙 형판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 빈 </a:t>
                      </a: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스티커</a:t>
                      </a: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칸 수 (최소 ×1)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여섯 번째 약속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매 6번째 투척에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×4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비상 골격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실패 1회 방지 (총점이 목표의 25% 이상일 때)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이종 영역 관측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다른 영역 2종을 맞힌 뒤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영역 승급기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발동 4회 중 1회, 맞은 영역 강화 +1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쌍쌍 바지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다른 두 숫자를 각 2회 맞힌 뒤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발동할 때마다 배수 +2 누적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중량 다트 계수기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무거운 다트 1개당 점수 +25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96923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CD9AC092-F73B-4CCE-81B1-D10D54E0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부록 - 스티커 데이터·희귀 1/2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A379BD97-5D2C-41DD-ABF0-9921AE48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0F84BD02-98AF-4F5F-B983-B4D84C50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48</a:t>
            </a:r>
          </a:p>
        </p:txBody>
      </p:sp>
      <p:graphicFrame>
        <p:nvGraphicFramePr>
          <p:cNvPr id="10" name="표 7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553700" cy="4762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524000"/>
                <a:gridCol w="3048000"/>
                <a:gridCol w="4267200"/>
                <a:gridCol w="857250"/>
                <a:gridCol w="857250"/>
              </a:tblGrid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해금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변덕쟁이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직전과 다른 섹터면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빈손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빗나가면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+30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R4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기본기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칼끝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더블 명중 시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R4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큰손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 명중 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+3</a:t>
                      </a:r>
                    </a:p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남은 다트 3개 이상이면 골드 +9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물주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+16</a:t>
                      </a:r>
                    </a:p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클리어 시 골드 +4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R4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정밀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연속 명중 1회마다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+3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증폭기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14G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R5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중물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6~14 섹터 명중 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14G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02927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7F199313-9F14-45A4-ABB9-4EAB03E3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부록 - 스티커 데이터·희귀 2/2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54066149-25B5-41CF-8C0E-10A84F6D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8E3C9FB7-2D59-4925-A5DC-14C9BAC9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49</a:t>
            </a:r>
          </a:p>
        </p:txBody>
      </p:sp>
      <p:graphicFrame>
        <p:nvGraphicFramePr>
          <p:cNvPr id="10" name="표 7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553700" cy="4762503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524000"/>
                <a:gridCol w="3048000"/>
                <a:gridCol w="4267200"/>
                <a:gridCol w="857250"/>
                <a:gridCol w="857250"/>
              </a:tblGrid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해금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곡예 다트맨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모든 다트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점수 +250 · 라운드 시작 다트 -2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두 발의 결속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숫자 2회를 맞힌 뒤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R4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네 발의 가족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숫자 4회를 맞힌 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분산의 질서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다른 숫자 세 곳을 맞힌 뒤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×3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R4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영역 부족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영역 종류 3회를 맞힌 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세 발의 결속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같은 숫자 3회를 맞힌 뒤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×3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R4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작은 2번 과녁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2번 명중 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발동할 때마다 점수 +8 누적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916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12·13 왕가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12·13번 명중 시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×2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11G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R4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520953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D1453BEA-77ED-4BDA-9C7A-2E82484E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defRPr>
            </a:pPr>
            <a:r>
              <a:rPr sz="3000" b="1">
                <a:solidFill>
                  <a:srgbClr val="171717"/>
                </a:solidFill>
                <a:latin typeface="Paperlogy 7 Bold"/>
                <a:ea typeface="Paperlogy 7 Bold"/>
                <a:cs typeface="Paperlogy 7 Bold"/>
              </a:rPr>
              <a:t>부록 - 다트·개조 데이터</a:t>
            </a:r>
          </a:p>
        </p:txBody>
      </p:sp>
      <p:sp>
        <p:nvSpPr>
          <p:cNvPr id="2" name="직선 연결선 1">
            <a:extLst xmlns:a="http://schemas.openxmlformats.org/drawingml/2006/main">
              <a:ext uri="{FF2B5EF4-FFF2-40B4-BE49-F238E27FC236}">
                <a16:creationId xmlns:a16="http://schemas.microsoft.com/office/drawing/2014/main" id="{77466A34-176D-4D64-9E4C-4071DFBA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7DA"/>
            </a:solidFill>
            <a:prstDash val="solid"/>
          </a:ln>
        </p:spPr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C337ADA9-D5C0-46BA-AAEA-1F4F7ECD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0000"/>
              </a:lnSpc>
              <a:buNone/>
              <a:def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defRPr>
            </a:pPr>
            <a:r>
              <a:rPr sz="1050" b="1">
                <a:solidFill>
                  <a:srgbClr val="62666C"/>
                </a:solidFill>
                <a:latin typeface="Paperlogy 6 SemiBold"/>
                <a:ea typeface="Paperlogy 6 SemiBold"/>
                <a:cs typeface="Paperlogy 6 SemiBold"/>
              </a:rPr>
              <a:t>50</a:t>
            </a:r>
          </a:p>
        </p:txBody>
      </p:sp>
      <p:graphicFrame>
        <p:nvGraphicFramePr>
          <p:cNvPr id="10" name="표 7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553700" cy="4762506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047750"/>
                <a:gridCol w="1619250"/>
                <a:gridCol w="7029450"/>
                <a:gridCol w="857250"/>
              </a:tblGrid>
              <a:tr h="3401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종류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이름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효과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가격</a:t>
                      </a:r>
                    </a:p>
                  </a:txBody>
                  <a:tcPr marL="91440" marR="91440" marT="45720" marB="45720" anchor="ctr">
                    <a:solidFill>
                      <a:srgbClr val="25282D"/>
                    </a:solidFill>
                  </a:tcPr>
                </a:tc>
              </a:tr>
              <a:tr h="3401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표준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기본 조준과 영역 배수를 사용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01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무거운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 ×0.55 · 배수 -1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3401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가벼운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조준 ×1.90 · 배수 +3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01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관통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영역 배수 1 고정 · 양옆 칸 ×0.5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3401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다트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자석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배수 -1 · 중심으로 0.25 흡인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01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개조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속살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 띠 +0.06 · 더블 띠 -0.06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9G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3401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개조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겉살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 띠 -0.06 · 더블 띠 +0.06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01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개조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벼랑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트리플 띠를 더블 안쪽으로 이동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7G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3401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개조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아랫목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안쪽 트리플 띠 1개 추가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9G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01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개조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멍석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이너 불 축소 · 아우터 불 확대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8G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3401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개조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판벌이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보드 크기 ×1.10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12G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01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개조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판갈이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가장 낮은 3개 섹터를 20으로 변경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9G</a:t>
                      </a:r>
                    </a:p>
                  </a:txBody>
                  <a:tcPr marL="91440" marR="91440" marT="45720" marB="45720" anchor="ctr">
                    <a:solidFill>
                      <a:srgbClr val="FAFAFA"/>
                    </a:solidFill>
                  </a:tcPr>
                </a:tc>
              </a:tr>
              <a:tr h="34017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개조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짝패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칸마다 짝 생성 · 짝수 칸 -1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171717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6G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07676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2026-09-03T01:41:17.3180000Z</dcterms:created>
  <dcterms:modified xsi:type="dcterms:W3CDTF">2026-09-03T01:41:17.3180000Z</dcterms:modified>
</coreProperties>
</file>