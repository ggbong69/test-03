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  <p:sldId id="316" r:id="rId67"/>
    <p:sldId id="317" r:id="rId68"/>
    <p:sldId id="318" r:id="rId69"/>
    <p:sldId id="319" r:id="rId70"/>
    <p:sldId id="320" r:id="rId71"/>
    <p:sldId id="321" r:id="rId72"/>
    <p:sldId id="322" r:id="rId73"/>
    <p:sldId id="323" r:id="rId74"/>
    <p:sldId id="324" r:id="rId75"/>
    <p:sldId id="325" r:id="rId76"/>
    <p:sldId id="326" r:id="rId77"/>
    <p:sldId id="327" r:id="rId78"/>
    <p:sldId id="328" r:id="rId79"/>
    <p:sldId id="329" r:id="rId80"/>
    <p:sldId id="330" r:id="rId81"/>
    <p:sldId id="331" r:id="rId82"/>
    <p:sldId id="332" r:id="rId83"/>
    <p:sldId id="333" r:id="rId84"/>
    <p:sldId id="334" r:id="rId85"/>
    <p:sldId id="335" r:id="rId86"/>
    <p:sldId id="336" r:id="rId87"/>
    <p:sldId id="337" r:id="rId88"/>
    <p:sldId id="338" r:id="rId89"/>
    <p:sldId id="339" r:id="rId90"/>
    <p:sldId id="340" r:id="rId91"/>
    <p:sldId id="341" r:id="rId92"/>
    <p:sldId id="342" r:id="rId93"/>
    <p:sldId id="343" r:id="rId94"/>
    <p:sldId id="344" r:id="rId95"/>
    <p:sldId id="345" r:id="rId96"/>
    <p:sldId id="346" r:id="rId97"/>
    <p:sldId id="347" r:id="rId98"/>
    <p:sldId id="348" r:id="rId99"/>
    <p:sldId id="349" r:id="rId100"/>
    <p:sldId id="350" r:id="rId101"/>
  </p:sldIdLst>
  <p:sldSz cx="1219196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Relationship Id="rId67" Type="http://schemas.openxmlformats.org/officeDocument/2006/relationships/slide" Target="slides/slide61.xml"/><Relationship Id="rId68" Type="http://schemas.openxmlformats.org/officeDocument/2006/relationships/slide" Target="slides/slide62.xml"/><Relationship Id="rId69" Type="http://schemas.openxmlformats.org/officeDocument/2006/relationships/slide" Target="slides/slide63.xml"/><Relationship Id="rId70" Type="http://schemas.openxmlformats.org/officeDocument/2006/relationships/slide" Target="slides/slide64.xml"/><Relationship Id="rId71" Type="http://schemas.openxmlformats.org/officeDocument/2006/relationships/slide" Target="slides/slide65.xml"/><Relationship Id="rId72" Type="http://schemas.openxmlformats.org/officeDocument/2006/relationships/slide" Target="slides/slide66.xml"/><Relationship Id="rId73" Type="http://schemas.openxmlformats.org/officeDocument/2006/relationships/slide" Target="slides/slide67.xml"/><Relationship Id="rId74" Type="http://schemas.openxmlformats.org/officeDocument/2006/relationships/slide" Target="slides/slide68.xml"/><Relationship Id="rId75" Type="http://schemas.openxmlformats.org/officeDocument/2006/relationships/slide" Target="slides/slide69.xml"/><Relationship Id="rId76" Type="http://schemas.openxmlformats.org/officeDocument/2006/relationships/slide" Target="slides/slide70.xml"/><Relationship Id="rId77" Type="http://schemas.openxmlformats.org/officeDocument/2006/relationships/slide" Target="slides/slide71.xml"/><Relationship Id="rId78" Type="http://schemas.openxmlformats.org/officeDocument/2006/relationships/slide" Target="slides/slide72.xml"/><Relationship Id="rId79" Type="http://schemas.openxmlformats.org/officeDocument/2006/relationships/slide" Target="slides/slide73.xml"/><Relationship Id="rId80" Type="http://schemas.openxmlformats.org/officeDocument/2006/relationships/slide" Target="slides/slide74.xml"/><Relationship Id="rId81" Type="http://schemas.openxmlformats.org/officeDocument/2006/relationships/slide" Target="slides/slide75.xml"/><Relationship Id="rId82" Type="http://schemas.openxmlformats.org/officeDocument/2006/relationships/slide" Target="slides/slide76.xml"/><Relationship Id="rId83" Type="http://schemas.openxmlformats.org/officeDocument/2006/relationships/slide" Target="slides/slide77.xml"/><Relationship Id="rId84" Type="http://schemas.openxmlformats.org/officeDocument/2006/relationships/slide" Target="slides/slide78.xml"/><Relationship Id="rId85" Type="http://schemas.openxmlformats.org/officeDocument/2006/relationships/slide" Target="slides/slide79.xml"/><Relationship Id="rId86" Type="http://schemas.openxmlformats.org/officeDocument/2006/relationships/slide" Target="slides/slide80.xml"/><Relationship Id="rId87" Type="http://schemas.openxmlformats.org/officeDocument/2006/relationships/slide" Target="slides/slide81.xml"/><Relationship Id="rId88" Type="http://schemas.openxmlformats.org/officeDocument/2006/relationships/slide" Target="slides/slide82.xml"/><Relationship Id="rId89" Type="http://schemas.openxmlformats.org/officeDocument/2006/relationships/slide" Target="slides/slide83.xml"/><Relationship Id="rId90" Type="http://schemas.openxmlformats.org/officeDocument/2006/relationships/slide" Target="slides/slide84.xml"/><Relationship Id="rId91" Type="http://schemas.openxmlformats.org/officeDocument/2006/relationships/slide" Target="slides/slide85.xml"/><Relationship Id="rId92" Type="http://schemas.openxmlformats.org/officeDocument/2006/relationships/slide" Target="slides/slide86.xml"/><Relationship Id="rId93" Type="http://schemas.openxmlformats.org/officeDocument/2006/relationships/slide" Target="slides/slide87.xml"/><Relationship Id="rId94" Type="http://schemas.openxmlformats.org/officeDocument/2006/relationships/slide" Target="slides/slide88.xml"/><Relationship Id="rId95" Type="http://schemas.openxmlformats.org/officeDocument/2006/relationships/slide" Target="slides/slide89.xml"/><Relationship Id="rId96" Type="http://schemas.openxmlformats.org/officeDocument/2006/relationships/slide" Target="slides/slide90.xml"/><Relationship Id="rId97" Type="http://schemas.openxmlformats.org/officeDocument/2006/relationships/slide" Target="slides/slide91.xml"/><Relationship Id="rId98" Type="http://schemas.openxmlformats.org/officeDocument/2006/relationships/slide" Target="slides/slide92.xml"/><Relationship Id="rId99" Type="http://schemas.openxmlformats.org/officeDocument/2006/relationships/slide" Target="slides/slide93.xml"/><Relationship Id="rId100" Type="http://schemas.openxmlformats.org/officeDocument/2006/relationships/slide" Target="slides/slide94.xml"/><Relationship Id="rId101" Type="http://schemas.openxmlformats.org/officeDocument/2006/relationships/slide" Target="slides/slide9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1572768"/>
            <a:ext cx="10817352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6450">
                <a:solidFill>
                  <a:srgbClr val="171717"/>
                </a:solidFill>
                <a:latin typeface="Paperlogy 7 Bold"/>
                <a:ea typeface="Paperlogy 7 Bold"/>
                <a:cs typeface="Paperlogy 7 Bold"/>
              </a:rPr>
              <a:t>HIGHTONE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2761488"/>
            <a:ext cx="3657600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325">
                <a:solidFill>
                  <a:srgbClr val="62666C"/>
                </a:solidFill>
                <a:latin typeface="Paperlogy 6 SemiBold"/>
                <a:ea typeface="Paperlogy 6 SemiBold"/>
                <a:cs typeface="Paperlogy 6 SemiBold"/>
              </a:rPr>
              <a:t>하이톤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685800" y="3493008"/>
            <a:ext cx="2093976" cy="0"/>
          </a:xfrm>
          <a:prstGeom prst="line">
            <a:avLst/>
          </a:prstGeom>
          <a:ln w="12700">
            <a:solidFill>
              <a:srgbClr val="1717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685800" y="3840480"/>
            <a:ext cx="4572000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>
                <a:solidFill>
                  <a:srgbClr val="171717"/>
                </a:solidFill>
                <a:latin typeface="Paperlogy 7 Bold"/>
                <a:ea typeface="Paperlogy 7 Bold"/>
                <a:cs typeface="Paperlogy 7 Bold"/>
              </a:rPr>
              <a:t>게임 기획서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4626864"/>
            <a:ext cx="54864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다트 스코어어택 로그라이트 · PC</a:t>
            </a:r>
          </a:p>
          <a:p>
            <a:pPr algn="l">
              <a:lnSpc>
                <a:spcPct val="125000"/>
              </a:lnSpc>
            </a:pPr>
            <a:r>
              <a:rPr sz="135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기획 김건의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81360" y="6419088"/>
            <a:ext cx="62179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02336"/>
            <a:ext cx="10817352" cy="6126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25">
                <a:solidFill>
                  <a:srgbClr val="171717"/>
                </a:solidFill>
                <a:latin typeface="Paperlogy 7 Bold"/>
                <a:ea typeface="Paperlogy 7 Bold"/>
                <a:cs typeface="Paperlogy 7 Bold"/>
              </a:rPr>
              <a:t>목차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85800" y="1143000"/>
            <a:ext cx="10817352" cy="0"/>
          </a:xfrm>
          <a:prstGeom prst="line">
            <a:avLst/>
          </a:prstGeom>
          <a:ln w="12700">
            <a:solidFill>
              <a:srgbClr val="1717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0881360" y="6419088"/>
            <a:ext cx="62179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426464"/>
            <a:ext cx="548640" cy="301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7 Bold"/>
                <a:ea typeface="Paperlogy 7 Bold"/>
                <a:cs typeface="Paperlogy 7 Bold"/>
              </a:rP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35024" y="1426464"/>
            <a:ext cx="4507992" cy="301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71717"/>
                </a:solidFill>
                <a:latin typeface="Paperlogy 6 SemiBold"/>
                <a:ea typeface="Paperlogy 6 SemiBold"/>
                <a:cs typeface="Paperlogy 6 SemiBold"/>
              </a:rPr>
              <a:t>용어  3–6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35024" y="1792224"/>
            <a:ext cx="4507992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점수와 판 · 모으는 것 · 런 바깥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335024" y="2359152"/>
            <a:ext cx="4507992" cy="0"/>
          </a:xfrm>
          <a:prstGeom prst="line">
            <a:avLst/>
          </a:prstGeom>
          <a:ln w="9525">
            <a:solidFill>
              <a:srgbClr val="D8D8D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685800" y="2487168"/>
            <a:ext cx="548640" cy="301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7 Bold"/>
                <a:ea typeface="Paperlogy 7 Bold"/>
                <a:cs typeface="Paperlogy 7 Bold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35024" y="2487168"/>
            <a:ext cx="4507992" cy="301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71717"/>
                </a:solidFill>
                <a:latin typeface="Paperlogy 6 SemiBold"/>
                <a:ea typeface="Paperlogy 6 SemiBold"/>
                <a:cs typeface="Paperlogy 6 SemiBold"/>
              </a:rPr>
              <a:t>기획 의도  7–11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35024" y="2852927"/>
            <a:ext cx="4507992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한 줄 정의 · 왜 다트판인가 · 무엇을 덜어냈나 · 실력 × 빌드 · 타깃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1335024" y="3419856"/>
            <a:ext cx="4507992" cy="0"/>
          </a:xfrm>
          <a:prstGeom prst="line">
            <a:avLst/>
          </a:prstGeom>
          <a:ln w="9525">
            <a:solidFill>
              <a:srgbClr val="D8D8D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685800" y="3547872"/>
            <a:ext cx="548640" cy="301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7 Bold"/>
                <a:ea typeface="Paperlogy 7 Bold"/>
                <a:cs typeface="Paperlogy 7 Bold"/>
              </a:rP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35024" y="3547872"/>
            <a:ext cx="4507992" cy="301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71717"/>
                </a:solidFill>
                <a:latin typeface="Paperlogy 6 SemiBold"/>
                <a:ea typeface="Paperlogy 6 SemiBold"/>
                <a:cs typeface="Paperlogy 6 SemiBold"/>
              </a:rPr>
              <a:t>시스템  12–44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35024" y="3913632"/>
            <a:ext cx="4507992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런 · 판 · 다트 · 조준 · 점수 · 스티커 · 조건 · 개조 · 강화 · 제약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1335024" y="4480560"/>
            <a:ext cx="4507992" cy="0"/>
          </a:xfrm>
          <a:prstGeom prst="line">
            <a:avLst/>
          </a:prstGeom>
          <a:ln w="9525">
            <a:solidFill>
              <a:srgbClr val="D8D8D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685800" y="4608575"/>
            <a:ext cx="548640" cy="301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7 Bold"/>
                <a:ea typeface="Paperlogy 7 Bold"/>
                <a:cs typeface="Paperlogy 7 Bold"/>
              </a:rPr>
              <a:t>04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35024" y="4608575"/>
            <a:ext cx="4507992" cy="301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71717"/>
                </a:solidFill>
                <a:latin typeface="Paperlogy 6 SemiBold"/>
                <a:ea typeface="Paperlogy 6 SemiBold"/>
                <a:cs typeface="Paperlogy 6 SemiBold"/>
              </a:rPr>
              <a:t>재미 요소  45–54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35024" y="4974336"/>
            <a:ext cx="4507992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코어 루프 · 조준 · 조합 · 발동 순서 · 선택의 저울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1335024" y="5541263"/>
            <a:ext cx="4507992" cy="0"/>
          </a:xfrm>
          <a:prstGeom prst="line">
            <a:avLst/>
          </a:prstGeom>
          <a:ln w="9525">
            <a:solidFill>
              <a:srgbClr val="D8D8D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6345936" y="1426464"/>
            <a:ext cx="548640" cy="301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7 Bold"/>
                <a:ea typeface="Paperlogy 7 Bold"/>
                <a:cs typeface="Paperlogy 7 Bold"/>
              </a:rPr>
              <a:t>05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995159" y="1426464"/>
            <a:ext cx="4507992" cy="301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71717"/>
                </a:solidFill>
                <a:latin typeface="Paperlogy 6 SemiBold"/>
                <a:ea typeface="Paperlogy 6 SemiBold"/>
                <a:cs typeface="Paperlogy 6 SemiBold"/>
              </a:rPr>
              <a:t>보상 요소  55–70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95159" y="1792224"/>
            <a:ext cx="4507992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골드 · 이자 · 상점 · 딜러 · 설비 · 딱지 · 팩 · 리그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6995159" y="2359152"/>
            <a:ext cx="4507992" cy="0"/>
          </a:xfrm>
          <a:prstGeom prst="line">
            <a:avLst/>
          </a:prstGeom>
          <a:ln w="9525">
            <a:solidFill>
              <a:srgbClr val="D8D8D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6345936" y="2487168"/>
            <a:ext cx="548640" cy="301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7 Bold"/>
                <a:ea typeface="Paperlogy 7 Bold"/>
                <a:cs typeface="Paperlogy 7 Bold"/>
              </a:rPr>
              <a:t>06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995159" y="2487168"/>
            <a:ext cx="4507992" cy="301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71717"/>
                </a:solidFill>
                <a:latin typeface="Paperlogy 6 SemiBold"/>
                <a:ea typeface="Paperlogy 6 SemiBold"/>
                <a:cs typeface="Paperlogy 6 SemiBold"/>
              </a:rPr>
              <a:t>UI/UX  71–78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95159" y="2852927"/>
            <a:ext cx="4507992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레이아웃 · 조작 · 화면 전이 · 상태별 처리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6995159" y="3419856"/>
            <a:ext cx="4507992" cy="0"/>
          </a:xfrm>
          <a:prstGeom prst="line">
            <a:avLst/>
          </a:prstGeom>
          <a:ln w="9525">
            <a:solidFill>
              <a:srgbClr val="D8D8D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6345936" y="3547872"/>
            <a:ext cx="548640" cy="301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7 Bold"/>
                <a:ea typeface="Paperlogy 7 Bold"/>
                <a:cs typeface="Paperlogy 7 Bold"/>
              </a:rPr>
              <a:t>07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995159" y="3547872"/>
            <a:ext cx="4507992" cy="301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71717"/>
                </a:solidFill>
                <a:latin typeface="Paperlogy 6 SemiBold"/>
                <a:ea typeface="Paperlogy 6 SemiBold"/>
                <a:cs typeface="Paperlogy 6 SemiBold"/>
              </a:rPr>
              <a:t>데이터  79–95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995159" y="3913632"/>
            <a:ext cx="4507992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스티커 전종 · 다트 · 개조 · 제약 · 리그 · 튜닝 상수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6995159" y="4480560"/>
            <a:ext cx="4507992" cy="0"/>
          </a:xfrm>
          <a:prstGeom prst="line">
            <a:avLst/>
          </a:prstGeom>
          <a:ln w="9525">
            <a:solidFill>
              <a:srgbClr val="D8D8D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02336"/>
            <a:ext cx="10817352" cy="6126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25">
                <a:solidFill>
                  <a:srgbClr val="171717"/>
                </a:solidFill>
                <a:latin typeface="Paperlogy 7 Bold"/>
                <a:ea typeface="Paperlogy 7 Bold"/>
                <a:cs typeface="Paperlogy 7 Bold"/>
              </a:rPr>
              <a:t>용어 - 점수와 판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85800" y="1143000"/>
            <a:ext cx="10817352" cy="0"/>
          </a:xfrm>
          <a:prstGeom prst="line">
            <a:avLst/>
          </a:prstGeom>
          <a:ln w="12700">
            <a:solidFill>
              <a:srgbClr val="1717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0881360" y="6419088"/>
            <a:ext cx="62179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335024"/>
            <a:ext cx="1081735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>
                <a:solidFill>
                  <a:srgbClr val="171717"/>
                </a:solidFill>
                <a:latin typeface="Paperlogy 6 SemiBold"/>
                <a:ea typeface="Paperlogy 6 SemiBold"/>
                <a:cs typeface="Paperlogy 6 SemiBold"/>
              </a:rPr>
              <a:t>한 발 점수 = 칩 × 배수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847088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점수를 이루는 말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85800" y="2176272"/>
          <a:ext cx="10817352" cy="1211580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2011680"/>
                <a:gridCol w="8805672"/>
              </a:tblGrid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칩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점수의 앞자리. 꽂힌 칸의 값에서 시작한다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배수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칩에 곱하는 수. 꽂힌 영역이 정한다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칩 +N · 배수 +N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현재 값에 더한다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배수 ×N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앞서 만든 배수를 곱한다. 순서가 값을 바꾼다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정산 큐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한 발의 점수를 정하는 일곱 걸음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85800" y="3561588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판을 가리키는 말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85800" y="3890772"/>
          <a:ext cx="10817352" cy="1211580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2011680"/>
                <a:gridCol w="8805672"/>
              </a:tblGrid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섹터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판을 20 등분한 부채꼴. 1~20 의 숫자를 가진다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싱글 · 더블 · 트리플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섹터 안의 세 구간. 배수 1 · 2 · 3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불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판 한복판. 아우터 25 · 이너 50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보드 아웃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판 밖. 칩 0 · 배수 1 로 정산된다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빗나감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보드 아웃에 꽂힌 것. 조건이 되는 결과다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85800" y="6400800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관련  점수 공식  ·  정산 큐  ·  착탄 영역  ·  빗나감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02336"/>
            <a:ext cx="10817352" cy="6126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25">
                <a:solidFill>
                  <a:srgbClr val="171717"/>
                </a:solidFill>
                <a:latin typeface="Paperlogy 7 Bold"/>
                <a:ea typeface="Paperlogy 7 Bold"/>
                <a:cs typeface="Paperlogy 7 Bold"/>
              </a:rPr>
              <a:t>용어 - 모으는 것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85800" y="1143000"/>
            <a:ext cx="10817352" cy="0"/>
          </a:xfrm>
          <a:prstGeom prst="line">
            <a:avLst/>
          </a:prstGeom>
          <a:ln w="12700">
            <a:solidFill>
              <a:srgbClr val="1717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0881360" y="6419088"/>
            <a:ext cx="62179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04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335024"/>
            <a:ext cx="1081735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>
                <a:solidFill>
                  <a:srgbClr val="171717"/>
                </a:solidFill>
                <a:latin typeface="Paperlogy 6 SemiBold"/>
                <a:ea typeface="Paperlogy 6 SemiBold"/>
                <a:cs typeface="Paperlogy 6 SemiBold"/>
              </a:rPr>
              <a:t>스티커 · 다트 · 개조 · 강화 — 넷이 서로 다른 자리를 먹는다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847088"/>
            <a:ext cx="3749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물건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85800" y="2176272"/>
          <a:ext cx="3749040" cy="2423160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1325880"/>
                <a:gridCol w="2423160"/>
              </a:tblGrid>
              <a:tr h="484632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스티커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조건 + 효과 한 쌍. 랙에 꽂아 쓴다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랙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스티커를 꽂는 자리. 기본 5칸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조건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스티커가 언제 걸리는지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효과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걸렸을 때 무엇을 하는지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484632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희귀도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일반 · 희귀 · 레어 · 전설 네 단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484632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다트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던지는 자루. 5종 · 탄창에 기본 6발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탄창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이번 라운드에 던질 다트 묶음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4937760" y="1847088"/>
            <a:ext cx="3749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판과 값을 바꾸는 것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4937760" y="2176272"/>
          <a:ext cx="3749040" cy="1696212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1325880"/>
                <a:gridCol w="2423160"/>
              </a:tblGrid>
              <a:tr h="484632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개조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판의 기하를 바꾼다. 랙을 안 먹는다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484632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영역 강화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영역의 시작 칩·배수를 올린다. 5트랙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소비 아이템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한 번 쓰고 사라진다. 기본 2칸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484632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가공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스티커·다트에 덧붙이는 변형. 미구현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85800" y="6400800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관련  스티커  ·  조건  ·  다트  ·  개조  ·  영역 강화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02336"/>
            <a:ext cx="10817352" cy="6126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25">
                <a:solidFill>
                  <a:srgbClr val="171717"/>
                </a:solidFill>
                <a:latin typeface="Paperlogy 7 Bold"/>
                <a:ea typeface="Paperlogy 7 Bold"/>
                <a:cs typeface="Paperlogy 7 Bold"/>
              </a:rPr>
              <a:t>용어 - 런과 판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85800" y="1143000"/>
            <a:ext cx="10817352" cy="0"/>
          </a:xfrm>
          <a:prstGeom prst="line">
            <a:avLst/>
          </a:prstGeom>
          <a:ln w="12700">
            <a:solidFill>
              <a:srgbClr val="1717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0881360" y="6419088"/>
            <a:ext cx="62179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05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335024"/>
            <a:ext cx="1081735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>
                <a:solidFill>
                  <a:srgbClr val="171717"/>
                </a:solidFill>
                <a:latin typeface="Paperlogy 6 SemiBold"/>
                <a:ea typeface="Paperlogy 6 SemiBold"/>
                <a:cs typeface="Paperlogy 6 SemiBold"/>
              </a:rPr>
              <a:t>런 1회 = 앤티 8 × 판 3 = 24판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847088"/>
            <a:ext cx="3749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진행 단위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85800" y="2176272"/>
          <a:ext cx="3749040" cy="1696212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1325880"/>
                <a:gridCol w="2423160"/>
              </a:tblGrid>
              <a:tr h="484632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런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한 번의 도전. 24판을 지나면 완주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앤티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판 3개 묶음. 런에 8앤티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판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작은 판 · 큰 판 · 보스 판 셋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라운드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한 판에서 다트를 다 쓸 때까지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484632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목표 점수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그 판을 넘기려면 필요한 누적 점수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4937760" y="1847088"/>
            <a:ext cx="3749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판에 걸리는 규칙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4937760" y="2176272"/>
          <a:ext cx="3749040" cy="1938528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1325880"/>
                <a:gridCol w="2423160"/>
              </a:tblGrid>
              <a:tr h="484632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건너뛰기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작은·큰 판을 안 하고 딱지를 받는다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484632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보스 제약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보스 판 입장 전 3장 중 1장을 고른다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484632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봉인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그 판 동안 스티커 한 장이 안 서는 것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484632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목숨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실패를 한 번 막고 그 스티커가 부서진다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85800" y="6400800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관련  런 구조  ·  앤티  ·  판  ·  목표 점수  ·  보스 제약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02336"/>
            <a:ext cx="10817352" cy="6126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25">
                <a:solidFill>
                  <a:srgbClr val="171717"/>
                </a:solidFill>
                <a:latin typeface="Paperlogy 7 Bold"/>
                <a:ea typeface="Paperlogy 7 Bold"/>
                <a:cs typeface="Paperlogy 7 Bold"/>
              </a:rPr>
              <a:t>용어 - 상점과 런 바깥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85800" y="1143000"/>
            <a:ext cx="10817352" cy="0"/>
          </a:xfrm>
          <a:prstGeom prst="line">
            <a:avLst/>
          </a:prstGeom>
          <a:ln w="12700">
            <a:solidFill>
              <a:srgbClr val="1717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0881360" y="6419088"/>
            <a:ext cx="62179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06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335024"/>
            <a:ext cx="1081735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>
                <a:solidFill>
                  <a:srgbClr val="171717"/>
                </a:solidFill>
                <a:latin typeface="Paperlogy 6 SemiBold"/>
                <a:ea typeface="Paperlogy 6 SemiBold"/>
                <a:cs typeface="Paperlogy 6 SemiBold"/>
              </a:rPr>
              <a:t>판을 넘기면 상점, 런을 넘기면 해금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847088"/>
            <a:ext cx="3749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상점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85800" y="2176272"/>
          <a:ext cx="3749040" cy="2180844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1325880"/>
                <a:gridCol w="2423160"/>
              </a:tblGrid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골드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살 때 쓰는 돈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이자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보유 골드 5당 1. 상한 5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매대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상점에 깔리는 물건 자리. 4칸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484632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딜러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매물을 테이블에 던져 놓는 사람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484632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새로고침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매대를 다시 깐다. 방문당 1회 무료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484632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판매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랙의 스티커를 되파는 것. 구매가 절반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4937760" y="1847088"/>
            <a:ext cx="3749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런 바깥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4937760" y="2176272"/>
          <a:ext cx="3749040" cy="1696212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1325880"/>
                <a:gridCol w="2423160"/>
              </a:tblGrid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팩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런을 시작하는 조건 묶음. 6종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484632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리그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난이도 8단. 완주하면 다음 단 해금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설비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앤티마다 1개. 런 끝까지 유지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딱지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건너뛴 판의 보상. 10종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484632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해금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완주로 열리는 다음 팩과 다음 리그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85800" y="6400800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관련  상점  ·  딜러  ·  골드  ·  이자  ·  스타트 팩  ·  리그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02336"/>
            <a:ext cx="10817352" cy="6126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25">
                <a:solidFill>
                  <a:srgbClr val="171717"/>
                </a:solidFill>
                <a:latin typeface="Paperlogy 7 Bold"/>
                <a:ea typeface="Paperlogy 7 Bold"/>
                <a:cs typeface="Paperlogy 7 Bold"/>
              </a:rPr>
              <a:t>기획 의도 - 한 줄 정의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85800" y="1143000"/>
            <a:ext cx="10817352" cy="0"/>
          </a:xfrm>
          <a:prstGeom prst="line">
            <a:avLst/>
          </a:prstGeom>
          <a:ln w="12700">
            <a:solidFill>
              <a:srgbClr val="1717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0881360" y="6419088"/>
            <a:ext cx="62179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07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335024"/>
            <a:ext cx="1081735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>
                <a:solidFill>
                  <a:srgbClr val="171717"/>
                </a:solidFill>
                <a:latin typeface="Paperlogy 6 SemiBold"/>
                <a:ea typeface="Paperlogy 6 SemiBold"/>
                <a:cs typeface="Paperlogy 6 SemiBold"/>
              </a:rPr>
              <a:t>던지는 손과 읽는 머리가 곱해지는 다트 로그라이트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847088"/>
            <a:ext cx="3749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제품 정의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85800" y="2176272"/>
          <a:ext cx="3749040" cy="1696212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1325880"/>
                <a:gridCol w="2423160"/>
              </a:tblGrid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장르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싱글 로그라이트 · 스코어어택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플랫폼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PC · 마우스 단독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엔진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Godot 4.7 · GDScript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해상도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640 × 360 · 최근접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한 런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앤티 8 × 판 3 = 24판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플레이 시간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미정 (미측정)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규모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1인 개발 · 프로토타입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4937760" y="1847088"/>
            <a:ext cx="3749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점수의 두 축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4937760" y="2176272"/>
          <a:ext cx="3749038" cy="1243584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905340"/>
                <a:gridCol w="1160693"/>
                <a:gridCol w="1683005"/>
              </a:tblGrid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축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정하는 것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손잡이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점수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꽂힌 칸의 값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조준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484632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배수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꽂힌 링 · 스티커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빌드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한 발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점수 × 배수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둘 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85800" y="4046219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고정 규모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685800" y="4375403"/>
          <a:ext cx="10817352" cy="1696212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2011680"/>
                <a:gridCol w="8805672"/>
              </a:tblGrid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스티커 슬롯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5칸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소비 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2칸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탄창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6발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다트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5종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스티커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99장 (활성)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개조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8종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보스 제약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12종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685800" y="6400800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관련  점수 공식  ·  런 구조  ·  투척 흐름  ·  스티커  ·  목표 점수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02336"/>
            <a:ext cx="10817352" cy="6126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25">
                <a:solidFill>
                  <a:srgbClr val="171717"/>
                </a:solidFill>
                <a:latin typeface="Paperlogy 7 Bold"/>
                <a:ea typeface="Paperlogy 7 Bold"/>
                <a:cs typeface="Paperlogy 7 Bold"/>
              </a:rPr>
              <a:t>기획 의도 - 왜 다트판인가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85800" y="1143000"/>
            <a:ext cx="10817352" cy="0"/>
          </a:xfrm>
          <a:prstGeom prst="line">
            <a:avLst/>
          </a:prstGeom>
          <a:ln w="12700">
            <a:solidFill>
              <a:srgbClr val="1717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0881360" y="6419088"/>
            <a:ext cx="62179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08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335024"/>
            <a:ext cx="1081735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>
                <a:solidFill>
                  <a:srgbClr val="171717"/>
                </a:solidFill>
                <a:latin typeface="Paperlogy 6 SemiBold"/>
                <a:ea typeface="Paperlogy 6 SemiBold"/>
                <a:cs typeface="Paperlogy 6 SemiBold"/>
              </a:rPr>
              <a:t>배수가 카드가 아니라 넓이를 가진 띠다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847088"/>
            <a:ext cx="3749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카드 게임 vs 하이톤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85800" y="2176272"/>
          <a:ext cx="3749038" cy="2697480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905340"/>
                <a:gridCol w="1160693"/>
                <a:gridCol w="1683005"/>
              </a:tblGrid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항목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카드 게임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하이톤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</a:tr>
              <a:tr h="484632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배수 3의 정체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뽑은 카드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판의 12.20% 띠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484632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올리는 법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카드 구매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구매 또는 띠 확장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484632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실력의 자리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없음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띠에 넣는 손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484632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빗나감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없음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37.70% · 조건이 된다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484632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슬롯 소모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카드가 먹는다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개조는 0칸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4937760" y="1847088"/>
            <a:ext cx="3749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넓이를 파는 개조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4937760" y="2176272"/>
          <a:ext cx="3749040" cy="1696212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1325880"/>
                <a:gridCol w="2423160"/>
              </a:tblGrid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속살 9G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트리플 +0.06 · 더블 −0.06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겉살 6G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트리플 −0.06 · 더블 +0.06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벼랑 7G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트리플을 더블 안쪽 0.03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아랫목 9G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안쪽 트리플 띠 0.38~0.46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멍석 8G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한복판 0.04 · 불 0.20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판벌이 12G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판 1.10배 · 빗나감 24.60%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판갈이 9G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가장 작은 3칸이 20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85800" y="5047488"/>
            <a:ext cx="1081735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개조 8종은 스티커 슬롯 5칸을 안 먹는다. 판값이 기본의 1.50배를 넘기는 개조는 매대에 안 뜬다.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6400800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관련  착탄 영역  ·  개조  ·  조준  ·  빗나감  ·  영역 강화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02336"/>
            <a:ext cx="10817352" cy="6126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25">
                <a:solidFill>
                  <a:srgbClr val="171717"/>
                </a:solidFill>
                <a:latin typeface="Paperlogy 7 Bold"/>
                <a:ea typeface="Paperlogy 7 Bold"/>
                <a:cs typeface="Paperlogy 7 Bold"/>
              </a:rPr>
              <a:t>기획 의도 - 무엇을 덜어냈나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85800" y="1143000"/>
            <a:ext cx="10817352" cy="0"/>
          </a:xfrm>
          <a:prstGeom prst="line">
            <a:avLst/>
          </a:prstGeom>
          <a:ln w="12700">
            <a:solidFill>
              <a:srgbClr val="1717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0881360" y="6419088"/>
            <a:ext cx="62179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09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335024"/>
            <a:ext cx="1081735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>
                <a:solidFill>
                  <a:srgbClr val="171717"/>
                </a:solidFill>
                <a:latin typeface="Paperlogy 6 SemiBold"/>
                <a:ea typeface="Paperlogy 6 SemiBold"/>
                <a:cs typeface="Paperlogy 6 SemiBold"/>
              </a:rPr>
              <a:t>뺀 것 — 카드 뽑기 · 착탄 난수 · 사행성 기호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847088"/>
            <a:ext cx="3749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뺀 것과 그 자리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85800" y="2176272"/>
          <a:ext cx="3749040" cy="1728216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1874520"/>
                <a:gridCol w="1874520"/>
              </a:tblGrid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뺀 것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그 자리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카드 뽑기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2단 게이지 조준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착탄 난수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삼각파 · 멈춘 시점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501 · 크리켓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판의 형태만 차용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족보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착탄 영역 5트랙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사행성 기호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스티커 · 거는 구간 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제약 스킵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3장 중 1장 필수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4937760" y="1847088"/>
            <a:ext cx="3749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남긴 손잡이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4937760" y="2176272"/>
          <a:ext cx="3749040" cy="1938528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1325880"/>
                <a:gridCol w="2423160"/>
              </a:tblGrid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상점 매물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스티커 2 · 개조 1 · 다트 1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무료 리롤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방문마다 1회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유료 리롤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2G 부터 1G 씩 누적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판매가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구매가 ÷ 2 · 하한 2G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484632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작은 판 · 큰 판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건너뛸 수 있다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보스 판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못 건너뛴다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조준 방식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8종 (표준은 2단 잠금)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85800" y="4288536"/>
            <a:ext cx="1081735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표준 조준은 착탄 경로에 난수 호출 0회다. 첫 클릭이 높이(Y), 둘째 클릭이 좌우(X).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6400800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관련  조준 방식  ·  보스 제약  ·  상점  ·  다트  ·  조작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02336"/>
            <a:ext cx="10817352" cy="6126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25">
                <a:solidFill>
                  <a:srgbClr val="171717"/>
                </a:solidFill>
                <a:latin typeface="Paperlogy 7 Bold"/>
                <a:ea typeface="Paperlogy 7 Bold"/>
                <a:cs typeface="Paperlogy 7 Bold"/>
              </a:rPr>
              <a:t>기획 의도 - 실력 × 빌드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85800" y="1143000"/>
            <a:ext cx="10817352" cy="0"/>
          </a:xfrm>
          <a:prstGeom prst="line">
            <a:avLst/>
          </a:prstGeom>
          <a:ln w="12700">
            <a:solidFill>
              <a:srgbClr val="1717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0881360" y="6419088"/>
            <a:ext cx="62179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335024"/>
            <a:ext cx="1081735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>
                <a:solidFill>
                  <a:srgbClr val="171717"/>
                </a:solidFill>
                <a:latin typeface="Paperlogy 6 SemiBold"/>
                <a:ea typeface="Paperlogy 6 SemiBold"/>
                <a:cs typeface="Paperlogy 6 SemiBold"/>
              </a:rPr>
              <a:t>한 발 = 꽂힌 칸 값 × 배수. 더하기가 아니다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847088"/>
            <a:ext cx="3749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조준만 · 무장 없음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85800" y="2176272"/>
          <a:ext cx="3749040" cy="1453896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1325880"/>
                <a:gridCol w="2423160"/>
              </a:tblGrid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한 발 상한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60점 (칸 20 × 배수 3)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6발 상한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360점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앤티 1 첫 판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25점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앤티 4 보스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552점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앤티 5 보스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1139점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앤티 8 보스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8000점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4937760" y="1847088"/>
            <a:ext cx="3749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칩 순서가 값을 바꾼다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4937760" y="2176272"/>
          <a:ext cx="3749038" cy="1485900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905340"/>
                <a:gridCol w="1160693"/>
                <a:gridCol w="1683005"/>
              </a:tblGrid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슬롯 순서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배수 계산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한 발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없음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3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60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484632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삼중고 → 증폭기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(3+4) × 2 = 14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280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484632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증폭기 → 삼중고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3×2 + 4 = 10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200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85800" y="3835907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실력이 닿는 확률 (36만 발)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685800" y="4165091"/>
          <a:ext cx="10817352" cy="1696212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2011680"/>
                <a:gridCol w="8805672"/>
              </a:tblGrid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싱글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41.6%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더블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11.79%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트리플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7.61%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불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1.18%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빗나감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37.70%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자석 다트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빗나감 5.52%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판벌이 개조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빗나감 24.60%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685800" y="6400800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관련  점수 공식  ·  정산 큐  ·  스티커  ·  목표 점수  ·  앤티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02336"/>
            <a:ext cx="10817352" cy="6126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25">
                <a:solidFill>
                  <a:srgbClr val="171717"/>
                </a:solidFill>
                <a:latin typeface="Paperlogy 7 Bold"/>
                <a:ea typeface="Paperlogy 7 Bold"/>
                <a:cs typeface="Paperlogy 7 Bold"/>
              </a:rPr>
              <a:t>기획 의도 - 타깃과 레퍼런스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85800" y="1143000"/>
            <a:ext cx="10817352" cy="0"/>
          </a:xfrm>
          <a:prstGeom prst="line">
            <a:avLst/>
          </a:prstGeom>
          <a:ln w="12700">
            <a:solidFill>
              <a:srgbClr val="1717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0881360" y="6419088"/>
            <a:ext cx="62179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335024"/>
            <a:ext cx="1081735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>
                <a:solidFill>
                  <a:srgbClr val="171717"/>
                </a:solidFill>
                <a:latin typeface="Paperlogy 6 SemiBold"/>
                <a:ea typeface="Paperlogy 6 SemiBold"/>
                <a:cs typeface="Paperlogy 6 SemiBold"/>
              </a:rPr>
              <a:t>덱빌더 경험자 15~29세 · PC · 마우스 단독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847088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타깃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85800" y="2176272"/>
          <a:ext cx="10817352" cy="1453896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2011680"/>
                <a:gridCol w="8805672"/>
              </a:tblGrid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주 타깃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15~29세 · PC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1회 플레이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15~40분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전제 지식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조건×효과 · 곱셈 빌드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새로 배울 것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조준 하나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부 타깃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플래시 게임 세대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안 노리는 층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실물 다트 팬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85800" y="3803903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레퍼런스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85800" y="4133087"/>
          <a:ext cx="10817350" cy="1485900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2612239"/>
                <a:gridCol w="3349025"/>
                <a:gridCol w="4856086"/>
              </a:tblGrid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출처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가져온 것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버린 것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발라트로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조건×효과 · 슬롯 5칸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카드 뽑기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발라트로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점수×배수 · 상점 리롤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족보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실물 다트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20칸 · 띠 · 불 이중 구조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501 · 크리켓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플래시 2단 게이지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상하 1회 · 좌우 1회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착탄 난수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테이블 게임 매대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펠트 · 창구 · 딜러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사행성 기호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85800" y="5792723"/>
            <a:ext cx="1081735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게이지 위상은 라운드 내내 초기화되지 않는다. 정산 한 단계는 0.34초, 단계마다 소리가 반음씩 오른다.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6400800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관련  리그  ·  조건  ·  효과와 등급  ·  소비 아이템  ·  스타트 팩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02336"/>
            <a:ext cx="10817352" cy="6126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25">
                <a:solidFill>
                  <a:srgbClr val="171717"/>
                </a:solidFill>
                <a:latin typeface="Paperlogy 7 Bold"/>
                <a:ea typeface="Paperlogy 7 Bold"/>
                <a:cs typeface="Paperlogy 7 Bold"/>
              </a:rPr>
              <a:t>시스템 - 런 구조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85800" y="1143000"/>
            <a:ext cx="10817352" cy="0"/>
          </a:xfrm>
          <a:prstGeom prst="line">
            <a:avLst/>
          </a:prstGeom>
          <a:ln w="12700">
            <a:solidFill>
              <a:srgbClr val="1717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0881360" y="6419088"/>
            <a:ext cx="62179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335024"/>
            <a:ext cx="1081735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>
                <a:solidFill>
                  <a:srgbClr val="171717"/>
                </a:solidFill>
                <a:latin typeface="Paperlogy 6 SemiBold"/>
                <a:ea typeface="Paperlogy 6 SemiBold"/>
                <a:cs typeface="Paperlogy 6 SemiBold"/>
              </a:rPr>
              <a:t>런 1회 = 8앤티 × 3판 = 24판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1847088"/>
            <a:ext cx="2046427" cy="914400"/>
          </a:xfrm>
          <a:prstGeom prst="roundRect">
            <a:avLst/>
          </a:prstGeom>
          <a:noFill/>
          <a:ln w="9525">
            <a:solidFill>
              <a:srgbClr val="C9CC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200">
                <a:solidFill>
                  <a:srgbClr val="171717"/>
                </a:solidFill>
                <a:latin typeface="Paperlogy 6 SemiBold"/>
                <a:ea typeface="Paperlogy 6 SemiBold"/>
                <a:cs typeface="Paperlogy 6 SemiBold"/>
              </a:rPr>
              <a:t>판 선택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2750515" y="2304288"/>
            <a:ext cx="109728" cy="0"/>
          </a:xfrm>
          <a:prstGeom prst="line">
            <a:avLst/>
          </a:prstGeom>
          <a:ln w="12700">
            <a:solidFill>
              <a:srgbClr val="168DA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2878531" y="1847088"/>
            <a:ext cx="2046427" cy="914400"/>
          </a:xfrm>
          <a:prstGeom prst="roundRect">
            <a:avLst/>
          </a:prstGeom>
          <a:noFill/>
          <a:ln w="9525">
            <a:solidFill>
              <a:srgbClr val="C9CC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200">
                <a:solidFill>
                  <a:srgbClr val="171717"/>
                </a:solidFill>
                <a:latin typeface="Paperlogy 6 SemiBold"/>
                <a:ea typeface="Paperlogy 6 SemiBold"/>
                <a:cs typeface="Paperlogy 6 SemiBold"/>
              </a:rPr>
              <a:t>제약 고르기 (보스만)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4943246" y="2304288"/>
            <a:ext cx="109728" cy="0"/>
          </a:xfrm>
          <a:prstGeom prst="line">
            <a:avLst/>
          </a:prstGeom>
          <a:ln w="12700">
            <a:solidFill>
              <a:srgbClr val="168DA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5071262" y="1847088"/>
            <a:ext cx="2046427" cy="914400"/>
          </a:xfrm>
          <a:prstGeom prst="roundRect">
            <a:avLst/>
          </a:prstGeom>
          <a:noFill/>
          <a:ln w="9525">
            <a:solidFill>
              <a:srgbClr val="C9CC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200">
                <a:solidFill>
                  <a:srgbClr val="171717"/>
                </a:solidFill>
                <a:latin typeface="Paperlogy 6 SemiBold"/>
                <a:ea typeface="Paperlogy 6 SemiBold"/>
                <a:cs typeface="Paperlogy 6 SemiBold"/>
              </a:rPr>
              <a:t>투척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7135977" y="2304288"/>
            <a:ext cx="109728" cy="0"/>
          </a:xfrm>
          <a:prstGeom prst="line">
            <a:avLst/>
          </a:prstGeom>
          <a:ln w="12700">
            <a:solidFill>
              <a:srgbClr val="168DA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7263993" y="1847088"/>
            <a:ext cx="2046427" cy="914400"/>
          </a:xfrm>
          <a:prstGeom prst="roundRect">
            <a:avLst/>
          </a:prstGeom>
          <a:noFill/>
          <a:ln w="9525">
            <a:solidFill>
              <a:srgbClr val="C9CC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200">
                <a:solidFill>
                  <a:srgbClr val="171717"/>
                </a:solidFill>
                <a:latin typeface="Paperlogy 6 SemiBold"/>
                <a:ea typeface="Paperlogy 6 SemiBold"/>
                <a:cs typeface="Paperlogy 6 SemiBold"/>
              </a:rPr>
              <a:t>정산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9328708" y="2304288"/>
            <a:ext cx="109728" cy="0"/>
          </a:xfrm>
          <a:prstGeom prst="line">
            <a:avLst/>
          </a:prstGeom>
          <a:ln w="12700">
            <a:solidFill>
              <a:srgbClr val="168DA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9456724" y="1847088"/>
            <a:ext cx="2046427" cy="914400"/>
          </a:xfrm>
          <a:prstGeom prst="roundRect">
            <a:avLst/>
          </a:prstGeom>
          <a:noFill/>
          <a:ln w="9525">
            <a:solidFill>
              <a:srgbClr val="C9CC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200">
                <a:solidFill>
                  <a:srgbClr val="171717"/>
                </a:solidFill>
                <a:latin typeface="Paperlogy 6 SemiBold"/>
                <a:ea typeface="Paperlogy 6 SemiBold"/>
                <a:cs typeface="Paperlogy 6 SemiBold"/>
              </a:rPr>
              <a:t>상점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3044952"/>
            <a:ext cx="3749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런 시작값</a:t>
            </a:r>
          </a:p>
        </p:txBody>
      </p:sp>
      <p:graphicFrame>
        <p:nvGraphicFramePr>
          <p:cNvPr id="16" name="Table 15"/>
          <p:cNvGraphicFramePr>
            <a:graphicFrameLocks noGrp="1"/>
          </p:cNvGraphicFramePr>
          <p:nvPr/>
        </p:nvGraphicFramePr>
        <p:xfrm>
          <a:off x="685800" y="3374136"/>
          <a:ext cx="3749040" cy="1453896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1325880"/>
                <a:gridCol w="2423160"/>
              </a:tblGrid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시작 골드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4 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다트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6 발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스티커 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5 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소비 아이템 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2 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무료 리롤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방문당 1 회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제약 선택지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3 장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17" name="TextBox 16"/>
          <p:cNvSpPr txBox="1"/>
          <p:nvPr/>
        </p:nvSpPr>
        <p:spPr>
          <a:xfrm>
            <a:off x="4937760" y="3044952"/>
            <a:ext cx="3749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런이 끝나는 곳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4937760" y="3374136"/>
          <a:ext cx="3749040" cy="1211580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1325880"/>
                <a:gridCol w="2423160"/>
              </a:tblGrid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탈락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다트 소진 · 총점 &lt; 목표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완주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판 24 클리어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완주 보상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다음 리그 · 다음 팩 해금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리그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8 단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스타트 팩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6 종 (히든 1)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19" name="TextBox 18"/>
          <p:cNvSpPr txBox="1"/>
          <p:nvPr/>
        </p:nvSpPr>
        <p:spPr>
          <a:xfrm>
            <a:off x="685800" y="6400800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관련  앤티  ·  판  ·  목표 점수  ·  리그  ·  스타트 팩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02336"/>
            <a:ext cx="10817352" cy="6126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25">
                <a:solidFill>
                  <a:srgbClr val="171717"/>
                </a:solidFill>
                <a:latin typeface="Paperlogy 7 Bold"/>
                <a:ea typeface="Paperlogy 7 Bold"/>
                <a:cs typeface="Paperlogy 7 Bold"/>
              </a:rPr>
              <a:t>시스템 - 앤티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85800" y="1143000"/>
            <a:ext cx="10817352" cy="0"/>
          </a:xfrm>
          <a:prstGeom prst="line">
            <a:avLst/>
          </a:prstGeom>
          <a:ln w="12700">
            <a:solidFill>
              <a:srgbClr val="1717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0881360" y="6419088"/>
            <a:ext cx="62179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335024"/>
            <a:ext cx="1081735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>
                <a:solidFill>
                  <a:srgbClr val="171717"/>
                </a:solidFill>
                <a:latin typeface="Paperlogy 6 SemiBold"/>
                <a:ea typeface="Paperlogy 6 SemiBold"/>
                <a:cs typeface="Paperlogy 6 SemiBold"/>
              </a:rPr>
              <a:t>앤티 = 판 3개 묶음. 런에 8앤티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847088"/>
            <a:ext cx="3749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앤티가 쥐는 값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85800" y="2176272"/>
          <a:ext cx="3749040" cy="1938528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1325880"/>
                <a:gridCol w="2423160"/>
              </a:tblGrid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판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작은 · 큰 · 보스 3판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다트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6 발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매대 스티커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2 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매대 개조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 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매대 다트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 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설비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앤티당 1 개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484632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딱지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앤티 시작에 2판분 굴림 (작은 판·큰 판만)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4937760" y="1847088"/>
            <a:ext cx="3749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앤티별 곡선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4937760" y="2176272"/>
          <a:ext cx="3749037" cy="2212848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691312"/>
                <a:gridCol w="886297"/>
                <a:gridCol w="886297"/>
                <a:gridCol w="1285131"/>
              </a:tblGrid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앤티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앤티 기본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curve_a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curve_b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1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25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1.00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1.00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2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58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1.10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1.25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3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129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1.25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1.55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4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276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1.45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1.85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5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569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1.60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2.30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6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1,132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1.75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2.80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7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2,169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1.90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3.40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8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4,000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2.00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4.00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85800" y="4562855"/>
            <a:ext cx="1081735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앤티당 배율 2.31배 → 1.84배. 첫 판 25점 · 최종 8,000점 · 총 160배.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6400800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관련  런 구조  ·  판  ·  목표 점수  ·  상점  ·  설비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02336"/>
            <a:ext cx="10817352" cy="6126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25">
                <a:solidFill>
                  <a:srgbClr val="171717"/>
                </a:solidFill>
                <a:latin typeface="Paperlogy 7 Bold"/>
                <a:ea typeface="Paperlogy 7 Bold"/>
                <a:cs typeface="Paperlogy 7 Bold"/>
              </a:rPr>
              <a:t>시스템 - 판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85800" y="1143000"/>
            <a:ext cx="10817352" cy="0"/>
          </a:xfrm>
          <a:prstGeom prst="line">
            <a:avLst/>
          </a:prstGeom>
          <a:ln w="12700">
            <a:solidFill>
              <a:srgbClr val="1717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0881360" y="6419088"/>
            <a:ext cx="62179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335024"/>
            <a:ext cx="1081735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>
                <a:solidFill>
                  <a:srgbClr val="171717"/>
                </a:solidFill>
                <a:latin typeface="Paperlogy 6 SemiBold"/>
                <a:ea typeface="Paperlogy 6 SemiBold"/>
                <a:cs typeface="Paperlogy 6 SemiBold"/>
              </a:rPr>
              <a:t>판 3종. 런 하나에 24판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847088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판 3종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85800" y="2176272"/>
          <a:ext cx="10817350" cy="1001268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1613295"/>
                <a:gridCol w="2068327"/>
                <a:gridCol w="2068327"/>
                <a:gridCol w="2068327"/>
                <a:gridCol w="2999074"/>
              </a:tblGrid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판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목표 배수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보상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건너뛰기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제약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작은 판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×1.00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3 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가능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없음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큰 판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×1.50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4 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가능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없음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보스 판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×2.00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5 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불가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12종 중 3장 → 1장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85800" y="3351275"/>
            <a:ext cx="3749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건너뛰기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85800" y="3680459"/>
          <a:ext cx="3749040" cy="1453896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1325880"/>
                <a:gridCol w="2423160"/>
              </a:tblGrid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대상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작은 판 · 큰 판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받는 것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딱지 1 장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잃는 것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클리어 골드 · 점수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484632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딱지 굴림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앤티 시작에 2판분 (작은 판·큰 판만)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딱지 종류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10 종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4937760" y="3351275"/>
            <a:ext cx="3749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리그가 미는 판 값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4937760" y="3680459"/>
          <a:ext cx="3749040" cy="1211580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1325880"/>
                <a:gridCol w="2423160"/>
              </a:tblGrid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초록 이후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작은 판 보상 0 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보라 이후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스티커 1장 봉인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붉은 이후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다트 5 발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주황 이후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매대 ×1.25 · 삭음 5판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검정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판마다 유지비 3 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685800" y="6400800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관련  앤티  ·  목표 점수  ·  보스 제약  ·  딱지  ·  골드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02336"/>
            <a:ext cx="10817352" cy="6126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25">
                <a:solidFill>
                  <a:srgbClr val="171717"/>
                </a:solidFill>
                <a:latin typeface="Paperlogy 7 Bold"/>
                <a:ea typeface="Paperlogy 7 Bold"/>
                <a:cs typeface="Paperlogy 7 Bold"/>
              </a:rPr>
              <a:t>시스템 - 목표 점수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85800" y="1143000"/>
            <a:ext cx="10817352" cy="0"/>
          </a:xfrm>
          <a:prstGeom prst="line">
            <a:avLst/>
          </a:prstGeom>
          <a:ln w="12700">
            <a:solidFill>
              <a:srgbClr val="1717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0881360" y="6419088"/>
            <a:ext cx="62179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335024"/>
            <a:ext cx="1081735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>
                <a:solidFill>
                  <a:srgbClr val="171717"/>
                </a:solidFill>
                <a:latin typeface="Paperlogy 6 SemiBold"/>
                <a:ea typeface="Paperlogy 6 SemiBold"/>
                <a:cs typeface="Paperlogy 6 SemiBold"/>
              </a:rPr>
              <a:t>목표 = 앤티 기본 × 판 배수 × 리그 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847088"/>
            <a:ext cx="3749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곡선 손잡이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85800" y="2176272"/>
          <a:ext cx="3749040" cy="1453896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1325880"/>
                <a:gridCol w="2423160"/>
              </a:tblGrid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curve_first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25 (앤티 1)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curve_last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4,000 (앤티 8)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curve_bow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0.10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식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log10 T = 직선 + bow·배부름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배부름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(n-1)(N-n) ÷ ((N-1)²/4)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총 배율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160 배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4937760" y="1847088"/>
            <a:ext cx="3749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보스 판 목표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4937760" y="2176272"/>
          <a:ext cx="3749037" cy="2212848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691312"/>
                <a:gridCol w="886297"/>
                <a:gridCol w="886297"/>
                <a:gridCol w="1285131"/>
              </a:tblGrid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앤티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흰·초록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파랑·보라·붉은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노랑·주황·검정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1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50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50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50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2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116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127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144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3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257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322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399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4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552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800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1,020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5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1,139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1,822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2,619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6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2,265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3,963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6,341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7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4,337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8,240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14,746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8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8,000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16,000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32,000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85800" y="6400800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관련  앤티  ·  판  ·  리그  ·  점수 공식  ·  보스 제약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02336"/>
            <a:ext cx="10817352" cy="6126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25">
                <a:solidFill>
                  <a:srgbClr val="171717"/>
                </a:solidFill>
                <a:latin typeface="Paperlogy 7 Bold"/>
                <a:ea typeface="Paperlogy 7 Bold"/>
                <a:cs typeface="Paperlogy 7 Bold"/>
              </a:rPr>
              <a:t>시스템 - 목표 점수 (이어서)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85800" y="1143000"/>
            <a:ext cx="10817352" cy="0"/>
          </a:xfrm>
          <a:prstGeom prst="line">
            <a:avLst/>
          </a:prstGeom>
          <a:ln w="12700">
            <a:solidFill>
              <a:srgbClr val="1717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0881360" y="6419088"/>
            <a:ext cx="62179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16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335024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목표를 미는 것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85800" y="1664207"/>
          <a:ext cx="10817352" cy="1453896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2011680"/>
                <a:gridCol w="8805672"/>
              </a:tblGrid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판 배수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×1.00 · ×1.50 · ×2.00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흰 · 초록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곡선 그대로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파랑 · 보라 · 붉은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curve_a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노랑 · 주황 · 검정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curve_b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제약 「높은 목표」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×1.25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팩 배수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전 팩 ×1.00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85800" y="6400800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관련  앤티  ·  판  ·  리그  ·  점수 공식  ·  보스 제약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02336"/>
            <a:ext cx="10817352" cy="6126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25">
                <a:solidFill>
                  <a:srgbClr val="171717"/>
                </a:solidFill>
                <a:latin typeface="Paperlogy 7 Bold"/>
                <a:ea typeface="Paperlogy 7 Bold"/>
                <a:cs typeface="Paperlogy 7 Bold"/>
              </a:rPr>
              <a:t>시스템 - 투척 흐름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85800" y="1143000"/>
            <a:ext cx="10817352" cy="0"/>
          </a:xfrm>
          <a:prstGeom prst="line">
            <a:avLst/>
          </a:prstGeom>
          <a:ln w="12700">
            <a:solidFill>
              <a:srgbClr val="1717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0881360" y="6419088"/>
            <a:ext cx="62179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17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335024"/>
            <a:ext cx="1081735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>
                <a:solidFill>
                  <a:srgbClr val="171717"/>
                </a:solidFill>
                <a:latin typeface="Paperlogy 6 SemiBold"/>
                <a:ea typeface="Paperlogy 6 SemiBold"/>
                <a:cs typeface="Paperlogy 6 SemiBold"/>
              </a:rPr>
              <a:t>한 발 = 선택 → 두 축 잠금 → 비행 → 정산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1847088"/>
            <a:ext cx="1680971" cy="914400"/>
          </a:xfrm>
          <a:prstGeom prst="roundRect">
            <a:avLst/>
          </a:prstGeom>
          <a:noFill/>
          <a:ln w="9525">
            <a:solidFill>
              <a:srgbClr val="C9CC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200">
                <a:solidFill>
                  <a:srgbClr val="171717"/>
                </a:solidFill>
                <a:latin typeface="Paperlogy 6 SemiBold"/>
                <a:ea typeface="Paperlogy 6 SemiBold"/>
                <a:cs typeface="Paperlogy 6 SemiBold"/>
              </a:rPr>
              <a:t>다트 선택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2385059" y="2304288"/>
            <a:ext cx="109728" cy="0"/>
          </a:xfrm>
          <a:prstGeom prst="line">
            <a:avLst/>
          </a:prstGeom>
          <a:ln w="12700">
            <a:solidFill>
              <a:srgbClr val="168DA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2513075" y="1847088"/>
            <a:ext cx="1680971" cy="914400"/>
          </a:xfrm>
          <a:prstGeom prst="roundRect">
            <a:avLst/>
          </a:prstGeom>
          <a:noFill/>
          <a:ln w="9525">
            <a:solidFill>
              <a:srgbClr val="C9CC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200">
                <a:solidFill>
                  <a:srgbClr val="171717"/>
                </a:solidFill>
                <a:latin typeface="Paperlogy 6 SemiBold"/>
                <a:ea typeface="Paperlogy 6 SemiBold"/>
                <a:cs typeface="Paperlogy 6 SemiBold"/>
              </a:rPr>
              <a:t>높이(Y) 잠금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4212335" y="2304288"/>
            <a:ext cx="109729" cy="0"/>
          </a:xfrm>
          <a:prstGeom prst="line">
            <a:avLst/>
          </a:prstGeom>
          <a:ln w="12700">
            <a:solidFill>
              <a:srgbClr val="168DA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4340351" y="1847088"/>
            <a:ext cx="1680971" cy="914400"/>
          </a:xfrm>
          <a:prstGeom prst="roundRect">
            <a:avLst/>
          </a:prstGeom>
          <a:noFill/>
          <a:ln w="9525">
            <a:solidFill>
              <a:srgbClr val="C9CC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200">
                <a:solidFill>
                  <a:srgbClr val="171717"/>
                </a:solidFill>
                <a:latin typeface="Paperlogy 6 SemiBold"/>
                <a:ea typeface="Paperlogy 6 SemiBold"/>
                <a:cs typeface="Paperlogy 6 SemiBold"/>
              </a:rPr>
              <a:t>좌우(X) 잠금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6039611" y="2304288"/>
            <a:ext cx="109729" cy="0"/>
          </a:xfrm>
          <a:prstGeom prst="line">
            <a:avLst/>
          </a:prstGeom>
          <a:ln w="12700">
            <a:solidFill>
              <a:srgbClr val="168DA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6167627" y="1847088"/>
            <a:ext cx="1680971" cy="914400"/>
          </a:xfrm>
          <a:prstGeom prst="roundRect">
            <a:avLst/>
          </a:prstGeom>
          <a:noFill/>
          <a:ln w="9525">
            <a:solidFill>
              <a:srgbClr val="C9CC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200">
                <a:solidFill>
                  <a:srgbClr val="171717"/>
                </a:solidFill>
                <a:latin typeface="Paperlogy 6 SemiBold"/>
                <a:ea typeface="Paperlogy 6 SemiBold"/>
                <a:cs typeface="Paperlogy 6 SemiBold"/>
              </a:rPr>
              <a:t>확인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7866887" y="2304288"/>
            <a:ext cx="109728" cy="0"/>
          </a:xfrm>
          <a:prstGeom prst="line">
            <a:avLst/>
          </a:prstGeom>
          <a:ln w="12700">
            <a:solidFill>
              <a:srgbClr val="168DA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7994903" y="1847088"/>
            <a:ext cx="1680971" cy="914400"/>
          </a:xfrm>
          <a:prstGeom prst="roundRect">
            <a:avLst/>
          </a:prstGeom>
          <a:noFill/>
          <a:ln w="9525">
            <a:solidFill>
              <a:srgbClr val="C9CC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200">
                <a:solidFill>
                  <a:srgbClr val="171717"/>
                </a:solidFill>
                <a:latin typeface="Paperlogy 6 SemiBold"/>
                <a:ea typeface="Paperlogy 6 SemiBold"/>
                <a:cs typeface="Paperlogy 6 SemiBold"/>
              </a:rPr>
              <a:t>비행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9694163" y="2304288"/>
            <a:ext cx="109729" cy="0"/>
          </a:xfrm>
          <a:prstGeom prst="line">
            <a:avLst/>
          </a:prstGeom>
          <a:ln w="12700">
            <a:solidFill>
              <a:srgbClr val="168DA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9822179" y="1847088"/>
            <a:ext cx="1680971" cy="914400"/>
          </a:xfrm>
          <a:prstGeom prst="roundRect">
            <a:avLst/>
          </a:prstGeom>
          <a:noFill/>
          <a:ln w="9525">
            <a:solidFill>
              <a:srgbClr val="C9CC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200">
                <a:solidFill>
                  <a:srgbClr val="171717"/>
                </a:solidFill>
                <a:latin typeface="Paperlogy 6 SemiBold"/>
                <a:ea typeface="Paperlogy 6 SemiBold"/>
                <a:cs typeface="Paperlogy 6 SemiBold"/>
              </a:rPr>
              <a:t>정산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3044952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상태별로 하는 일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" y="3374136"/>
            <a:ext cx="5202936" cy="6035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</a:pPr>
            <a:r>
              <a:rPr sz="1200">
                <a:solidFill>
                  <a:srgbClr val="168DA8"/>
                </a:solidFill>
                <a:latin typeface="Paperlogy 7 Bold"/>
                <a:ea typeface="Paperlogy 7 Bold"/>
                <a:cs typeface="Paperlogy 7 Bold"/>
              </a:rPr>
              <a:t>01  </a:t>
            </a:r>
            <a:r>
              <a:rPr sz="1200">
                <a:solidFill>
                  <a:srgbClr val="171717"/>
                </a:solidFill>
                <a:latin typeface="Paperlogy 6 SemiBold"/>
                <a:ea typeface="Paperlogy 6 SemiBold"/>
                <a:cs typeface="Paperlogy 6 SemiBold"/>
              </a:rPr>
              <a:t>PICK — 다트 선택</a:t>
            </a:r>
          </a:p>
          <a:p>
            <a:pPr>
              <a:lnSpc>
                <a:spcPct val="120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탄창에서 자루를 쥔다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685800" y="3941063"/>
            <a:ext cx="5202936" cy="0"/>
          </a:xfrm>
          <a:prstGeom prst="line">
            <a:avLst/>
          </a:prstGeom>
          <a:ln w="9525">
            <a:solidFill>
              <a:srgbClr val="D8D8D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685800" y="4014215"/>
            <a:ext cx="5202936" cy="6035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</a:pPr>
            <a:r>
              <a:rPr sz="1200">
                <a:solidFill>
                  <a:srgbClr val="168DA8"/>
                </a:solidFill>
                <a:latin typeface="Paperlogy 7 Bold"/>
                <a:ea typeface="Paperlogy 7 Bold"/>
                <a:cs typeface="Paperlogy 7 Bold"/>
              </a:rPr>
              <a:t>02  </a:t>
            </a:r>
            <a:r>
              <a:rPr sz="1200">
                <a:solidFill>
                  <a:srgbClr val="171717"/>
                </a:solidFill>
                <a:latin typeface="Paperlogy 6 SemiBold"/>
                <a:ea typeface="Paperlogy 6 SemiBold"/>
                <a:cs typeface="Paperlogy 6 SemiBold"/>
              </a:rPr>
              <a:t>AIM_V — 높이</a:t>
            </a:r>
          </a:p>
          <a:p>
            <a:pPr>
              <a:lnSpc>
                <a:spcPct val="120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게이지 왕복 · 눌러 Y 잠금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685800" y="4581144"/>
            <a:ext cx="5202936" cy="0"/>
          </a:xfrm>
          <a:prstGeom prst="line">
            <a:avLst/>
          </a:prstGeom>
          <a:ln w="9525">
            <a:solidFill>
              <a:srgbClr val="D8D8D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685800" y="4654296"/>
            <a:ext cx="5202936" cy="6035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</a:pPr>
            <a:r>
              <a:rPr sz="1200">
                <a:solidFill>
                  <a:srgbClr val="168DA8"/>
                </a:solidFill>
                <a:latin typeface="Paperlogy 7 Bold"/>
                <a:ea typeface="Paperlogy 7 Bold"/>
                <a:cs typeface="Paperlogy 7 Bold"/>
              </a:rPr>
              <a:t>03  </a:t>
            </a:r>
            <a:r>
              <a:rPr sz="1200">
                <a:solidFill>
                  <a:srgbClr val="171717"/>
                </a:solidFill>
                <a:latin typeface="Paperlogy 6 SemiBold"/>
                <a:ea typeface="Paperlogy 6 SemiBold"/>
                <a:cs typeface="Paperlogy 6 SemiBold"/>
              </a:rPr>
              <a:t>AIM_H — 좌우</a:t>
            </a:r>
          </a:p>
          <a:p>
            <a:pPr>
              <a:lnSpc>
                <a:spcPct val="120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게이지 왕복 · 눌러 X 잠금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685800" y="5221224"/>
            <a:ext cx="5202936" cy="0"/>
          </a:xfrm>
          <a:prstGeom prst="line">
            <a:avLst/>
          </a:prstGeom>
          <a:ln w="9525">
            <a:solidFill>
              <a:srgbClr val="D8D8D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6300216" y="3374136"/>
            <a:ext cx="5202936" cy="6035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</a:pPr>
            <a:r>
              <a:rPr sz="1200">
                <a:solidFill>
                  <a:srgbClr val="168DA8"/>
                </a:solidFill>
                <a:latin typeface="Paperlogy 7 Bold"/>
                <a:ea typeface="Paperlogy 7 Bold"/>
                <a:cs typeface="Paperlogy 7 Bold"/>
              </a:rPr>
              <a:t>04  </a:t>
            </a:r>
            <a:r>
              <a:rPr sz="1200">
                <a:solidFill>
                  <a:srgbClr val="171717"/>
                </a:solidFill>
                <a:latin typeface="Paperlogy 6 SemiBold"/>
                <a:ea typeface="Paperlogy 6 SemiBold"/>
                <a:cs typeface="Paperlogy 6 SemiBold"/>
              </a:rPr>
              <a:t>CONFIRM — 확인</a:t>
            </a:r>
          </a:p>
          <a:p>
            <a:pPr>
              <a:lnSpc>
                <a:spcPct val="120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0.45 초 뒤 자동 발사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6300216" y="3941063"/>
            <a:ext cx="5202936" cy="0"/>
          </a:xfrm>
          <a:prstGeom prst="line">
            <a:avLst/>
          </a:prstGeom>
          <a:ln w="9525">
            <a:solidFill>
              <a:srgbClr val="D8D8D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6300216" y="4014215"/>
            <a:ext cx="5202936" cy="6035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</a:pPr>
            <a:r>
              <a:rPr sz="1200">
                <a:solidFill>
                  <a:srgbClr val="168DA8"/>
                </a:solidFill>
                <a:latin typeface="Paperlogy 7 Bold"/>
                <a:ea typeface="Paperlogy 7 Bold"/>
                <a:cs typeface="Paperlogy 7 Bold"/>
              </a:rPr>
              <a:t>05  </a:t>
            </a:r>
            <a:r>
              <a:rPr sz="1200">
                <a:solidFill>
                  <a:srgbClr val="171717"/>
                </a:solidFill>
                <a:latin typeface="Paperlogy 6 SemiBold"/>
                <a:ea typeface="Paperlogy 6 SemiBold"/>
                <a:cs typeface="Paperlogy 6 SemiBold"/>
              </a:rPr>
              <a:t>FLY — 비행</a:t>
            </a:r>
          </a:p>
          <a:p>
            <a:pPr>
              <a:lnSpc>
                <a:spcPct val="120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0.20 초 고정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6300216" y="4581144"/>
            <a:ext cx="5202936" cy="0"/>
          </a:xfrm>
          <a:prstGeom prst="line">
            <a:avLst/>
          </a:prstGeom>
          <a:ln w="9525">
            <a:solidFill>
              <a:srgbClr val="D8D8D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6300216" y="4654296"/>
            <a:ext cx="5202936" cy="6035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</a:pPr>
            <a:r>
              <a:rPr sz="1200">
                <a:solidFill>
                  <a:srgbClr val="168DA8"/>
                </a:solidFill>
                <a:latin typeface="Paperlogy 7 Bold"/>
                <a:ea typeface="Paperlogy 7 Bold"/>
                <a:cs typeface="Paperlogy 7 Bold"/>
              </a:rPr>
              <a:t>06  </a:t>
            </a:r>
            <a:r>
              <a:rPr sz="1200">
                <a:solidFill>
                  <a:srgbClr val="171717"/>
                </a:solidFill>
                <a:latin typeface="Paperlogy 6 SemiBold"/>
                <a:ea typeface="Paperlogy 6 SemiBold"/>
                <a:cs typeface="Paperlogy 6 SemiBold"/>
              </a:rPr>
              <a:t>RESOLVE — 정산</a:t>
            </a:r>
          </a:p>
          <a:p>
            <a:pPr>
              <a:lnSpc>
                <a:spcPct val="120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0.34 초 간격으로 큐 진행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6300216" y="5221224"/>
            <a:ext cx="5202936" cy="0"/>
          </a:xfrm>
          <a:prstGeom prst="line">
            <a:avLst/>
          </a:prstGeom>
          <a:ln w="9525">
            <a:solidFill>
              <a:srgbClr val="D8D8D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685800" y="6400800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관련  다트  ·  조준  ·  조준 방식  ·  착탄 영역  ·  정산 큐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02336"/>
            <a:ext cx="10817352" cy="6126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25">
                <a:solidFill>
                  <a:srgbClr val="171717"/>
                </a:solidFill>
                <a:latin typeface="Paperlogy 7 Bold"/>
                <a:ea typeface="Paperlogy 7 Bold"/>
                <a:cs typeface="Paperlogy 7 Bold"/>
              </a:rPr>
              <a:t>시스템 - 투척 흐름 (이어서)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85800" y="1143000"/>
            <a:ext cx="10817352" cy="0"/>
          </a:xfrm>
          <a:prstGeom prst="line">
            <a:avLst/>
          </a:prstGeom>
          <a:ln w="12700">
            <a:solidFill>
              <a:srgbClr val="1717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0881360" y="6419088"/>
            <a:ext cx="62179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18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335024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잠금 규칙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85800" y="1664207"/>
          <a:ext cx="10817352" cy="1453896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2011680"/>
                <a:gridCol w="8805672"/>
              </a:tblGrid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다트 교체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첫 축 잠그기 전까지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클릭 유효 범위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판 반경 ×1.22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게이지 속도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0.70 · [ ] 로 조절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게이지 진폭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110 px · 판 98 px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1회 잠금 방식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좌우 칸을 건너뛴다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빗나감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37.68 %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85800" y="6400800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관련  다트  ·  조준  ·  조준 방식  ·  착탄 영역  ·  정산 큐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02336"/>
            <a:ext cx="10817352" cy="6126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25">
                <a:solidFill>
                  <a:srgbClr val="171717"/>
                </a:solidFill>
                <a:latin typeface="Paperlogy 7 Bold"/>
                <a:ea typeface="Paperlogy 7 Bold"/>
                <a:cs typeface="Paperlogy 7 Bold"/>
              </a:rPr>
              <a:t>시스템 - 다트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85800" y="1143000"/>
            <a:ext cx="10817352" cy="0"/>
          </a:xfrm>
          <a:prstGeom prst="line">
            <a:avLst/>
          </a:prstGeom>
          <a:ln w="12700">
            <a:solidFill>
              <a:srgbClr val="1717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0881360" y="6419088"/>
            <a:ext cx="62179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19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335024"/>
            <a:ext cx="1081735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>
                <a:solidFill>
                  <a:srgbClr val="171717"/>
                </a:solidFill>
                <a:latin typeface="Paperlogy 6 SemiBold"/>
                <a:ea typeface="Paperlogy 6 SemiBold"/>
                <a:cs typeface="Paperlogy 6 SemiBold"/>
              </a:rPr>
              <a:t>탄창에 드는 자루. 5종 · 기본 6발.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847088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5종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85800" y="2176272"/>
          <a:ext cx="10817350" cy="1485900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2612239"/>
                <a:gridCol w="3349025"/>
                <a:gridCol w="4856086"/>
              </a:tblGrid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이름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특성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가격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표준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특성 없음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0G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무거운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게이지 ×0.55 · 배수 −1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5G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가벼운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게이지 ×1.90 · 배수 +3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6G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관통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배수 1 고정 · 양옆 칸 ×0.5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7G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자석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배수 −1 · 중심 0.25 흡인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7G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85800" y="3835907"/>
            <a:ext cx="3749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탄창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85800" y="4165091"/>
          <a:ext cx="3749040" cy="1453896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1325880"/>
                <a:gridCol w="2423160"/>
              </a:tblGrid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기본 발수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6발 (앤티 1~8 동일)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라운드 시작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탄창을 그대로 복제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단벌 제약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다트 −1발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남은 다트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1발당 골드 +1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갈아타기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첫 축 잠그기 전까지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소모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던지는 순간 벽에서 빠짐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4937760" y="3835907"/>
            <a:ext cx="3749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보정과 상점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4937760" y="4165091"/>
          <a:ext cx="3749040" cy="1696212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1325880"/>
                <a:gridCol w="2423160"/>
              </a:tblGrid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보정 순서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고정 → 배수 → 관통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배수 하한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관통 몫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(왼칸 + 오른칸) × 0.5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자석 흡인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확인 텀이 끝날 때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매대 자리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앤티마다 다트 1자리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구매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표준 1발과 교체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못 사는 때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탄창에 표준 0발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685800" y="6400800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관련  조준  ·  조준 방식  ·  착탄 영역  ·  상점  ·  스타트 팩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02336"/>
            <a:ext cx="10817352" cy="6126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25">
                <a:solidFill>
                  <a:srgbClr val="171717"/>
                </a:solidFill>
                <a:latin typeface="Paperlogy 7 Bold"/>
                <a:ea typeface="Paperlogy 7 Bold"/>
                <a:cs typeface="Paperlogy 7 Bold"/>
              </a:rPr>
              <a:t>시스템 - 조준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85800" y="1143000"/>
            <a:ext cx="10817352" cy="0"/>
          </a:xfrm>
          <a:prstGeom prst="line">
            <a:avLst/>
          </a:prstGeom>
          <a:ln w="12700">
            <a:solidFill>
              <a:srgbClr val="1717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0881360" y="6419088"/>
            <a:ext cx="62179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20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335024"/>
            <a:ext cx="1081735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>
                <a:solidFill>
                  <a:srgbClr val="171717"/>
                </a:solidFill>
                <a:latin typeface="Paperlogy 6 SemiBold"/>
                <a:ea typeface="Paperlogy 6 SemiBold"/>
                <a:cs typeface="Paperlogy 6 SemiBold"/>
              </a:rPr>
              <a:t>첫 클릭이 높이(Y), 둘째가 좌우(X).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1847088"/>
            <a:ext cx="1680971" cy="914400"/>
          </a:xfrm>
          <a:prstGeom prst="roundRect">
            <a:avLst/>
          </a:prstGeom>
          <a:noFill/>
          <a:ln w="9525">
            <a:solidFill>
              <a:srgbClr val="C9CC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200">
                <a:solidFill>
                  <a:srgbClr val="171717"/>
                </a:solidFill>
                <a:latin typeface="Paperlogy 6 SemiBold"/>
                <a:ea typeface="Paperlogy 6 SemiBold"/>
                <a:cs typeface="Paperlogy 6 SemiBold"/>
              </a:rPr>
              <a:t>다트 선택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2385059" y="2304288"/>
            <a:ext cx="109728" cy="0"/>
          </a:xfrm>
          <a:prstGeom prst="line">
            <a:avLst/>
          </a:prstGeom>
          <a:ln w="12700">
            <a:solidFill>
              <a:srgbClr val="168DA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2513075" y="1847088"/>
            <a:ext cx="1680971" cy="914400"/>
          </a:xfrm>
          <a:prstGeom prst="roundRect">
            <a:avLst/>
          </a:prstGeom>
          <a:noFill/>
          <a:ln w="9525">
            <a:solidFill>
              <a:srgbClr val="C9CC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200">
                <a:solidFill>
                  <a:srgbClr val="171717"/>
                </a:solidFill>
                <a:latin typeface="Paperlogy 6 SemiBold"/>
                <a:ea typeface="Paperlogy 6 SemiBold"/>
                <a:cs typeface="Paperlogy 6 SemiBold"/>
              </a:rPr>
              <a:t>높이 잠금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4212335" y="2304288"/>
            <a:ext cx="109729" cy="0"/>
          </a:xfrm>
          <a:prstGeom prst="line">
            <a:avLst/>
          </a:prstGeom>
          <a:ln w="12700">
            <a:solidFill>
              <a:srgbClr val="168DA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4340351" y="1847088"/>
            <a:ext cx="1680971" cy="914400"/>
          </a:xfrm>
          <a:prstGeom prst="roundRect">
            <a:avLst/>
          </a:prstGeom>
          <a:noFill/>
          <a:ln w="9525">
            <a:solidFill>
              <a:srgbClr val="C9CC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200">
                <a:solidFill>
                  <a:srgbClr val="171717"/>
                </a:solidFill>
                <a:latin typeface="Paperlogy 6 SemiBold"/>
                <a:ea typeface="Paperlogy 6 SemiBold"/>
                <a:cs typeface="Paperlogy 6 SemiBold"/>
              </a:rPr>
              <a:t>좌우 잠금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6039611" y="2304288"/>
            <a:ext cx="109729" cy="0"/>
          </a:xfrm>
          <a:prstGeom prst="line">
            <a:avLst/>
          </a:prstGeom>
          <a:ln w="12700">
            <a:solidFill>
              <a:srgbClr val="168DA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6167627" y="1847088"/>
            <a:ext cx="1680971" cy="914400"/>
          </a:xfrm>
          <a:prstGeom prst="roundRect">
            <a:avLst/>
          </a:prstGeom>
          <a:noFill/>
          <a:ln w="9525">
            <a:solidFill>
              <a:srgbClr val="C9CC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200">
                <a:solidFill>
                  <a:srgbClr val="171717"/>
                </a:solidFill>
                <a:latin typeface="Paperlogy 6 SemiBold"/>
                <a:ea typeface="Paperlogy 6 SemiBold"/>
                <a:cs typeface="Paperlogy 6 SemiBold"/>
              </a:rPr>
              <a:t>확인 0.45초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7866887" y="2304288"/>
            <a:ext cx="109728" cy="0"/>
          </a:xfrm>
          <a:prstGeom prst="line">
            <a:avLst/>
          </a:prstGeom>
          <a:ln w="12700">
            <a:solidFill>
              <a:srgbClr val="168DA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7994903" y="1847088"/>
            <a:ext cx="1680971" cy="914400"/>
          </a:xfrm>
          <a:prstGeom prst="roundRect">
            <a:avLst/>
          </a:prstGeom>
          <a:noFill/>
          <a:ln w="9525">
            <a:solidFill>
              <a:srgbClr val="C9CC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200">
                <a:solidFill>
                  <a:srgbClr val="171717"/>
                </a:solidFill>
                <a:latin typeface="Paperlogy 6 SemiBold"/>
                <a:ea typeface="Paperlogy 6 SemiBold"/>
                <a:cs typeface="Paperlogy 6 SemiBold"/>
              </a:rPr>
              <a:t>비행 0.2초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9694163" y="2304288"/>
            <a:ext cx="109729" cy="0"/>
          </a:xfrm>
          <a:prstGeom prst="line">
            <a:avLst/>
          </a:prstGeom>
          <a:ln w="12700">
            <a:solidFill>
              <a:srgbClr val="168DA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9822179" y="1847088"/>
            <a:ext cx="1680971" cy="914400"/>
          </a:xfrm>
          <a:prstGeom prst="roundRect">
            <a:avLst/>
          </a:prstGeom>
          <a:noFill/>
          <a:ln w="9525">
            <a:solidFill>
              <a:srgbClr val="C9CC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200">
                <a:solidFill>
                  <a:srgbClr val="171717"/>
                </a:solidFill>
                <a:latin typeface="Paperlogy 6 SemiBold"/>
                <a:ea typeface="Paperlogy 6 SemiBold"/>
                <a:cs typeface="Paperlogy 6 SemiBold"/>
              </a:rPr>
              <a:t>정산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3044952"/>
            <a:ext cx="3749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게이지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685800" y="3374136"/>
          <a:ext cx="3749040" cy="1696212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1325880"/>
                <a:gridCol w="2423160"/>
              </a:tblGrid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진폭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±110 px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판 반지름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98 px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진폭 ÷ 반지름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1.1224배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기본 속도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0.70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곱해지는 것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다트 게이지 · 제약 · 설비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역풍 제약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×2.00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조절 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[ ] 로 0.05씩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19" name="TextBox 18"/>
          <p:cNvSpPr txBox="1"/>
          <p:nvPr/>
        </p:nvSpPr>
        <p:spPr>
          <a:xfrm>
            <a:off x="4937760" y="3044952"/>
            <a:ext cx="3749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잠금</a:t>
            </a:r>
          </a:p>
        </p:txBody>
      </p:sp>
      <p:graphicFrame>
        <p:nvGraphicFramePr>
          <p:cNvPr id="20" name="Table 19"/>
          <p:cNvGraphicFramePr>
            <a:graphicFrameLocks noGrp="1"/>
          </p:cNvGraphicFramePr>
          <p:nvPr/>
        </p:nvGraphicFramePr>
        <p:xfrm>
          <a:off x="4937760" y="3374136"/>
          <a:ext cx="3749040" cy="1453896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1325880"/>
                <a:gridCol w="2423160"/>
              </a:tblGrid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유효 클릭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중심에서 R×1.22 안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판 밖 클릭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안 잠김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확인 텀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0.45초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제약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확인 텀은 못 건드림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비행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0.20초 고정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안개 제약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조준선이 사라짐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21" name="TextBox 20"/>
          <p:cNvSpPr txBox="1"/>
          <p:nvPr/>
        </p:nvSpPr>
        <p:spPr>
          <a:xfrm>
            <a:off x="685800" y="6400800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관련  다트  ·  조준 방식  ·  투척 흐름  ·  빗나감  ·  조작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02336"/>
            <a:ext cx="10817352" cy="6126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25">
                <a:solidFill>
                  <a:srgbClr val="171717"/>
                </a:solidFill>
                <a:latin typeface="Paperlogy 7 Bold"/>
                <a:ea typeface="Paperlogy 7 Bold"/>
                <a:cs typeface="Paperlogy 7 Bold"/>
              </a:rPr>
              <a:t>시스템 - 조준 방식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85800" y="1143000"/>
            <a:ext cx="10817352" cy="0"/>
          </a:xfrm>
          <a:prstGeom prst="line">
            <a:avLst/>
          </a:prstGeom>
          <a:ln w="12700">
            <a:solidFill>
              <a:srgbClr val="1717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0881360" y="6419088"/>
            <a:ext cx="62179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21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335024"/>
            <a:ext cx="1081735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>
                <a:solidFill>
                  <a:srgbClr val="171717"/>
                </a:solidFill>
                <a:latin typeface="Paperlogy 6 SemiBold"/>
                <a:ea typeface="Paperlogy 6 SemiBold"/>
                <a:cs typeface="Paperlogy 6 SemiBold"/>
              </a:rPr>
              <a:t>8종. 잠금이 두 번인 것과 한 번인 것.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847088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8종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85800" y="2176272"/>
          <a:ext cx="10817350" cy="2212848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2612239"/>
                <a:gridCol w="3349025"/>
                <a:gridCol w="4856086"/>
              </a:tblGrid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방식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손이 하는 일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잠금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기본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높이 → 좌우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2번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원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원 크기 → 각도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2번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빗각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기운 축 → 직교축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2번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겹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가로세로가 함께 감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1번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흔들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커서 둘레를 떠도는 점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1번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놓기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누른 자리가 곧 착탄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1번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당김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벽의 자루를 튕김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1번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반동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5발 연사 · 발마다 25%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1번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85800" y="6400800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관련  조준  ·  다트  ·  스티커  ·  효과와 등급  ·  빗나감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02336"/>
            <a:ext cx="10817352" cy="6126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25">
                <a:solidFill>
                  <a:srgbClr val="171717"/>
                </a:solidFill>
                <a:latin typeface="Paperlogy 7 Bold"/>
                <a:ea typeface="Paperlogy 7 Bold"/>
                <a:cs typeface="Paperlogy 7 Bold"/>
              </a:rPr>
              <a:t>시스템 - 조준 방식 (이어서)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85800" y="1143000"/>
            <a:ext cx="10817352" cy="0"/>
          </a:xfrm>
          <a:prstGeom prst="line">
            <a:avLst/>
          </a:prstGeom>
          <a:ln w="12700">
            <a:solidFill>
              <a:srgbClr val="1717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0881360" y="6419088"/>
            <a:ext cx="62179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22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335024"/>
            <a:ext cx="3749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어디서 오는가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85800" y="1664207"/>
          <a:ext cx="3749040" cy="1696212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1325880"/>
                <a:gridCol w="2423160"/>
              </a:tblGrid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기본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조준 스티커가 없을 때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나머지 7종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조준 스티커 7장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등급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레어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가격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11G · 판매 5G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해금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R10 부터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겹칠 때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랙 앞자리 하나만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봉인되면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그 장은 건너뜀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937760" y="1335024"/>
            <a:ext cx="37490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조준 스티커는 조건·효과 칸이 비어 있다.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6400800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관련  조준  ·  다트  ·  스티커  ·  효과와 등급  ·  빗나감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02336"/>
            <a:ext cx="10817352" cy="6126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25">
                <a:solidFill>
                  <a:srgbClr val="171717"/>
                </a:solidFill>
                <a:latin typeface="Paperlogy 7 Bold"/>
                <a:ea typeface="Paperlogy 7 Bold"/>
                <a:cs typeface="Paperlogy 7 Bold"/>
              </a:rPr>
              <a:t>시스템 - 착탄 영역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85800" y="1143000"/>
            <a:ext cx="10817352" cy="0"/>
          </a:xfrm>
          <a:prstGeom prst="line">
            <a:avLst/>
          </a:prstGeom>
          <a:ln w="12700">
            <a:solidFill>
              <a:srgbClr val="1717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0881360" y="6419088"/>
            <a:ext cx="62179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23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335024"/>
            <a:ext cx="1081735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>
                <a:solidFill>
                  <a:srgbClr val="171717"/>
                </a:solidFill>
                <a:latin typeface="Paperlogy 6 SemiBold"/>
                <a:ea typeface="Paperlogy 6 SemiBold"/>
                <a:cs typeface="Paperlogy 6 SemiBold"/>
              </a:rPr>
              <a:t>6영역. 중심 거리가 자리를 정한다.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847088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정규화 반지름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85800" y="2176272"/>
          <a:ext cx="10817350" cy="1970532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1994689"/>
                <a:gridCol w="2557293"/>
                <a:gridCol w="2557293"/>
                <a:gridCol w="3708075"/>
              </a:tblGrid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영역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반지름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점수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배수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이너 불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0 ~ 0.06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50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×1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아우터 불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0.06 ~ 0.14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25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×1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싱글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0.14 ~ 0.56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칸 숫자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×1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트리플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0.56 ~ 0.66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칸 숫자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×3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싱글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0.66 ~ 0.90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칸 숫자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×1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더블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0.90 ~ 1.00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칸 숫자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×2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보드 아웃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1.00 초과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없음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85800" y="6400800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관련  점수 공식  ·  영역 강화  ·  빗나감  ·  개조  ·  보스 제약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02336"/>
            <a:ext cx="10817352" cy="6126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25">
                <a:solidFill>
                  <a:srgbClr val="171717"/>
                </a:solidFill>
                <a:latin typeface="Paperlogy 7 Bold"/>
                <a:ea typeface="Paperlogy 7 Bold"/>
                <a:cs typeface="Paperlogy 7 Bold"/>
              </a:rPr>
              <a:t>시스템 - 착탄 영역 (이어서)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85800" y="1143000"/>
            <a:ext cx="10817352" cy="0"/>
          </a:xfrm>
          <a:prstGeom prst="line">
            <a:avLst/>
          </a:prstGeom>
          <a:ln w="12700">
            <a:solidFill>
              <a:srgbClr val="1717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0881360" y="6419088"/>
            <a:ext cx="62179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24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335024"/>
            <a:ext cx="3749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강화 트랙 — 레벨당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85800" y="1664207"/>
          <a:ext cx="3749037" cy="2212848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691312"/>
                <a:gridCol w="886297"/>
                <a:gridCol w="886297"/>
                <a:gridCol w="1285131"/>
              </a:tblGrid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트랙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명중률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점수/Lv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배수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싱글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41.6%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+5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—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484632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더블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11.8%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+8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1·3·5·7 Lv 에 +1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484632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트리플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7.6%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+11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1·3·5·7 Lv 에 +1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불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1.22%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+40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매 Lv +1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484632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보드 아웃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37.68%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+6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—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937760" y="1335024"/>
            <a:ext cx="3749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판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937760" y="1664207"/>
          <a:ext cx="3749040" cy="1453896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1325880"/>
                <a:gridCol w="2423160"/>
              </a:tblGrid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칸 수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20칸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칸 배치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20·1·18·4·13·6 …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칸 값 상한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20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칸 색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크림(짝) · 먹(홀)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최대 레벨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8 Lv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불 트랙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아우터·이너 공유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85800" y="6400800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관련  점수 공식  ·  영역 강화  ·  빗나감  ·  개조  ·  보스 제약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02336"/>
            <a:ext cx="10817352" cy="6126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25">
                <a:solidFill>
                  <a:srgbClr val="171717"/>
                </a:solidFill>
                <a:latin typeface="Paperlogy 7 Bold"/>
                <a:ea typeface="Paperlogy 7 Bold"/>
                <a:cs typeface="Paperlogy 7 Bold"/>
              </a:rPr>
              <a:t>시스템 - 빗나감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85800" y="1143000"/>
            <a:ext cx="10817352" cy="0"/>
          </a:xfrm>
          <a:prstGeom prst="line">
            <a:avLst/>
          </a:prstGeom>
          <a:ln w="12700">
            <a:solidFill>
              <a:srgbClr val="1717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0881360" y="6419088"/>
            <a:ext cx="62179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25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335024"/>
            <a:ext cx="1081735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>
                <a:solidFill>
                  <a:srgbClr val="171717"/>
                </a:solidFill>
                <a:latin typeface="Paperlogy 6 SemiBold"/>
                <a:ea typeface="Paperlogy 6 SemiBold"/>
                <a:cs typeface="Paperlogy 6 SemiBold"/>
              </a:rPr>
              <a:t>반지름 1.00 초과. 내부 배수 0 이 깃발.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847088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판정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85800" y="2176272"/>
          <a:ext cx="10817352" cy="1696212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2011680"/>
                <a:gridCol w="8805672"/>
              </a:tblGrid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조건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중심 거리 &gt; 판 반지름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기본 점수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내부 배수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0 = 빗나감 깃발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정산 배수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큐가 1 을 넣음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기본 확률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37.68%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판벌이 개조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24.60%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자석 다트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5.52%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85800" y="6400800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관련  착탄 영역  ·  영역 강화  ·  조준  ·  조건  ·  개조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02336"/>
            <a:ext cx="10817352" cy="6126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25">
                <a:solidFill>
                  <a:srgbClr val="171717"/>
                </a:solidFill>
                <a:latin typeface="Paperlogy 7 Bold"/>
                <a:ea typeface="Paperlogy 7 Bold"/>
                <a:cs typeface="Paperlogy 7 Bold"/>
              </a:rPr>
              <a:t>시스템 - 빗나감 (이어서)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85800" y="1143000"/>
            <a:ext cx="10817352" cy="0"/>
          </a:xfrm>
          <a:prstGeom prst="line">
            <a:avLst/>
          </a:prstGeom>
          <a:ln w="12700">
            <a:solidFill>
              <a:srgbClr val="1717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0881360" y="6419088"/>
            <a:ext cx="62179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335024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정산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664207"/>
            <a:ext cx="5202936" cy="6035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</a:pPr>
            <a:r>
              <a:rPr sz="1200">
                <a:solidFill>
                  <a:srgbClr val="168DA8"/>
                </a:solidFill>
                <a:latin typeface="Paperlogy 7 Bold"/>
                <a:ea typeface="Paperlogy 7 Bold"/>
                <a:cs typeface="Paperlogy 7 Bold"/>
              </a:rPr>
              <a:t>01  </a:t>
            </a:r>
            <a:r>
              <a:rPr sz="1200">
                <a:solidFill>
                  <a:srgbClr val="171717"/>
                </a:solidFill>
                <a:latin typeface="Paperlogy 6 SemiBold"/>
                <a:ea typeface="Paperlogy 6 SemiBold"/>
                <a:cs typeface="Paperlogy 6 SemiBold"/>
              </a:rPr>
              <a:t>빗나감 깃발</a:t>
            </a:r>
          </a:p>
          <a:p>
            <a:pPr>
              <a:lnSpc>
                <a:spcPct val="120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이번 라운드 · 직전 발에 표시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685800" y="2231136"/>
            <a:ext cx="5202936" cy="0"/>
          </a:xfrm>
          <a:prstGeom prst="line">
            <a:avLst/>
          </a:prstGeom>
          <a:ln w="9525">
            <a:solidFill>
              <a:srgbClr val="D8D8D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685800" y="2304287"/>
            <a:ext cx="5202936" cy="6035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</a:pPr>
            <a:r>
              <a:rPr sz="1200">
                <a:solidFill>
                  <a:srgbClr val="168DA8"/>
                </a:solidFill>
                <a:latin typeface="Paperlogy 7 Bold"/>
                <a:ea typeface="Paperlogy 7 Bold"/>
                <a:cs typeface="Paperlogy 7 Bold"/>
              </a:rPr>
              <a:t>02  </a:t>
            </a:r>
            <a:r>
              <a:rPr sz="1200">
                <a:solidFill>
                  <a:srgbClr val="171717"/>
                </a:solidFill>
                <a:latin typeface="Paperlogy 6 SemiBold"/>
                <a:ea typeface="Paperlogy 6 SemiBold"/>
                <a:cs typeface="Paperlogy 6 SemiBold"/>
              </a:rPr>
              <a:t>트랙 점수</a:t>
            </a:r>
          </a:p>
          <a:p>
            <a:pPr>
              <a:lnSpc>
                <a:spcPct val="120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보드 아웃 Lv 당 +6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85800" y="2871215"/>
            <a:ext cx="5202936" cy="0"/>
          </a:xfrm>
          <a:prstGeom prst="line">
            <a:avLst/>
          </a:prstGeom>
          <a:ln w="9525">
            <a:solidFill>
              <a:srgbClr val="D8D8D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685800" y="2944368"/>
            <a:ext cx="5202936" cy="6035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</a:pPr>
            <a:r>
              <a:rPr sz="1200">
                <a:solidFill>
                  <a:srgbClr val="168DA8"/>
                </a:solidFill>
                <a:latin typeface="Paperlogy 7 Bold"/>
                <a:ea typeface="Paperlogy 7 Bold"/>
                <a:cs typeface="Paperlogy 7 Bold"/>
              </a:rPr>
              <a:t>03  </a:t>
            </a:r>
            <a:r>
              <a:rPr sz="1200">
                <a:solidFill>
                  <a:srgbClr val="171717"/>
                </a:solidFill>
                <a:latin typeface="Paperlogy 6 SemiBold"/>
                <a:ea typeface="Paperlogy 6 SemiBold"/>
                <a:cs typeface="Paperlogy 6 SemiBold"/>
              </a:rPr>
              <a:t>큐에 빗나감</a:t>
            </a:r>
          </a:p>
          <a:p>
            <a:pPr>
              <a:lnSpc>
                <a:spcPct val="120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한 칸 넣는다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685800" y="3511296"/>
            <a:ext cx="5202936" cy="0"/>
          </a:xfrm>
          <a:prstGeom prst="line">
            <a:avLst/>
          </a:prstGeom>
          <a:ln w="9525">
            <a:solidFill>
              <a:srgbClr val="D8D8D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6300216" y="1664207"/>
            <a:ext cx="5202936" cy="6035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</a:pPr>
            <a:r>
              <a:rPr sz="1200">
                <a:solidFill>
                  <a:srgbClr val="168DA8"/>
                </a:solidFill>
                <a:latin typeface="Paperlogy 7 Bold"/>
                <a:ea typeface="Paperlogy 7 Bold"/>
                <a:cs typeface="Paperlogy 7 Bold"/>
              </a:rPr>
              <a:t>04  </a:t>
            </a:r>
            <a:r>
              <a:rPr sz="1200">
                <a:solidFill>
                  <a:srgbClr val="171717"/>
                </a:solidFill>
                <a:latin typeface="Paperlogy 6 SemiBold"/>
                <a:ea typeface="Paperlogy 6 SemiBold"/>
                <a:cs typeface="Paperlogy 6 SemiBold"/>
              </a:rPr>
              <a:t>트랙 0 · 발동 0</a:t>
            </a:r>
          </a:p>
          <a:p>
            <a:pPr>
              <a:lnSpc>
                <a:spcPct val="120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여기서 끝난다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6300216" y="2231136"/>
            <a:ext cx="5202936" cy="0"/>
          </a:xfrm>
          <a:prstGeom prst="line">
            <a:avLst/>
          </a:prstGeom>
          <a:ln w="9525">
            <a:solidFill>
              <a:srgbClr val="D8D8D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6300216" y="2304287"/>
            <a:ext cx="5202936" cy="6035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</a:pPr>
            <a:r>
              <a:rPr sz="1200">
                <a:solidFill>
                  <a:srgbClr val="168DA8"/>
                </a:solidFill>
                <a:latin typeface="Paperlogy 7 Bold"/>
                <a:ea typeface="Paperlogy 7 Bold"/>
                <a:cs typeface="Paperlogy 7 Bold"/>
              </a:rPr>
              <a:t>05  </a:t>
            </a:r>
            <a:r>
              <a:rPr sz="1200">
                <a:solidFill>
                  <a:srgbClr val="171717"/>
                </a:solidFill>
                <a:latin typeface="Paperlogy 6 SemiBold"/>
                <a:ea typeface="Paperlogy 6 SemiBold"/>
                <a:cs typeface="Paperlogy 6 SemiBold"/>
              </a:rPr>
              <a:t>점수와 배수</a:t>
            </a:r>
          </a:p>
          <a:p>
            <a:pPr>
              <a:lnSpc>
                <a:spcPct val="120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점수 얹고 배수 1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6300216" y="2871215"/>
            <a:ext cx="5202936" cy="0"/>
          </a:xfrm>
          <a:prstGeom prst="line">
            <a:avLst/>
          </a:prstGeom>
          <a:ln w="9525">
            <a:solidFill>
              <a:srgbClr val="D8D8D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6300216" y="2944368"/>
            <a:ext cx="5202936" cy="6035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</a:pPr>
            <a:r>
              <a:rPr sz="1200">
                <a:solidFill>
                  <a:srgbClr val="168DA8"/>
                </a:solidFill>
                <a:latin typeface="Paperlogy 7 Bold"/>
                <a:ea typeface="Paperlogy 7 Bold"/>
                <a:cs typeface="Paperlogy 7 Bold"/>
              </a:rPr>
              <a:t>06  </a:t>
            </a:r>
            <a:r>
              <a:rPr sz="1200">
                <a:solidFill>
                  <a:srgbClr val="171717"/>
                </a:solidFill>
                <a:latin typeface="Paperlogy 6 SemiBold"/>
                <a:ea typeface="Paperlogy 6 SemiBold"/>
                <a:cs typeface="Paperlogy 6 SemiBold"/>
              </a:rPr>
              <a:t>스티커</a:t>
            </a:r>
          </a:p>
          <a:p>
            <a:pPr>
              <a:lnSpc>
                <a:spcPct val="120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조건 맞은 장이 발동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6300216" y="3511296"/>
            <a:ext cx="5202936" cy="0"/>
          </a:xfrm>
          <a:prstGeom prst="line">
            <a:avLst/>
          </a:prstGeom>
          <a:ln w="9525">
            <a:solidFill>
              <a:srgbClr val="D8D8D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685800" y="3739896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빗나감을 읽는 것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685800" y="4069080"/>
          <a:ext cx="10817350" cy="1970532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2612239"/>
                <a:gridCol w="3349025"/>
                <a:gridCol w="4856086"/>
              </a:tblGrid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이름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효과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가격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빈손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빗나가면 점수 +30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7G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빗나감 배수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빗나가면 배수 +2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4G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연속 빗나감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직전이 빗나갔다면 배수 ×2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7G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명중 적립기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명중 배수 +1 · 빗나감 −1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4G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보드 아웃 강화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트랙 Lv +1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4G (임시)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결벽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한 발도 안 빗나가면 골드 +2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4G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새 자리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한 발도 안 빗나가면 골드 +3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7G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685800" y="6400800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관련  착탄 영역  ·  영역 강화  ·  조준  ·  조건  ·  개조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02336"/>
            <a:ext cx="10817352" cy="6126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25">
                <a:solidFill>
                  <a:srgbClr val="171717"/>
                </a:solidFill>
                <a:latin typeface="Paperlogy 7 Bold"/>
                <a:ea typeface="Paperlogy 7 Bold"/>
                <a:cs typeface="Paperlogy 7 Bold"/>
              </a:rPr>
              <a:t>시스템 - 점수 공식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85800" y="1143000"/>
            <a:ext cx="10817352" cy="0"/>
          </a:xfrm>
          <a:prstGeom prst="line">
            <a:avLst/>
          </a:prstGeom>
          <a:ln w="12700">
            <a:solidFill>
              <a:srgbClr val="1717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0881360" y="6419088"/>
            <a:ext cx="62179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335024"/>
            <a:ext cx="1081735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>
                <a:solidFill>
                  <a:srgbClr val="171717"/>
                </a:solidFill>
                <a:latin typeface="Paperlogy 6 SemiBold"/>
                <a:ea typeface="Paperlogy 6 SemiBold"/>
                <a:cs typeface="Paperlogy 6 SemiBold"/>
              </a:rPr>
              <a:t>한 발의 점수 = 칩 × 배수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1847088"/>
            <a:ext cx="1680971" cy="914400"/>
          </a:xfrm>
          <a:prstGeom prst="roundRect">
            <a:avLst/>
          </a:prstGeom>
          <a:noFill/>
          <a:ln w="9525">
            <a:solidFill>
              <a:srgbClr val="C9CC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200">
                <a:solidFill>
                  <a:srgbClr val="171717"/>
                </a:solidFill>
                <a:latin typeface="Paperlogy 6 SemiBold"/>
                <a:ea typeface="Paperlogy 6 SemiBold"/>
                <a:cs typeface="Paperlogy 6 SemiBold"/>
              </a:rPr>
              <a:t>착탄 영역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2385059" y="2304288"/>
            <a:ext cx="109728" cy="0"/>
          </a:xfrm>
          <a:prstGeom prst="line">
            <a:avLst/>
          </a:prstGeom>
          <a:ln w="12700">
            <a:solidFill>
              <a:srgbClr val="168DA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2513075" y="1847088"/>
            <a:ext cx="1680971" cy="914400"/>
          </a:xfrm>
          <a:prstGeom prst="roundRect">
            <a:avLst/>
          </a:prstGeom>
          <a:noFill/>
          <a:ln w="9525">
            <a:solidFill>
              <a:srgbClr val="C9CC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200">
                <a:solidFill>
                  <a:srgbClr val="171717"/>
                </a:solidFill>
                <a:latin typeface="Paperlogy 6 SemiBold"/>
                <a:ea typeface="Paperlogy 6 SemiBold"/>
                <a:cs typeface="Paperlogy 6 SemiBold"/>
              </a:rPr>
              <a:t>보스 제약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4212335" y="2304288"/>
            <a:ext cx="109729" cy="0"/>
          </a:xfrm>
          <a:prstGeom prst="line">
            <a:avLst/>
          </a:prstGeom>
          <a:ln w="12700">
            <a:solidFill>
              <a:srgbClr val="168DA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4340351" y="1847088"/>
            <a:ext cx="1680971" cy="914400"/>
          </a:xfrm>
          <a:prstGeom prst="roundRect">
            <a:avLst/>
          </a:prstGeom>
          <a:noFill/>
          <a:ln w="9525">
            <a:solidFill>
              <a:srgbClr val="C9CC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200">
                <a:solidFill>
                  <a:srgbClr val="171717"/>
                </a:solidFill>
                <a:latin typeface="Paperlogy 6 SemiBold"/>
                <a:ea typeface="Paperlogy 6 SemiBold"/>
                <a:cs typeface="Paperlogy 6 SemiBold"/>
              </a:rPr>
              <a:t>다트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6039611" y="2304288"/>
            <a:ext cx="109729" cy="0"/>
          </a:xfrm>
          <a:prstGeom prst="line">
            <a:avLst/>
          </a:prstGeom>
          <a:ln w="12700">
            <a:solidFill>
              <a:srgbClr val="168DA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6167627" y="1847088"/>
            <a:ext cx="1680971" cy="914400"/>
          </a:xfrm>
          <a:prstGeom prst="roundRect">
            <a:avLst/>
          </a:prstGeom>
          <a:noFill/>
          <a:ln w="9525">
            <a:solidFill>
              <a:srgbClr val="C9CC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200">
                <a:solidFill>
                  <a:srgbClr val="171717"/>
                </a:solidFill>
                <a:latin typeface="Paperlogy 6 SemiBold"/>
                <a:ea typeface="Paperlogy 6 SemiBold"/>
                <a:cs typeface="Paperlogy 6 SemiBold"/>
              </a:rPr>
              <a:t>영역 강화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7866887" y="2304288"/>
            <a:ext cx="109728" cy="0"/>
          </a:xfrm>
          <a:prstGeom prst="line">
            <a:avLst/>
          </a:prstGeom>
          <a:ln w="12700">
            <a:solidFill>
              <a:srgbClr val="168DA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7994903" y="1847088"/>
            <a:ext cx="1680971" cy="914400"/>
          </a:xfrm>
          <a:prstGeom prst="roundRect">
            <a:avLst/>
          </a:prstGeom>
          <a:noFill/>
          <a:ln w="9525">
            <a:solidFill>
              <a:srgbClr val="C9CC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200">
                <a:solidFill>
                  <a:srgbClr val="171717"/>
                </a:solidFill>
                <a:latin typeface="Paperlogy 6 SemiBold"/>
                <a:ea typeface="Paperlogy 6 SemiBold"/>
                <a:cs typeface="Paperlogy 6 SemiBold"/>
              </a:rPr>
              <a:t>스티커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9694163" y="2304288"/>
            <a:ext cx="109729" cy="0"/>
          </a:xfrm>
          <a:prstGeom prst="line">
            <a:avLst/>
          </a:prstGeom>
          <a:ln w="12700">
            <a:solidFill>
              <a:srgbClr val="168DA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9822179" y="1847088"/>
            <a:ext cx="1680971" cy="914400"/>
          </a:xfrm>
          <a:prstGeom prst="roundRect">
            <a:avLst/>
          </a:prstGeom>
          <a:noFill/>
          <a:ln w="9525">
            <a:solidFill>
              <a:srgbClr val="C9CC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200">
                <a:solidFill>
                  <a:srgbClr val="171717"/>
                </a:solidFill>
                <a:latin typeface="Paperlogy 6 SemiBold"/>
                <a:ea typeface="Paperlogy 6 SemiBold"/>
                <a:cs typeface="Paperlogy 6 SemiBold"/>
              </a:rPr>
              <a:t>칩 × 배수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6400800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관련  정산 큐  ·  착탄 영역  ·  영역 강화  ·  효과와 등급  ·  목표 점수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02336"/>
            <a:ext cx="10817352" cy="6126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25">
                <a:solidFill>
                  <a:srgbClr val="171717"/>
                </a:solidFill>
                <a:latin typeface="Paperlogy 7 Bold"/>
                <a:ea typeface="Paperlogy 7 Bold"/>
                <a:cs typeface="Paperlogy 7 Bold"/>
              </a:rPr>
              <a:t>시스템 - 점수 공식 (이어서)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85800" y="1143000"/>
            <a:ext cx="10817352" cy="0"/>
          </a:xfrm>
          <a:prstGeom prst="line">
            <a:avLst/>
          </a:prstGeom>
          <a:ln w="12700">
            <a:solidFill>
              <a:srgbClr val="1717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0881360" y="6419088"/>
            <a:ext cx="62179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28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335024"/>
            <a:ext cx="3749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칩과 배수가 정해지는 자리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85800" y="1664207"/>
          <a:ext cx="3749038" cy="3182112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905340"/>
                <a:gridCol w="1160693"/>
                <a:gridCol w="1683005"/>
              </a:tblGrid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단계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칩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배수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</a:tr>
              <a:tr h="726948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착탄 영역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칸 값 · 불 25/50 · 아웃 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싱글 1 더블 2 트리플 3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726948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보스 제약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금지 구역·그늘 0 · 홀대 ×0.5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민짜 트리플 → 1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484632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다트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관통 양옆 합 ×0.5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가벼운 +3 무거운 -1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484632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영역 강화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트랙 1~Lv 행 합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트랙 1~Lv 행 합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스티커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chip +v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mult +v · xmult ×v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총점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칩 × 배수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—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937760" y="1335024"/>
            <a:ext cx="3749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보기 — 트리플 20 칸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937760" y="1664207"/>
          <a:ext cx="3749040" cy="2423160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1325880"/>
                <a:gridCol w="2423160"/>
              </a:tblGrid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기본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칩 20 · 배수 3 → 60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484632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배수 +2 를 먼저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칩 20 · 배수 5 → 100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484632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배수 ×2 를 뒤에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칩 20 · 배수 10 → 200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484632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점수 +30 을 얹으면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칩 50 · 배수 10 → 500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기본(std)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칩 × 배수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저울(bal)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((칩+배수)÷2)²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현재 쓰는 팩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전부 std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85800" y="5020055"/>
            <a:ext cx="1081735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스티커는 랙 왼쪽 칸부터 차례로 얹힌다.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6400800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관련  정산 큐  ·  착탄 영역  ·  영역 강화  ·  효과와 등급  ·  목표 점수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02336"/>
            <a:ext cx="10817352" cy="6126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25">
                <a:solidFill>
                  <a:srgbClr val="171717"/>
                </a:solidFill>
                <a:latin typeface="Paperlogy 7 Bold"/>
                <a:ea typeface="Paperlogy 7 Bold"/>
                <a:cs typeface="Paperlogy 7 Bold"/>
              </a:rPr>
              <a:t>시스템 - 정산 큐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85800" y="1143000"/>
            <a:ext cx="10817352" cy="0"/>
          </a:xfrm>
          <a:prstGeom prst="line">
            <a:avLst/>
          </a:prstGeom>
          <a:ln w="12700">
            <a:solidFill>
              <a:srgbClr val="1717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0881360" y="6419088"/>
            <a:ext cx="62179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29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335024"/>
            <a:ext cx="1081735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>
                <a:solidFill>
                  <a:srgbClr val="171717"/>
                </a:solidFill>
                <a:latin typeface="Paperlogy 6 SemiBold"/>
                <a:ea typeface="Paperlogy 6 SemiBold"/>
                <a:cs typeface="Paperlogy 6 SemiBold"/>
              </a:rPr>
              <a:t>한 발의 점수를 걸음으로 쪼갠 대기열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847088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큐에 서는 순서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176272"/>
            <a:ext cx="5202936" cy="6035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</a:pPr>
            <a:r>
              <a:rPr sz="1200">
                <a:solidFill>
                  <a:srgbClr val="168DA8"/>
                </a:solidFill>
                <a:latin typeface="Paperlogy 7 Bold"/>
                <a:ea typeface="Paperlogy 7 Bold"/>
                <a:cs typeface="Paperlogy 7 Bold"/>
              </a:rPr>
              <a:t>01  </a:t>
            </a:r>
            <a:r>
              <a:rPr sz="1200">
                <a:solidFill>
                  <a:srgbClr val="171717"/>
                </a:solidFill>
                <a:latin typeface="Paperlogy 6 SemiBold"/>
                <a:ea typeface="Paperlogy 6 SemiBold"/>
                <a:cs typeface="Paperlogy 6 SemiBold"/>
              </a:rPr>
              <a:t>빗나감</a:t>
            </a:r>
          </a:p>
          <a:p>
            <a:pPr>
              <a:lnSpc>
                <a:spcPct val="120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배수 0 이면 맨 앞에 선다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685800" y="2743200"/>
            <a:ext cx="5202936" cy="0"/>
          </a:xfrm>
          <a:prstGeom prst="line">
            <a:avLst/>
          </a:prstGeom>
          <a:ln w="9525">
            <a:solidFill>
              <a:srgbClr val="D8D8D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685800" y="2816352"/>
            <a:ext cx="5202936" cy="6035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</a:pPr>
            <a:r>
              <a:rPr sz="1200">
                <a:solidFill>
                  <a:srgbClr val="168DA8"/>
                </a:solidFill>
                <a:latin typeface="Paperlogy 7 Bold"/>
                <a:ea typeface="Paperlogy 7 Bold"/>
                <a:cs typeface="Paperlogy 7 Bold"/>
              </a:rPr>
              <a:t>02  </a:t>
            </a:r>
            <a:r>
              <a:rPr sz="1200">
                <a:solidFill>
                  <a:srgbClr val="171717"/>
                </a:solidFill>
                <a:latin typeface="Paperlogy 6 SemiBold"/>
                <a:ea typeface="Paperlogy 6 SemiBold"/>
                <a:cs typeface="Paperlogy 6 SemiBold"/>
              </a:rPr>
              <a:t>칩</a:t>
            </a:r>
          </a:p>
          <a:p>
            <a:pPr>
              <a:lnSpc>
                <a:spcPct val="120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영역 기본 점수 + 트랙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685800" y="3383280"/>
            <a:ext cx="5202936" cy="0"/>
          </a:xfrm>
          <a:prstGeom prst="line">
            <a:avLst/>
          </a:prstGeom>
          <a:ln w="9525">
            <a:solidFill>
              <a:srgbClr val="D8D8D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685800" y="3456432"/>
            <a:ext cx="5202936" cy="6035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</a:pPr>
            <a:r>
              <a:rPr sz="1200">
                <a:solidFill>
                  <a:srgbClr val="168DA8"/>
                </a:solidFill>
                <a:latin typeface="Paperlogy 7 Bold"/>
                <a:ea typeface="Paperlogy 7 Bold"/>
                <a:cs typeface="Paperlogy 7 Bold"/>
              </a:rPr>
              <a:t>03  </a:t>
            </a:r>
            <a:r>
              <a:rPr sz="1200">
                <a:solidFill>
                  <a:srgbClr val="171717"/>
                </a:solidFill>
                <a:latin typeface="Paperlogy 6 SemiBold"/>
                <a:ea typeface="Paperlogy 6 SemiBold"/>
                <a:cs typeface="Paperlogy 6 SemiBold"/>
              </a:rPr>
              <a:t>배수</a:t>
            </a:r>
          </a:p>
          <a:p>
            <a:pPr>
              <a:lnSpc>
                <a:spcPct val="120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영역 기본 배수 + 트랙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685800" y="4023359"/>
            <a:ext cx="5202936" cy="0"/>
          </a:xfrm>
          <a:prstGeom prst="line">
            <a:avLst/>
          </a:prstGeom>
          <a:ln w="9525">
            <a:solidFill>
              <a:srgbClr val="D8D8D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685800" y="4096511"/>
            <a:ext cx="5202936" cy="6035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</a:pPr>
            <a:r>
              <a:rPr sz="1200">
                <a:solidFill>
                  <a:srgbClr val="168DA8"/>
                </a:solidFill>
                <a:latin typeface="Paperlogy 7 Bold"/>
                <a:ea typeface="Paperlogy 7 Bold"/>
                <a:cs typeface="Paperlogy 7 Bold"/>
              </a:rPr>
              <a:t>04  </a:t>
            </a:r>
            <a:r>
              <a:rPr sz="1200">
                <a:solidFill>
                  <a:srgbClr val="171717"/>
                </a:solidFill>
                <a:latin typeface="Paperlogy 6 SemiBold"/>
                <a:ea typeface="Paperlogy 6 SemiBold"/>
                <a:cs typeface="Paperlogy 6 SemiBold"/>
              </a:rPr>
              <a:t>관통</a:t>
            </a:r>
          </a:p>
          <a:p>
            <a:pPr>
              <a:lnSpc>
                <a:spcPct val="120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양옆 칸 합 × 0.5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685800" y="4663440"/>
            <a:ext cx="5202936" cy="0"/>
          </a:xfrm>
          <a:prstGeom prst="line">
            <a:avLst/>
          </a:prstGeom>
          <a:ln w="9525">
            <a:solidFill>
              <a:srgbClr val="D8D8D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6300216" y="2176272"/>
            <a:ext cx="5202936" cy="6035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</a:pPr>
            <a:r>
              <a:rPr sz="1200">
                <a:solidFill>
                  <a:srgbClr val="168DA8"/>
                </a:solidFill>
                <a:latin typeface="Paperlogy 7 Bold"/>
                <a:ea typeface="Paperlogy 7 Bold"/>
                <a:cs typeface="Paperlogy 7 Bold"/>
              </a:rPr>
              <a:t>05  </a:t>
            </a:r>
            <a:r>
              <a:rPr sz="1200">
                <a:solidFill>
                  <a:srgbClr val="171717"/>
                </a:solidFill>
                <a:latin typeface="Paperlogy 6 SemiBold"/>
                <a:ea typeface="Paperlogy 6 SemiBold"/>
                <a:cs typeface="Paperlogy 6 SemiBold"/>
              </a:rPr>
              <a:t>스티커</a:t>
            </a:r>
          </a:p>
          <a:p>
            <a:pPr>
              <a:lnSpc>
                <a:spcPct val="120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랙 왼쪽부터 · 발동한 것만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6300216" y="2743200"/>
            <a:ext cx="5202936" cy="0"/>
          </a:xfrm>
          <a:prstGeom prst="line">
            <a:avLst/>
          </a:prstGeom>
          <a:ln w="9525">
            <a:solidFill>
              <a:srgbClr val="D8D8D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6300216" y="2816352"/>
            <a:ext cx="5202936" cy="6035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</a:pPr>
            <a:r>
              <a:rPr sz="1200">
                <a:solidFill>
                  <a:srgbClr val="168DA8"/>
                </a:solidFill>
                <a:latin typeface="Paperlogy 7 Bold"/>
                <a:ea typeface="Paperlogy 7 Bold"/>
                <a:cs typeface="Paperlogy 7 Bold"/>
              </a:rPr>
              <a:t>06  </a:t>
            </a:r>
            <a:r>
              <a:rPr sz="1200">
                <a:solidFill>
                  <a:srgbClr val="171717"/>
                </a:solidFill>
                <a:latin typeface="Paperlogy 6 SemiBold"/>
                <a:ea typeface="Paperlogy 6 SemiBold"/>
                <a:cs typeface="Paperlogy 6 SemiBold"/>
              </a:rPr>
              <a:t>보조 효과</a:t>
            </a:r>
          </a:p>
          <a:p>
            <a:pPr>
              <a:lnSpc>
                <a:spcPct val="120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k2 가 있으면 한 줄 더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6300216" y="3383280"/>
            <a:ext cx="5202936" cy="0"/>
          </a:xfrm>
          <a:prstGeom prst="line">
            <a:avLst/>
          </a:prstGeom>
          <a:ln w="9525">
            <a:solidFill>
              <a:srgbClr val="D8D8D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6300216" y="3456432"/>
            <a:ext cx="5202936" cy="6035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</a:pPr>
            <a:r>
              <a:rPr sz="1200">
                <a:solidFill>
                  <a:srgbClr val="168DA8"/>
                </a:solidFill>
                <a:latin typeface="Paperlogy 7 Bold"/>
                <a:ea typeface="Paperlogy 7 Bold"/>
                <a:cs typeface="Paperlogy 7 Bold"/>
              </a:rPr>
              <a:t>07  </a:t>
            </a:r>
            <a:r>
              <a:rPr sz="1200">
                <a:solidFill>
                  <a:srgbClr val="171717"/>
                </a:solidFill>
                <a:latin typeface="Paperlogy 6 SemiBold"/>
                <a:ea typeface="Paperlogy 6 SemiBold"/>
                <a:cs typeface="Paperlogy 6 SemiBold"/>
              </a:rPr>
              <a:t>총점</a:t>
            </a:r>
          </a:p>
          <a:p>
            <a:pPr>
              <a:lnSpc>
                <a:spcPct val="120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칩 × 배수 를 총점에 더함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6300216" y="4023359"/>
            <a:ext cx="5202936" cy="0"/>
          </a:xfrm>
          <a:prstGeom prst="line">
            <a:avLst/>
          </a:prstGeom>
          <a:ln w="9525">
            <a:solidFill>
              <a:srgbClr val="D8D8D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685800" y="6400800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관련  점수 공식  ·  스티커  ·  조건  ·  효과와 등급  ·  랙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02336"/>
            <a:ext cx="10817352" cy="6126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25">
                <a:solidFill>
                  <a:srgbClr val="171717"/>
                </a:solidFill>
                <a:latin typeface="Paperlogy 7 Bold"/>
                <a:ea typeface="Paperlogy 7 Bold"/>
                <a:cs typeface="Paperlogy 7 Bold"/>
              </a:rPr>
              <a:t>시스템 - 정산 큐 (이어서)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85800" y="1143000"/>
            <a:ext cx="10817352" cy="0"/>
          </a:xfrm>
          <a:prstGeom prst="line">
            <a:avLst/>
          </a:prstGeom>
          <a:ln w="12700">
            <a:solidFill>
              <a:srgbClr val="1717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0881360" y="6419088"/>
            <a:ext cx="62179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30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335024"/>
            <a:ext cx="3749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걸음이 하는 일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85800" y="1664207"/>
          <a:ext cx="3749038" cy="2212848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905340"/>
                <a:gridCol w="1160693"/>
                <a:gridCol w="1683005"/>
              </a:tblGrid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효과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걸음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장수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chip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칩 += v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30장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mult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배수 += v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35장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xmult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배수 ×= v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18장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484632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mult_streak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배수 += v × 연속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1장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484632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mult_rand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배수 += 0~v 무작위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1장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save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큐에 안 선다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1장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937760" y="1335024"/>
            <a:ext cx="3749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큐 밖의 것과 박자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937760" y="1664207"/>
          <a:ext cx="3749040" cy="1938528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1325880"/>
                <a:gridCol w="2423160"/>
              </a:tblGrid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봉인된 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건너뛴다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save 효과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라운드 실패가 읽는다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즉시 골드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큐 밖 · 발동 즉시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걸음 간격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0.34 초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연발 한 발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칩 몫 0.25 · 배수 그대로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연발 수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5 발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484632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빗나감 + 아웃 트랙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칩만 받고 배수 1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85800" y="6400800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관련  점수 공식  ·  스티커  ·  조건  ·  효과와 등급  ·  랙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02336"/>
            <a:ext cx="10817352" cy="6126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25">
                <a:solidFill>
                  <a:srgbClr val="171717"/>
                </a:solidFill>
                <a:latin typeface="Paperlogy 7 Bold"/>
                <a:ea typeface="Paperlogy 7 Bold"/>
                <a:cs typeface="Paperlogy 7 Bold"/>
              </a:rPr>
              <a:t>시스템 - 스티커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85800" y="1143000"/>
            <a:ext cx="10817352" cy="0"/>
          </a:xfrm>
          <a:prstGeom prst="line">
            <a:avLst/>
          </a:prstGeom>
          <a:ln w="12700">
            <a:solidFill>
              <a:srgbClr val="1717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0881360" y="6419088"/>
            <a:ext cx="62179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31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335024"/>
            <a:ext cx="1081735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>
                <a:solidFill>
                  <a:srgbClr val="171717"/>
                </a:solidFill>
                <a:latin typeface="Paperlogy 6 SemiBold"/>
                <a:ea typeface="Paperlogy 6 SemiBold"/>
                <a:cs typeface="Paperlogy 6 SemiBold"/>
              </a:rPr>
              <a:t>조건 하나 + 효과 하나. 활성 99장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847088"/>
            <a:ext cx="3749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규모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85800" y="2176272"/>
          <a:ext cx="3749040" cy="1938528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1325880"/>
                <a:gridCol w="2423160"/>
              </a:tblGrid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활성 스티커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99장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랙 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5칸 (넓은 랙 팩 6칸)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484632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매대 자리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4칸 = 스티커 2 · 개조 1 · 다트 1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구성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조건 1 + 효과 1 (+보조 1)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보조 효과 있음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2장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가격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4 · 5 · 7 · 8 · 11 · 14 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판매가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구매가 ÷ 2 내림 · 최소 2 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4937760" y="1847088"/>
            <a:ext cx="3749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등급별 장수와 가격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4937760" y="2176272"/>
          <a:ext cx="3749038" cy="1243584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905340"/>
                <a:gridCol w="1160693"/>
                <a:gridCol w="1683005"/>
              </a:tblGrid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등급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장수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가격 G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일반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49장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4 · 5 · 8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희귀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26장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7 · 8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레어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24장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7 · 11 · 14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전설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0장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—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85800" y="6400800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관련  조건  ·  효과와 등급  ·  랙  ·  상점  ·  골드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02336"/>
            <a:ext cx="10817352" cy="6126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25">
                <a:solidFill>
                  <a:srgbClr val="171717"/>
                </a:solidFill>
                <a:latin typeface="Paperlogy 7 Bold"/>
                <a:ea typeface="Paperlogy 7 Bold"/>
                <a:cs typeface="Paperlogy 7 Bold"/>
              </a:rPr>
              <a:t>시스템 - 스티커 (이어서)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85800" y="1143000"/>
            <a:ext cx="10817352" cy="0"/>
          </a:xfrm>
          <a:prstGeom prst="line">
            <a:avLst/>
          </a:prstGeom>
          <a:ln w="12700">
            <a:solidFill>
              <a:srgbClr val="1717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0881360" y="6419088"/>
            <a:ext cx="62179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32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335024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값이 고정이 아닌 것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85800" y="1664207"/>
          <a:ext cx="10817350" cy="1728216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2612239"/>
                <a:gridCol w="3349025"/>
                <a:gridCol w="4856086"/>
              </a:tblGrid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갈래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값이 정해지는 법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장수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fire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발동할 때마다 +gstep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3장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hitmiss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명중 +gstep 빗나감 -gstep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1장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tdec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던질 때마다 -gstep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1장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rdec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라운드마다 -gstep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1장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per 배율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남은 다트·골드·빈칸 등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11장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조준 방식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레어 11 G · 효과 없음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7장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85800" y="6400800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관련  조건  ·  효과와 등급  ·  랙  ·  상점  ·  골드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02336"/>
            <a:ext cx="10817352" cy="6126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25">
                <a:solidFill>
                  <a:srgbClr val="171717"/>
                </a:solidFill>
                <a:latin typeface="Paperlogy 7 Bold"/>
                <a:ea typeface="Paperlogy 7 Bold"/>
                <a:cs typeface="Paperlogy 7 Bold"/>
              </a:rPr>
              <a:t>시스템 - 조건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85800" y="1143000"/>
            <a:ext cx="10817352" cy="0"/>
          </a:xfrm>
          <a:prstGeom prst="line">
            <a:avLst/>
          </a:prstGeom>
          <a:ln w="12700">
            <a:solidFill>
              <a:srgbClr val="1717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0881360" y="6419088"/>
            <a:ext cx="62179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33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335024"/>
            <a:ext cx="1081735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>
                <a:solidFill>
                  <a:srgbClr val="171717"/>
                </a:solidFill>
                <a:latin typeface="Paperlogy 6 SemiBold"/>
                <a:ea typeface="Paperlogy 6 SemiBold"/>
                <a:cs typeface="Paperlogy 6 SemiBold"/>
              </a:rPr>
              <a:t>발동 여부를 가르는 술어 35가지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847088"/>
            <a:ext cx="3749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조건 갈래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85800" y="2176272"/>
          <a:ext cx="3749040" cy="1938528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1325880"/>
                <a:gridCol w="2423160"/>
              </a:tblGrid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영역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트리플·더블·띠·불·고난도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칸 위치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홀·짝·왼·오른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칸 크기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15 이상 · 6~14 · 5 이하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색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크림 · 먹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번호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sec — 지정 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빗나감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빗나감 · 연속 빗나감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484632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이력·패턴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같은 칸·연속·첫·막·같은 수·영역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4937760" y="1847088"/>
            <a:ext cx="3749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실측 발동률 — 기본 판 36만 발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4937760" y="2176272"/>
          <a:ext cx="3749038" cy="3182112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905340"/>
                <a:gridCol w="1160693"/>
                <a:gridCol w="1683005"/>
              </a:tblGrid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조건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뜻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발동률%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always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모든 다트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62.30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484632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diff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직전과 다른 칸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60.75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miss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빗나가면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37.70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484632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col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크림 또는 먹 칸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30.56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484632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risk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더블·트리플·불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20.59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double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더블 명중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11.79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triple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트리플 명중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7.61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bull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불 명중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1.18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few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다트 3 이하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0.00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85800" y="6400800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관련  스티커  ·  효과와 등급  ·  착탄 영역  ·  정산 큐  ·  빗나감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02336"/>
            <a:ext cx="10817352" cy="6126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25">
                <a:solidFill>
                  <a:srgbClr val="171717"/>
                </a:solidFill>
                <a:latin typeface="Paperlogy 7 Bold"/>
                <a:ea typeface="Paperlogy 7 Bold"/>
                <a:cs typeface="Paperlogy 7 Bold"/>
              </a:rPr>
              <a:t>시스템 - 조건 (이어서)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85800" y="1143000"/>
            <a:ext cx="10817352" cy="0"/>
          </a:xfrm>
          <a:prstGeom prst="line">
            <a:avLst/>
          </a:prstGeom>
          <a:ln w="12700">
            <a:solidFill>
              <a:srgbClr val="1717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0881360" y="6419088"/>
            <a:ext cx="62179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34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335024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「맞힌 발부터」 서는 조건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85800" y="1664207"/>
          <a:ext cx="10817350" cy="2455164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2612239"/>
                <a:gridCol w="3349025"/>
                <a:gridCol w="4856086"/>
              </a:tblGrid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조건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선다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발동률%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pair 같은 수 2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맞힌 발부터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7.67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trip 같은 수 3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맞힌 발부터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0.26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quad 같은 수 4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맞힌 발부터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0.01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pair2 두 쌍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맞힌 발부터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0.27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spread 세 곳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맞힌 발부터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26.51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zone3 한 영역 3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맞힌 발부터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15.37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zones2 두 영역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맞힌 발부터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30.51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zones4 네 영역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맞힌 발부터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0.19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warm 손맛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맞힌 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10.60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85800" y="4293107"/>
            <a:ext cx="1081735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불과 보드 아웃은 색이 없다 — 색 조건이 안 선다.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6400800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관련  스티커  ·  효과와 등급  ·  착탄 영역  ·  정산 큐  ·  빗나감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02336"/>
            <a:ext cx="10817352" cy="6126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25">
                <a:solidFill>
                  <a:srgbClr val="171717"/>
                </a:solidFill>
                <a:latin typeface="Paperlogy 7 Bold"/>
                <a:ea typeface="Paperlogy 7 Bold"/>
                <a:cs typeface="Paperlogy 7 Bold"/>
              </a:rPr>
              <a:t>시스템 - 효과와 등급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85800" y="1143000"/>
            <a:ext cx="10817352" cy="0"/>
          </a:xfrm>
          <a:prstGeom prst="line">
            <a:avLst/>
          </a:prstGeom>
          <a:ln w="12700">
            <a:solidFill>
              <a:srgbClr val="1717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0881360" y="6419088"/>
            <a:ext cx="62179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35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335024"/>
            <a:ext cx="1081735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>
                <a:solidFill>
                  <a:srgbClr val="171717"/>
                </a:solidFill>
                <a:latin typeface="Paperlogy 6 SemiBold"/>
                <a:ea typeface="Paperlogy 6 SemiBold"/>
                <a:cs typeface="Paperlogy 6 SemiBold"/>
              </a:rPr>
              <a:t>효과 6갈래 · 등급 4단 · 즉시 골드 8갈래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847088"/>
            <a:ext cx="3749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효과 6갈래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85800" y="2176272"/>
          <a:ext cx="3749038" cy="2939796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905340"/>
                <a:gridCol w="1160693"/>
                <a:gridCol w="1683005"/>
              </a:tblGrid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kind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카드 문장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장수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chip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점수 +v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30장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mult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배수 +v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35장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xmult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배수 ×v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18장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484632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mult_streak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배수 +v (연속 1회마다)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1장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484632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mult_rand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배수 +0~v 무작위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1장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484632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save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실패 1회 방지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1장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484632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없음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골드·조준 전용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13장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4937760" y="1847088"/>
            <a:ext cx="3749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등급 4단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4937760" y="2176272"/>
          <a:ext cx="3749037" cy="1243584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691312"/>
                <a:gridCol w="886297"/>
                <a:gridCol w="886297"/>
                <a:gridCol w="1285131"/>
              </a:tblGrid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등급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가중치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해금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장수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일반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1.00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R2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49장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희귀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0.55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R2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26장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레어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0.22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R10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24장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전설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0.00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R24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0장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85800" y="6400800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관련  스티커  ·  조건  ·  상점  ·  골드  ·  점수 공식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02336"/>
            <a:ext cx="10817352" cy="6126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25">
                <a:solidFill>
                  <a:srgbClr val="171717"/>
                </a:solidFill>
                <a:latin typeface="Paperlogy 7 Bold"/>
                <a:ea typeface="Paperlogy 7 Bold"/>
                <a:cs typeface="Paperlogy 7 Bold"/>
              </a:rPr>
              <a:t>시스템 - 효과와 등급 (이어서)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85800" y="1143000"/>
            <a:ext cx="10817352" cy="0"/>
          </a:xfrm>
          <a:prstGeom prst="line">
            <a:avLst/>
          </a:prstGeom>
          <a:ln w="12700">
            <a:solidFill>
              <a:srgbClr val="1717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0881360" y="6419088"/>
            <a:ext cx="62179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36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335024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즉시 골드 8갈래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85800" y="1664207"/>
          <a:ext cx="10817350" cy="2212848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2612239"/>
                <a:gridCol w="3349025"/>
                <a:gridCol w="4856086"/>
              </a:tblGrid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gold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발동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장수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clear 클리어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클리어 시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1장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spare 잔탄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남은 다트 1개당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1장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clean 무실책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한 발도 안 빗나가면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2장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blitz 속공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남은 다트 3 이상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1장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broke 빈털터리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보유 골드 6 이하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1장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round 정기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라운드마다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1장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risk50 위험수당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고난도 명중 · 1/2 확률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1장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hit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조건이 걸린 발마다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1장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85800" y="4050791"/>
            <a:ext cx="1081735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전설은 가중치 0 이라 매대에 안 뜬다.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6400800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관련  스티커  ·  조건  ·  상점  ·  골드  ·  점수 공식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02336"/>
            <a:ext cx="10817352" cy="6126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25">
                <a:solidFill>
                  <a:srgbClr val="171717"/>
                </a:solidFill>
                <a:latin typeface="Paperlogy 7 Bold"/>
                <a:ea typeface="Paperlogy 7 Bold"/>
                <a:cs typeface="Paperlogy 7 Bold"/>
              </a:rPr>
              <a:t>시스템 - 랙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85800" y="1143000"/>
            <a:ext cx="10817352" cy="0"/>
          </a:xfrm>
          <a:prstGeom prst="line">
            <a:avLst/>
          </a:prstGeom>
          <a:ln w="12700">
            <a:solidFill>
              <a:srgbClr val="1717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0881360" y="6419088"/>
            <a:ext cx="62179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37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335024"/>
            <a:ext cx="1081735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>
                <a:solidFill>
                  <a:srgbClr val="171717"/>
                </a:solidFill>
                <a:latin typeface="Paperlogy 6 SemiBold"/>
                <a:ea typeface="Paperlogy 6 SemiBold"/>
                <a:cs typeface="Paperlogy 6 SemiBold"/>
              </a:rPr>
              <a:t>스티커 5칸. 꽂힌 순서가 곧 발동 순서다.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847088"/>
            <a:ext cx="52029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칸과 값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85800" y="2176272"/>
          <a:ext cx="5202936" cy="1211580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1325880"/>
                <a:gridCol w="3877056"/>
              </a:tblGrid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기본 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5칸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넓은 랙 팩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6칸 · 다트 −1발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판매가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구매가 ÷ 2 (내림)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판매가 하한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2G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파는 법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집어서 왼쪽 창구에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300216" y="1847088"/>
            <a:ext cx="52029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발동 순서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300216" y="2176272"/>
          <a:ext cx="5202936" cy="1211580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1325880"/>
                <a:gridCol w="3877056"/>
              </a:tblGrid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차례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랙 앞칸부터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봉인된 스티커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건너뛴다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배수 +N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그 자리에서 더한다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배수 ×N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그때까지의 배수를 곱한다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예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(3+2)×2 = 10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85800" y="6400800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관련  스티커  ·  정산 큐  ·  상점  ·  조건  ·  골드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02336"/>
            <a:ext cx="10817352" cy="6126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25">
                <a:solidFill>
                  <a:srgbClr val="171717"/>
                </a:solidFill>
                <a:latin typeface="Paperlogy 7 Bold"/>
                <a:ea typeface="Paperlogy 7 Bold"/>
                <a:cs typeface="Paperlogy 7 Bold"/>
              </a:rPr>
              <a:t>시스템 - 랙 (이어서)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85800" y="1143000"/>
            <a:ext cx="10817352" cy="0"/>
          </a:xfrm>
          <a:prstGeom prst="line">
            <a:avLst/>
          </a:prstGeom>
          <a:ln w="12700">
            <a:solidFill>
              <a:srgbClr val="1717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0881360" y="6419088"/>
            <a:ext cx="62179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38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335024"/>
            <a:ext cx="3749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화면별 랙 조작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85800" y="1664207"/>
          <a:ext cx="3749038" cy="2455164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905340"/>
                <a:gridCol w="1160693"/>
                <a:gridCol w="1683005"/>
              </a:tblGrid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화면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순서 바꾸기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판매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상점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가능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가능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스테이지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가능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불가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판 시작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가능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불가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484632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조준·비행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가능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불가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정산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불가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불가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연발 중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불가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불가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484632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전환·쓸기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불가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불가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937760" y="1335024"/>
            <a:ext cx="3749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랙을 읽는 스티커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937760" y="1664207"/>
          <a:ext cx="3749038" cy="1728216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905340"/>
                <a:gridCol w="1160693"/>
                <a:gridCol w="1683005"/>
              </a:tblGrid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이름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효과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가격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</a:tr>
              <a:tr h="484632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랙 집합체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보유 1장당 배수 +3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4G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484632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진열 가치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배수 + 다른 장 판매가 합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4G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484632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빈 랙 형판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배수 × 빈 칸 수 (최소 1)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7G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85800" y="6400800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관련  스티커  ·  정산 큐  ·  상점  ·  조건  ·  골드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02336"/>
            <a:ext cx="10817352" cy="6126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25">
                <a:solidFill>
                  <a:srgbClr val="171717"/>
                </a:solidFill>
                <a:latin typeface="Paperlogy 7 Bold"/>
                <a:ea typeface="Paperlogy 7 Bold"/>
                <a:cs typeface="Paperlogy 7 Bold"/>
              </a:rPr>
              <a:t>시스템 - 개조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85800" y="1143000"/>
            <a:ext cx="10817352" cy="0"/>
          </a:xfrm>
          <a:prstGeom prst="line">
            <a:avLst/>
          </a:prstGeom>
          <a:ln w="12700">
            <a:solidFill>
              <a:srgbClr val="1717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0881360" y="6419088"/>
            <a:ext cx="62179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39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335024"/>
            <a:ext cx="1081735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>
                <a:solidFill>
                  <a:srgbClr val="171717"/>
                </a:solidFill>
                <a:latin typeface="Paperlogy 6 SemiBold"/>
                <a:ea typeface="Paperlogy 6 SemiBold"/>
                <a:cs typeface="Paperlogy 6 SemiBold"/>
              </a:rPr>
              <a:t>판의 기하를 영구히 바꾸는 매물. 8종.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847088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개조 8종 — 표 순서가 적용 순서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85800" y="2176272"/>
          <a:ext cx="10817350" cy="2697480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1613295"/>
                <a:gridCol w="2068327"/>
                <a:gridCol w="2068327"/>
                <a:gridCol w="2068327"/>
                <a:gridCol w="2999074"/>
              </a:tblGrid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이름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축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효과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가격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배타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</a:tr>
              <a:tr h="484632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속살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링 폭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트리플 +0.06 · 더블 −0.06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9G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겉살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484632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겉살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링 폭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트리플 −0.06 · 더블 +0.06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6G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속살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벼랑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띠 위치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더블 안 0.03 자리로 이동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7G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—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아랫목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링 추가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안쪽 트리플 띠 0.38~0.46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9G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—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멍석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불 구조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한복판 0.04 · 불 0.20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8G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—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판벌이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판 크기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판이 1.10배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12G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—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판갈이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칸 값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가장 작은 3칸이 20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9G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—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짝패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칸 배치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짝수 칸 −1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6G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—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85800" y="6400800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관련  판  ·  착탄 영역  ·  빗나감  ·  상점  ·  보스 제약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02336"/>
            <a:ext cx="10817352" cy="6126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25">
                <a:solidFill>
                  <a:srgbClr val="171717"/>
                </a:solidFill>
                <a:latin typeface="Paperlogy 7 Bold"/>
                <a:ea typeface="Paperlogy 7 Bold"/>
                <a:cs typeface="Paperlogy 7 Bold"/>
              </a:rPr>
              <a:t>시스템 - 개조 (이어서)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85800" y="1143000"/>
            <a:ext cx="10817352" cy="0"/>
          </a:xfrm>
          <a:prstGeom prst="line">
            <a:avLst/>
          </a:prstGeom>
          <a:ln w="12700">
            <a:solidFill>
              <a:srgbClr val="1717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0881360" y="6419088"/>
            <a:ext cx="62179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40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335024"/>
            <a:ext cx="3749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매대에 뜨는 조건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85800" y="1664207"/>
          <a:ext cx="3749040" cy="1938528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1325880"/>
                <a:gridCol w="2423160"/>
              </a:tblGrid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매대 개조 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상점마다 1자리 (앤티당 3자리)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이미 산 것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안 뜬다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484632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배타 짝을 가졌다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안 뜬다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기하 순서 위반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안 뜬다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판이 안 바뀌면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안 뜬다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판값 상한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23.15 (기본 15.43 × 1.5)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적용 순서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위 표 순서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937760" y="1335024"/>
            <a:ext cx="3749040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판벌이 19.84 · 판갈이 19.25 · 둘 다 24.79 — 상한 23.15 를 넘어 같이 못 산다.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6400800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관련  판  ·  착탄 영역  ·  빗나감  ·  상점  ·  보스 제약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02336"/>
            <a:ext cx="10817352" cy="6126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25">
                <a:solidFill>
                  <a:srgbClr val="171717"/>
                </a:solidFill>
                <a:latin typeface="Paperlogy 7 Bold"/>
                <a:ea typeface="Paperlogy 7 Bold"/>
                <a:cs typeface="Paperlogy 7 Bold"/>
              </a:rPr>
              <a:t>시스템 - 영역 강화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85800" y="1143000"/>
            <a:ext cx="10817352" cy="0"/>
          </a:xfrm>
          <a:prstGeom prst="line">
            <a:avLst/>
          </a:prstGeom>
          <a:ln w="12700">
            <a:solidFill>
              <a:srgbClr val="1717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0881360" y="6419088"/>
            <a:ext cx="62179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41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335024"/>
            <a:ext cx="1081735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>
                <a:solidFill>
                  <a:srgbClr val="171717"/>
                </a:solidFill>
                <a:latin typeface="Paperlogy 6 SemiBold"/>
                <a:ea typeface="Paperlogy 6 SemiBold"/>
                <a:cs typeface="Paperlogy 6 SemiBold"/>
              </a:rPr>
              <a:t>트랙 1..Lv 행의 합이 그 영역에 얹힌다.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847088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트랙 5종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85800" y="2176272"/>
          <a:ext cx="10817350" cy="1485900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1613295"/>
                <a:gridCol w="2068327"/>
                <a:gridCol w="2068327"/>
                <a:gridCol w="2068327"/>
                <a:gridCol w="2999074"/>
              </a:tblGrid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트랙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명중률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점수/Lv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배수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Lv8 누적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싱글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41.6%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+5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—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점수 +40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더블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11.8%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+8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홀수 Lv 마다 +1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점수 +64 · 배수 +4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트리플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7.6%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+11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홀수 Lv 마다 +1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점수 +88 · 배수 +4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불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1.22%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+40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매 Lv +1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점수 +320 · 배수 +8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보드 아웃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37.68%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+6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—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점수 +48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85800" y="3835907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레벨을 올리는 길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85800" y="4165091"/>
          <a:ext cx="10817352" cy="1211580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2011680"/>
                <a:gridCol w="8805672"/>
              </a:tblGrid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소비 아이템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5종 · 가격 미정(임시 4G)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딱지 영역 승급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무작위 트랙 +1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영역 승급기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발동 4회 중 1회 +1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불 트랙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아우터·이너가 공유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최대 레벨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Lv 8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85800" y="6400800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관련  착탄 영역  ·  소비 아이템  ·  점수 공식  ·  다트  ·  딱지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02336"/>
            <a:ext cx="10817352" cy="6126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25">
                <a:solidFill>
                  <a:srgbClr val="171717"/>
                </a:solidFill>
                <a:latin typeface="Paperlogy 7 Bold"/>
                <a:ea typeface="Paperlogy 7 Bold"/>
                <a:cs typeface="Paperlogy 7 Bold"/>
              </a:rPr>
              <a:t>시스템 - 영역 강화 (이어서)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85800" y="1143000"/>
            <a:ext cx="10817352" cy="0"/>
          </a:xfrm>
          <a:prstGeom prst="line">
            <a:avLst/>
          </a:prstGeom>
          <a:ln w="12700">
            <a:solidFill>
              <a:srgbClr val="1717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0881360" y="6419088"/>
            <a:ext cx="62179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42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335024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한 발에 얹히는 순서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664207"/>
            <a:ext cx="5202936" cy="6035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</a:pPr>
            <a:r>
              <a:rPr sz="1200">
                <a:solidFill>
                  <a:srgbClr val="168DA8"/>
                </a:solidFill>
                <a:latin typeface="Paperlogy 7 Bold"/>
                <a:ea typeface="Paperlogy 7 Bold"/>
                <a:cs typeface="Paperlogy 7 Bold"/>
              </a:rPr>
              <a:t>01  </a:t>
            </a:r>
            <a:r>
              <a:rPr sz="1200">
                <a:solidFill>
                  <a:srgbClr val="171717"/>
                </a:solidFill>
                <a:latin typeface="Paperlogy 6 SemiBold"/>
                <a:ea typeface="Paperlogy 6 SemiBold"/>
                <a:cs typeface="Paperlogy 6 SemiBold"/>
              </a:rPr>
              <a:t>칸 죽이기</a:t>
            </a:r>
          </a:p>
          <a:p>
            <a:pPr>
              <a:lnSpc>
                <a:spcPct val="120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번호 · 색 · 홀짝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685800" y="2231136"/>
            <a:ext cx="5202936" cy="0"/>
          </a:xfrm>
          <a:prstGeom prst="line">
            <a:avLst/>
          </a:prstGeom>
          <a:ln w="9525">
            <a:solidFill>
              <a:srgbClr val="D8D8D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685800" y="2304287"/>
            <a:ext cx="5202936" cy="6035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</a:pPr>
            <a:r>
              <a:rPr sz="1200">
                <a:solidFill>
                  <a:srgbClr val="168DA8"/>
                </a:solidFill>
                <a:latin typeface="Paperlogy 7 Bold"/>
                <a:ea typeface="Paperlogy 7 Bold"/>
                <a:cs typeface="Paperlogy 7 Bold"/>
              </a:rPr>
              <a:t>02  </a:t>
            </a:r>
            <a:r>
              <a:rPr sz="1200">
                <a:solidFill>
                  <a:srgbClr val="171717"/>
                </a:solidFill>
                <a:latin typeface="Paperlogy 6 SemiBold"/>
                <a:ea typeface="Paperlogy 6 SemiBold"/>
                <a:cs typeface="Paperlogy 6 SemiBold"/>
              </a:rPr>
              <a:t>링 죽이기</a:t>
            </a:r>
          </a:p>
          <a:p>
            <a:pPr>
              <a:lnSpc>
                <a:spcPct val="120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배수만 1로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85800" y="2871215"/>
            <a:ext cx="5202936" cy="0"/>
          </a:xfrm>
          <a:prstGeom prst="line">
            <a:avLst/>
          </a:prstGeom>
          <a:ln w="9525">
            <a:solidFill>
              <a:srgbClr val="D8D8D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685800" y="2944368"/>
            <a:ext cx="5202936" cy="6035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</a:pPr>
            <a:r>
              <a:rPr sz="1200">
                <a:solidFill>
                  <a:srgbClr val="168DA8"/>
                </a:solidFill>
                <a:latin typeface="Paperlogy 7 Bold"/>
                <a:ea typeface="Paperlogy 7 Bold"/>
                <a:cs typeface="Paperlogy 7 Bold"/>
              </a:rPr>
              <a:t>03  </a:t>
            </a:r>
            <a:r>
              <a:rPr sz="1200">
                <a:solidFill>
                  <a:srgbClr val="171717"/>
                </a:solidFill>
                <a:latin typeface="Paperlogy 6 SemiBold"/>
                <a:ea typeface="Paperlogy 6 SemiBold"/>
                <a:cs typeface="Paperlogy 6 SemiBold"/>
              </a:rPr>
              <a:t>다트 특성</a:t>
            </a:r>
          </a:p>
          <a:p>
            <a:pPr>
              <a:lnSpc>
                <a:spcPct val="120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배수 하한 1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685800" y="3511296"/>
            <a:ext cx="5202936" cy="0"/>
          </a:xfrm>
          <a:prstGeom prst="line">
            <a:avLst/>
          </a:prstGeom>
          <a:ln w="9525">
            <a:solidFill>
              <a:srgbClr val="D8D8D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6300216" y="1664207"/>
            <a:ext cx="5202936" cy="6035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</a:pPr>
            <a:r>
              <a:rPr sz="1200">
                <a:solidFill>
                  <a:srgbClr val="168DA8"/>
                </a:solidFill>
                <a:latin typeface="Paperlogy 7 Bold"/>
                <a:ea typeface="Paperlogy 7 Bold"/>
                <a:cs typeface="Paperlogy 7 Bold"/>
              </a:rPr>
              <a:t>04  </a:t>
            </a:r>
            <a:r>
              <a:rPr sz="1200">
                <a:solidFill>
                  <a:srgbClr val="171717"/>
                </a:solidFill>
                <a:latin typeface="Paperlogy 6 SemiBold"/>
                <a:ea typeface="Paperlogy 6 SemiBold"/>
                <a:cs typeface="Paperlogy 6 SemiBold"/>
              </a:rPr>
              <a:t>영역 강화</a:t>
            </a:r>
          </a:p>
          <a:p>
            <a:pPr>
              <a:lnSpc>
                <a:spcPct val="120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점수 +합 · 배수 +합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6300216" y="2231136"/>
            <a:ext cx="5202936" cy="0"/>
          </a:xfrm>
          <a:prstGeom prst="line">
            <a:avLst/>
          </a:prstGeom>
          <a:ln w="9525">
            <a:solidFill>
              <a:srgbClr val="D8D8D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6300216" y="2304287"/>
            <a:ext cx="5202936" cy="6035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</a:pPr>
            <a:r>
              <a:rPr sz="1200">
                <a:solidFill>
                  <a:srgbClr val="168DA8"/>
                </a:solidFill>
                <a:latin typeface="Paperlogy 7 Bold"/>
                <a:ea typeface="Paperlogy 7 Bold"/>
                <a:cs typeface="Paperlogy 7 Bold"/>
              </a:rPr>
              <a:t>05  </a:t>
            </a:r>
            <a:r>
              <a:rPr sz="1200">
                <a:solidFill>
                  <a:srgbClr val="171717"/>
                </a:solidFill>
                <a:latin typeface="Paperlogy 6 SemiBold"/>
                <a:ea typeface="Paperlogy 6 SemiBold"/>
                <a:cs typeface="Paperlogy 6 SemiBold"/>
              </a:rPr>
              <a:t>빗나감일 때</a:t>
            </a:r>
          </a:p>
          <a:p>
            <a:pPr>
              <a:lnSpc>
                <a:spcPct val="120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점수만 받는다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6300216" y="2871215"/>
            <a:ext cx="5202936" cy="0"/>
          </a:xfrm>
          <a:prstGeom prst="line">
            <a:avLst/>
          </a:prstGeom>
          <a:ln w="9525">
            <a:solidFill>
              <a:srgbClr val="D8D8D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685800" y="6400800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관련  착탄 영역  ·  소비 아이템  ·  점수 공식  ·  다트  ·  딱지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02336"/>
            <a:ext cx="10817352" cy="6126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25">
                <a:solidFill>
                  <a:srgbClr val="171717"/>
                </a:solidFill>
                <a:latin typeface="Paperlogy 7 Bold"/>
                <a:ea typeface="Paperlogy 7 Bold"/>
                <a:cs typeface="Paperlogy 7 Bold"/>
              </a:rPr>
              <a:t>시스템 - 보스 제약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85800" y="1143000"/>
            <a:ext cx="10817352" cy="0"/>
          </a:xfrm>
          <a:prstGeom prst="line">
            <a:avLst/>
          </a:prstGeom>
          <a:ln w="12700">
            <a:solidFill>
              <a:srgbClr val="1717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0881360" y="6419088"/>
            <a:ext cx="62179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43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335024"/>
            <a:ext cx="1081735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>
                <a:solidFill>
                  <a:srgbClr val="171717"/>
                </a:solidFill>
                <a:latin typeface="Paperlogy 6 SemiBold"/>
                <a:ea typeface="Paperlogy 6 SemiBold"/>
                <a:cs typeface="Paperlogy 6 SemiBold"/>
              </a:rPr>
              <a:t>보스 판에만 3장이 깔리고 1장을 고른다.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847088"/>
            <a:ext cx="3749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깔리는 규칙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85800" y="2176272"/>
          <a:ext cx="3749040" cy="1938528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1325880"/>
                <a:gridCol w="2423160"/>
              </a:tblGrid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깔리는 판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보스 판만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깔리는 장수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3장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고르는 수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1장 · 스킵 없음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가중치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12종 전부 1.00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같은 카드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한 화면에 하나뿐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484632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딱지 여유로운 선택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+1장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고른 보상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없다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4937760" y="1847088"/>
            <a:ext cx="3749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제약 12종 (1/2)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4937760" y="2176272"/>
          <a:ext cx="3749038" cy="2697480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905340"/>
                <a:gridCol w="1160693"/>
                <a:gridCol w="1683005"/>
              </a:tblGrid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이름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축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효과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</a:tr>
              <a:tr h="484632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좁은 판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band_mul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트리플·더블 링 폭 0.5배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484632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역풍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gauge_mul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조준 게이지 2배 속도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안개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fog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조준선이 사라진다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단벌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darts_add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다트 −1발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484632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금지 구역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sector_kill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20 칸 점수 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484632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둔화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seal_items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스티커 1장 무작위 봉인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85800" y="6400800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관련  판  ·  목표 점수  ·  리그  ·  딱지  ·  런 구조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02336"/>
            <a:ext cx="10817352" cy="6126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25">
                <a:solidFill>
                  <a:srgbClr val="171717"/>
                </a:solidFill>
                <a:latin typeface="Paperlogy 7 Bold"/>
                <a:ea typeface="Paperlogy 7 Bold"/>
                <a:cs typeface="Paperlogy 7 Bold"/>
              </a:rPr>
              <a:t>시스템 - 보스 제약 (이어서)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85800" y="1143000"/>
            <a:ext cx="10817352" cy="0"/>
          </a:xfrm>
          <a:prstGeom prst="line">
            <a:avLst/>
          </a:prstGeom>
          <a:ln w="12700">
            <a:solidFill>
              <a:srgbClr val="1717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0881360" y="6419088"/>
            <a:ext cx="62179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44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335024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제약 12종 (2/2)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85800" y="1664207"/>
          <a:ext cx="10817350" cy="1728216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2612239"/>
                <a:gridCol w="3349025"/>
                <a:gridCol w="4856086"/>
              </a:tblGrid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이름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축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효과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높은 목표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target_mul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목표 ×1.25 (임시값)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그늘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color_kill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먹색 칸 점수 0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민짜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ring_kill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트리플 배수 1로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홀대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odd_mul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홀수 칸 값 0.5배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돌린 판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spin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판이 7칸 돌아간다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빈손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reward_mul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클리어 보상만 0배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85800" y="6400800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관련  판  ·  목표 점수  ·  리그  ·  딱지  ·  런 구조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02336"/>
            <a:ext cx="10817352" cy="6126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25">
                <a:solidFill>
                  <a:srgbClr val="171717"/>
                </a:solidFill>
                <a:latin typeface="Paperlogy 7 Bold"/>
                <a:ea typeface="Paperlogy 7 Bold"/>
                <a:cs typeface="Paperlogy 7 Bold"/>
              </a:rPr>
              <a:t>재미 요소 - 코어 루프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85800" y="1143000"/>
            <a:ext cx="10817352" cy="0"/>
          </a:xfrm>
          <a:prstGeom prst="line">
            <a:avLst/>
          </a:prstGeom>
          <a:ln w="12700">
            <a:solidFill>
              <a:srgbClr val="1717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0881360" y="6419088"/>
            <a:ext cx="62179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45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335024"/>
            <a:ext cx="1081735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>
                <a:solidFill>
                  <a:srgbClr val="171717"/>
                </a:solidFill>
                <a:latin typeface="Paperlogy 6 SemiBold"/>
                <a:ea typeface="Paperlogy 6 SemiBold"/>
                <a:cs typeface="Paperlogy 6 SemiBold"/>
              </a:rPr>
              <a:t>24판 · 판마다 목표 점수를 다트로 넘긴다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1847088"/>
            <a:ext cx="1680971" cy="914400"/>
          </a:xfrm>
          <a:prstGeom prst="roundRect">
            <a:avLst/>
          </a:prstGeom>
          <a:noFill/>
          <a:ln w="9525">
            <a:solidFill>
              <a:srgbClr val="C9CC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200">
                <a:solidFill>
                  <a:srgbClr val="171717"/>
                </a:solidFill>
                <a:latin typeface="Paperlogy 6 SemiBold"/>
                <a:ea typeface="Paperlogy 6 SemiBold"/>
                <a:cs typeface="Paperlogy 6 SemiBold"/>
              </a:rPr>
              <a:t>판 선택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2385059" y="2304288"/>
            <a:ext cx="109728" cy="0"/>
          </a:xfrm>
          <a:prstGeom prst="line">
            <a:avLst/>
          </a:prstGeom>
          <a:ln w="12700">
            <a:solidFill>
              <a:srgbClr val="168DA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2513075" y="1847088"/>
            <a:ext cx="1680971" cy="914400"/>
          </a:xfrm>
          <a:prstGeom prst="roundRect">
            <a:avLst/>
          </a:prstGeom>
          <a:noFill/>
          <a:ln w="9525">
            <a:solidFill>
              <a:srgbClr val="C9CC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200">
                <a:solidFill>
                  <a:srgbClr val="171717"/>
                </a:solidFill>
                <a:latin typeface="Paperlogy 6 SemiBold"/>
                <a:ea typeface="Paperlogy 6 SemiBold"/>
                <a:cs typeface="Paperlogy 6 SemiBold"/>
              </a:rPr>
              <a:t>보스면 제약 1장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4212335" y="2304288"/>
            <a:ext cx="109729" cy="0"/>
          </a:xfrm>
          <a:prstGeom prst="line">
            <a:avLst/>
          </a:prstGeom>
          <a:ln w="12700">
            <a:solidFill>
              <a:srgbClr val="168DA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4340351" y="1847088"/>
            <a:ext cx="1680971" cy="914400"/>
          </a:xfrm>
          <a:prstGeom prst="roundRect">
            <a:avLst/>
          </a:prstGeom>
          <a:noFill/>
          <a:ln w="9525">
            <a:solidFill>
              <a:srgbClr val="C9CC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200">
                <a:solidFill>
                  <a:srgbClr val="171717"/>
                </a:solidFill>
                <a:latin typeface="Paperlogy 6 SemiBold"/>
                <a:ea typeface="Paperlogy 6 SemiBold"/>
                <a:cs typeface="Paperlogy 6 SemiBold"/>
              </a:rPr>
              <a:t>다트 6발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6039611" y="2304288"/>
            <a:ext cx="109729" cy="0"/>
          </a:xfrm>
          <a:prstGeom prst="line">
            <a:avLst/>
          </a:prstGeom>
          <a:ln w="12700">
            <a:solidFill>
              <a:srgbClr val="168DA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6167627" y="1847088"/>
            <a:ext cx="1680971" cy="914400"/>
          </a:xfrm>
          <a:prstGeom prst="roundRect">
            <a:avLst/>
          </a:prstGeom>
          <a:noFill/>
          <a:ln w="9525">
            <a:solidFill>
              <a:srgbClr val="C9CC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200">
                <a:solidFill>
                  <a:srgbClr val="171717"/>
                </a:solidFill>
                <a:latin typeface="Paperlogy 6 SemiBold"/>
                <a:ea typeface="Paperlogy 6 SemiBold"/>
                <a:cs typeface="Paperlogy 6 SemiBold"/>
              </a:rPr>
              <a:t>골드 정산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7866887" y="2304288"/>
            <a:ext cx="109728" cy="0"/>
          </a:xfrm>
          <a:prstGeom prst="line">
            <a:avLst/>
          </a:prstGeom>
          <a:ln w="12700">
            <a:solidFill>
              <a:srgbClr val="168DA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7994903" y="1847088"/>
            <a:ext cx="1680971" cy="914400"/>
          </a:xfrm>
          <a:prstGeom prst="roundRect">
            <a:avLst/>
          </a:prstGeom>
          <a:noFill/>
          <a:ln w="9525">
            <a:solidFill>
              <a:srgbClr val="C9CC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200">
                <a:solidFill>
                  <a:srgbClr val="171717"/>
                </a:solidFill>
                <a:latin typeface="Paperlogy 6 SemiBold"/>
                <a:ea typeface="Paperlogy 6 SemiBold"/>
                <a:cs typeface="Paperlogy 6 SemiBold"/>
              </a:rPr>
              <a:t>상점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9694163" y="2304288"/>
            <a:ext cx="109729" cy="0"/>
          </a:xfrm>
          <a:prstGeom prst="line">
            <a:avLst/>
          </a:prstGeom>
          <a:ln w="12700">
            <a:solidFill>
              <a:srgbClr val="168DA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9822179" y="1847088"/>
            <a:ext cx="1680971" cy="914400"/>
          </a:xfrm>
          <a:prstGeom prst="roundRect">
            <a:avLst/>
          </a:prstGeom>
          <a:noFill/>
          <a:ln w="9525">
            <a:solidFill>
              <a:srgbClr val="C9CC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200">
                <a:solidFill>
                  <a:srgbClr val="171717"/>
                </a:solidFill>
                <a:latin typeface="Paperlogy 6 SemiBold"/>
                <a:ea typeface="Paperlogy 6 SemiBold"/>
                <a:cs typeface="Paperlogy 6 SemiBold"/>
              </a:rPr>
              <a:t>다음 판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3044952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한 런의 크기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685800" y="3374136"/>
          <a:ext cx="10817352" cy="1696212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2011680"/>
                <a:gridCol w="8805672"/>
              </a:tblGrid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판 수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24판 = 8앤티 × 3판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목표 점수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25 → 8,000 (흰 리그)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기본 다트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6발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스티커 슬롯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5칸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소비 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2개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시작 골드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4G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리그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8단 — 흰에서 검정까지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19" name="TextBox 18"/>
          <p:cNvSpPr txBox="1"/>
          <p:nvPr/>
        </p:nvSpPr>
        <p:spPr>
          <a:xfrm>
            <a:off x="685800" y="6400800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관련  런 구조  ·  앤티  ·  판  ·  투척 흐름  ·  화면 전이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02336"/>
            <a:ext cx="10817352" cy="6126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25">
                <a:solidFill>
                  <a:srgbClr val="171717"/>
                </a:solidFill>
                <a:latin typeface="Paperlogy 7 Bold"/>
                <a:ea typeface="Paperlogy 7 Bold"/>
                <a:cs typeface="Paperlogy 7 Bold"/>
              </a:rPr>
              <a:t>재미 요소 - 코어 루프 (이어서)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85800" y="1143000"/>
            <a:ext cx="10817352" cy="0"/>
          </a:xfrm>
          <a:prstGeom prst="line">
            <a:avLst/>
          </a:prstGeom>
          <a:ln w="12700">
            <a:solidFill>
              <a:srgbClr val="1717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0881360" y="6419088"/>
            <a:ext cx="62179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46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335024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판 셋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85800" y="1664207"/>
          <a:ext cx="10817350" cy="1001268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1613295"/>
                <a:gridCol w="2068327"/>
                <a:gridCol w="2068327"/>
                <a:gridCol w="2068327"/>
                <a:gridCol w="2999074"/>
              </a:tblGrid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판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목표 배수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보상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건너뛰기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제약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작은 판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×1.00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3G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가능 → 딱지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없음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큰 판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×1.50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4G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가능 → 딱지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없음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보스 판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×2.00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5G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불가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3장 중 1장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85800" y="6400800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관련  런 구조  ·  앤티  ·  판  ·  투척 흐름  ·  화면 전이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02336"/>
            <a:ext cx="10817352" cy="6126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25">
                <a:solidFill>
                  <a:srgbClr val="171717"/>
                </a:solidFill>
                <a:latin typeface="Paperlogy 7 Bold"/>
                <a:ea typeface="Paperlogy 7 Bold"/>
                <a:cs typeface="Paperlogy 7 Bold"/>
              </a:rPr>
              <a:t>재미 요소 - 손의 재미 · 조준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85800" y="1143000"/>
            <a:ext cx="10817352" cy="0"/>
          </a:xfrm>
          <a:prstGeom prst="line">
            <a:avLst/>
          </a:prstGeom>
          <a:ln w="12700">
            <a:solidFill>
              <a:srgbClr val="1717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0881360" y="6419088"/>
            <a:ext cx="62179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47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335024"/>
            <a:ext cx="1081735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>
                <a:solidFill>
                  <a:srgbClr val="171717"/>
                </a:solidFill>
                <a:latin typeface="Paperlogy 6 SemiBold"/>
                <a:ea typeface="Paperlogy 6 SemiBold"/>
                <a:cs typeface="Paperlogy 6 SemiBold"/>
              </a:rPr>
              <a:t>첫 클릭이 높이(Y), 둘째 클릭이 좌우(X)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847088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한 발의 순서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176272"/>
            <a:ext cx="5202936" cy="6035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</a:pPr>
            <a:r>
              <a:rPr sz="1200">
                <a:solidFill>
                  <a:srgbClr val="168DA8"/>
                </a:solidFill>
                <a:latin typeface="Paperlogy 7 Bold"/>
                <a:ea typeface="Paperlogy 7 Bold"/>
                <a:cs typeface="Paperlogy 7 Bold"/>
              </a:rPr>
              <a:t>01  </a:t>
            </a:r>
            <a:r>
              <a:rPr sz="1200">
                <a:solidFill>
                  <a:srgbClr val="171717"/>
                </a:solidFill>
                <a:latin typeface="Paperlogy 6 SemiBold"/>
                <a:ea typeface="Paperlogy 6 SemiBold"/>
                <a:cs typeface="Paperlogy 6 SemiBold"/>
              </a:rPr>
              <a:t>다트 선택</a:t>
            </a:r>
          </a:p>
          <a:p>
            <a:pPr>
              <a:lnSpc>
                <a:spcPct val="120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벽의 자루 다섯 중 하나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685800" y="2743200"/>
            <a:ext cx="5202936" cy="0"/>
          </a:xfrm>
          <a:prstGeom prst="line">
            <a:avLst/>
          </a:prstGeom>
          <a:ln w="9525">
            <a:solidFill>
              <a:srgbClr val="D8D8D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685800" y="2816352"/>
            <a:ext cx="5202936" cy="6035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</a:pPr>
            <a:r>
              <a:rPr sz="1200">
                <a:solidFill>
                  <a:srgbClr val="168DA8"/>
                </a:solidFill>
                <a:latin typeface="Paperlogy 7 Bold"/>
                <a:ea typeface="Paperlogy 7 Bold"/>
                <a:cs typeface="Paperlogy 7 Bold"/>
              </a:rPr>
              <a:t>02  </a:t>
            </a:r>
            <a:r>
              <a:rPr sz="1200">
                <a:solidFill>
                  <a:srgbClr val="171717"/>
                </a:solidFill>
                <a:latin typeface="Paperlogy 6 SemiBold"/>
                <a:ea typeface="Paperlogy 6 SemiBold"/>
                <a:cs typeface="Paperlogy 6 SemiBold"/>
              </a:rPr>
              <a:t>첫 클릭</a:t>
            </a:r>
          </a:p>
          <a:p>
            <a:pPr>
              <a:lnSpc>
                <a:spcPct val="120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높이(Y) 잠금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685800" y="3383280"/>
            <a:ext cx="5202936" cy="0"/>
          </a:xfrm>
          <a:prstGeom prst="line">
            <a:avLst/>
          </a:prstGeom>
          <a:ln w="9525">
            <a:solidFill>
              <a:srgbClr val="D8D8D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685800" y="3456432"/>
            <a:ext cx="5202936" cy="6035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</a:pPr>
            <a:r>
              <a:rPr sz="1200">
                <a:solidFill>
                  <a:srgbClr val="168DA8"/>
                </a:solidFill>
                <a:latin typeface="Paperlogy 7 Bold"/>
                <a:ea typeface="Paperlogy 7 Bold"/>
                <a:cs typeface="Paperlogy 7 Bold"/>
              </a:rPr>
              <a:t>03  </a:t>
            </a:r>
            <a:r>
              <a:rPr sz="1200">
                <a:solidFill>
                  <a:srgbClr val="171717"/>
                </a:solidFill>
                <a:latin typeface="Paperlogy 6 SemiBold"/>
                <a:ea typeface="Paperlogy 6 SemiBold"/>
                <a:cs typeface="Paperlogy 6 SemiBold"/>
              </a:rPr>
              <a:t>둘째 클릭</a:t>
            </a:r>
          </a:p>
          <a:p>
            <a:pPr>
              <a:lnSpc>
                <a:spcPct val="120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좌우(X) 잠금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685800" y="4023359"/>
            <a:ext cx="5202936" cy="0"/>
          </a:xfrm>
          <a:prstGeom prst="line">
            <a:avLst/>
          </a:prstGeom>
          <a:ln w="9525">
            <a:solidFill>
              <a:srgbClr val="D8D8D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6300216" y="2176272"/>
            <a:ext cx="5202936" cy="6035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</a:pPr>
            <a:r>
              <a:rPr sz="1200">
                <a:solidFill>
                  <a:srgbClr val="168DA8"/>
                </a:solidFill>
                <a:latin typeface="Paperlogy 7 Bold"/>
                <a:ea typeface="Paperlogy 7 Bold"/>
                <a:cs typeface="Paperlogy 7 Bold"/>
              </a:rPr>
              <a:t>04  </a:t>
            </a:r>
            <a:r>
              <a:rPr sz="1200">
                <a:solidFill>
                  <a:srgbClr val="171717"/>
                </a:solidFill>
                <a:latin typeface="Paperlogy 6 SemiBold"/>
                <a:ea typeface="Paperlogy 6 SemiBold"/>
                <a:cs typeface="Paperlogy 6 SemiBold"/>
              </a:rPr>
              <a:t>확인</a:t>
            </a:r>
          </a:p>
          <a:p>
            <a:pPr>
              <a:lnSpc>
                <a:spcPct val="120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0.45초 뒤 발사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6300216" y="2743200"/>
            <a:ext cx="5202936" cy="0"/>
          </a:xfrm>
          <a:prstGeom prst="line">
            <a:avLst/>
          </a:prstGeom>
          <a:ln w="9525">
            <a:solidFill>
              <a:srgbClr val="D8D8D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6300216" y="2816352"/>
            <a:ext cx="5202936" cy="6035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</a:pPr>
            <a:r>
              <a:rPr sz="1200">
                <a:solidFill>
                  <a:srgbClr val="168DA8"/>
                </a:solidFill>
                <a:latin typeface="Paperlogy 7 Bold"/>
                <a:ea typeface="Paperlogy 7 Bold"/>
                <a:cs typeface="Paperlogy 7 Bold"/>
              </a:rPr>
              <a:t>05  </a:t>
            </a:r>
            <a:r>
              <a:rPr sz="1200">
                <a:solidFill>
                  <a:srgbClr val="171717"/>
                </a:solidFill>
                <a:latin typeface="Paperlogy 6 SemiBold"/>
                <a:ea typeface="Paperlogy 6 SemiBold"/>
                <a:cs typeface="Paperlogy 6 SemiBold"/>
              </a:rPr>
              <a:t>비행</a:t>
            </a:r>
          </a:p>
          <a:p>
            <a:pPr>
              <a:lnSpc>
                <a:spcPct val="120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0.20초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6300216" y="3383280"/>
            <a:ext cx="5202936" cy="0"/>
          </a:xfrm>
          <a:prstGeom prst="line">
            <a:avLst/>
          </a:prstGeom>
          <a:ln w="9525">
            <a:solidFill>
              <a:srgbClr val="D8D8D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6300216" y="3456432"/>
            <a:ext cx="5202936" cy="6035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</a:pPr>
            <a:r>
              <a:rPr sz="1200">
                <a:solidFill>
                  <a:srgbClr val="168DA8"/>
                </a:solidFill>
                <a:latin typeface="Paperlogy 7 Bold"/>
                <a:ea typeface="Paperlogy 7 Bold"/>
                <a:cs typeface="Paperlogy 7 Bold"/>
              </a:rPr>
              <a:t>06  </a:t>
            </a:r>
            <a:r>
              <a:rPr sz="1200">
                <a:solidFill>
                  <a:srgbClr val="171717"/>
                </a:solidFill>
                <a:latin typeface="Paperlogy 6 SemiBold"/>
                <a:ea typeface="Paperlogy 6 SemiBold"/>
                <a:cs typeface="Paperlogy 6 SemiBold"/>
              </a:rPr>
              <a:t>정산</a:t>
            </a:r>
          </a:p>
          <a:p>
            <a:pPr>
              <a:lnSpc>
                <a:spcPct val="120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한 단계 0.34초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6300216" y="4023359"/>
            <a:ext cx="5202936" cy="0"/>
          </a:xfrm>
          <a:prstGeom prst="line">
            <a:avLst/>
          </a:prstGeom>
          <a:ln w="9525">
            <a:solidFill>
              <a:srgbClr val="D8D8D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685800" y="4251959"/>
            <a:ext cx="7909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조준 게이지를 미는 것</a:t>
            </a:r>
          </a:p>
        </p:txBody>
      </p:sp>
      <p:graphicFrame>
        <p:nvGraphicFramePr>
          <p:cNvPr id="20" name="Table 19"/>
          <p:cNvGraphicFramePr>
            <a:graphicFrameLocks noGrp="1"/>
          </p:cNvGraphicFramePr>
          <p:nvPr/>
        </p:nvGraphicFramePr>
        <p:xfrm>
          <a:off x="685800" y="4581144"/>
          <a:ext cx="7909559" cy="1485900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1910048"/>
                <a:gridCol w="2448780"/>
                <a:gridCol w="3550731"/>
              </a:tblGrid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손댄 곳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조준 게이지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비고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기본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속도 0.7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진폭 110px · 판 98px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[ ] 키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0.15 ~ 4.0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게임 중 조절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무거운 다트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×0.55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배수 −1 · 5G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가벼운 다트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×1.90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배수 +3 · 6G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역풍(제약)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×2.00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보스 판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21" name="TextBox 20"/>
          <p:cNvSpPr txBox="1"/>
          <p:nvPr/>
        </p:nvSpPr>
        <p:spPr>
          <a:xfrm>
            <a:off x="685800" y="6400800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관련  조준  ·  조준 방식  ·  다트  ·  빗나감  ·  착탄 영역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02336"/>
            <a:ext cx="10817352" cy="6126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25">
                <a:solidFill>
                  <a:srgbClr val="171717"/>
                </a:solidFill>
                <a:latin typeface="Paperlogy 7 Bold"/>
                <a:ea typeface="Paperlogy 7 Bold"/>
                <a:cs typeface="Paperlogy 7 Bold"/>
              </a:rPr>
              <a:t>재미 요소 - 손의 재미 · 조준 (이어서)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85800" y="1143000"/>
            <a:ext cx="10817352" cy="0"/>
          </a:xfrm>
          <a:prstGeom prst="line">
            <a:avLst/>
          </a:prstGeom>
          <a:ln w="12700">
            <a:solidFill>
              <a:srgbClr val="1717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0881360" y="6419088"/>
            <a:ext cx="62179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48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335024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조준 게이지를 미는 것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85800" y="1664207"/>
          <a:ext cx="10817350" cy="1243584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2612239"/>
                <a:gridCol w="3349025"/>
                <a:gridCol w="4856086"/>
              </a:tblGrid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손댄 곳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조준 게이지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비고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안개(제약)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—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조준선이 안 보인다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침착(설비)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×0.85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10G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더 침착(설비)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×0.85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둘 겹치면 ×0.7225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잠김 반경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—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119.6px = 98 × 1.22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85800" y="3081527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빗나감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85800" y="3410711"/>
          <a:ext cx="10817352" cy="1211580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2011680"/>
                <a:gridCol w="8805672"/>
              </a:tblGrid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기본 빗나감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37.68%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기본 명중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62.30%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자석 다트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5.52%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판벌이(개조)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24.60%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보드 아웃 강화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Lv당 점수 +6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85800" y="6400800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관련  조준  ·  조준 방식  ·  다트  ·  빗나감  ·  착탄 영역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02336"/>
            <a:ext cx="10817352" cy="6126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25">
                <a:solidFill>
                  <a:srgbClr val="171717"/>
                </a:solidFill>
                <a:latin typeface="Paperlogy 7 Bold"/>
                <a:ea typeface="Paperlogy 7 Bold"/>
                <a:cs typeface="Paperlogy 7 Bold"/>
              </a:rPr>
              <a:t>재미 요소 - 머리의 재미 · 조합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85800" y="1143000"/>
            <a:ext cx="10817352" cy="0"/>
          </a:xfrm>
          <a:prstGeom prst="line">
            <a:avLst/>
          </a:prstGeom>
          <a:ln w="12700">
            <a:solidFill>
              <a:srgbClr val="1717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0881360" y="6419088"/>
            <a:ext cx="62179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49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335024"/>
            <a:ext cx="1081735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>
                <a:solidFill>
                  <a:srgbClr val="171717"/>
                </a:solidFill>
                <a:latin typeface="Paperlogy 6 SemiBold"/>
                <a:ea typeface="Paperlogy 6 SemiBold"/>
                <a:cs typeface="Paperlogy 6 SemiBold"/>
              </a:rPr>
              <a:t>스티커 99장 · 조건 39가지를 랙 5칸에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847088"/>
            <a:ext cx="3749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고를 수 있는 것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85800" y="2176272"/>
          <a:ext cx="3749040" cy="1696212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1325880"/>
                <a:gridCol w="2423160"/>
              </a:tblGrid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스티커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99장 (활성)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등급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일반 49 · 희귀 26 · 레어 24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조건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39가지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랙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5칸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개조 · 다트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8종 · 5종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제약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12종 — 보스 판 3장 중 1장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영역 강화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5트랙 × 8Lv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4937760" y="1847088"/>
            <a:ext cx="3749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조건이 서는 빈도 — 36만 발 실측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4937760" y="2176272"/>
          <a:ext cx="3749038" cy="3424428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905340"/>
                <a:gridCol w="1160693"/>
                <a:gridCol w="1683005"/>
              </a:tblGrid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조건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발동률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보기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</a:tr>
              <a:tr h="484632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모든 다트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62.30%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기본기 점수 +25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484632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직전과 다른 섹터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60.75%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변덕쟁이 점수 +22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빗나가면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37.70%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빈손 점수 +30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484632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왼쪽 절반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31.08%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좌익수 배수 +2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먹 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30.58%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검은 쐐기 점수 +50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484632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크림 칸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30.54%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지정색 증폭기 A 배수 +3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더블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11.79%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칼끝 배수 ×2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트리플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7.61%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삼중고 배수 +4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불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1.18%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명중왕 배수 +8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85800" y="6400800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관련  스티커  ·  조건  ·  효과와 등급  ·  랙  ·  개조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02336"/>
            <a:ext cx="10817352" cy="6126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25">
                <a:solidFill>
                  <a:srgbClr val="171717"/>
                </a:solidFill>
                <a:latin typeface="Paperlogy 7 Bold"/>
                <a:ea typeface="Paperlogy 7 Bold"/>
                <a:cs typeface="Paperlogy 7 Bold"/>
              </a:rPr>
              <a:t>재미 요소 - 머리의 재미 · 조합 (이어서)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85800" y="1143000"/>
            <a:ext cx="10817352" cy="0"/>
          </a:xfrm>
          <a:prstGeom prst="line">
            <a:avLst/>
          </a:prstGeom>
          <a:ln w="12700">
            <a:solidFill>
              <a:srgbClr val="1717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0881360" y="6419088"/>
            <a:ext cx="62179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50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335024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패턴 조건 — 「맞힌 발부터」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85800" y="1664207"/>
          <a:ext cx="10817350" cy="2212848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2612239"/>
                <a:gridCol w="3349025"/>
                <a:gridCol w="4856086"/>
              </a:tblGrid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조건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발동률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보기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다른 영역 2종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30.51%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이종 영역 관측 ×2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다른 숫자 세 곳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26.51%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분산의 질서 ×3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같은 영역 3회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15.37%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영역 부족 ×2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같은 숫자 2회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7.67%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두 발의 결속 ×2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같은 숫자 3회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0.26%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세 발의 결속 ×3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네 영역 모두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0.19%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네 영역 화분 ×3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같은 숫자 4회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0.01%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네 발의 가족 ×4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트리플 맞힌 뒤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10.60%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손맛 점수 +30 (유일한 「뒤」)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85800" y="6400800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관련  스티커  ·  조건  ·  효과와 등급  ·  랙  ·  개조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02336"/>
            <a:ext cx="10817352" cy="6126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25">
                <a:solidFill>
                  <a:srgbClr val="171717"/>
                </a:solidFill>
                <a:latin typeface="Paperlogy 7 Bold"/>
                <a:ea typeface="Paperlogy 7 Bold"/>
                <a:cs typeface="Paperlogy 7 Bold"/>
              </a:rPr>
              <a:t>재미 요소 - 발동 순서 설계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85800" y="1143000"/>
            <a:ext cx="10817352" cy="0"/>
          </a:xfrm>
          <a:prstGeom prst="line">
            <a:avLst/>
          </a:prstGeom>
          <a:ln w="12700">
            <a:solidFill>
              <a:srgbClr val="1717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0881360" y="6419088"/>
            <a:ext cx="62179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51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335024"/>
            <a:ext cx="1081735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>
                <a:solidFill>
                  <a:srgbClr val="171717"/>
                </a:solidFill>
                <a:latin typeface="Paperlogy 6 SemiBold"/>
                <a:ea typeface="Paperlogy 6 SemiBold"/>
                <a:cs typeface="Paperlogy 6 SemiBold"/>
              </a:rPr>
              <a:t>총점 = 칸 값 × 배수 · 랙 왼쪽부터 낸다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847088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정산 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176272"/>
            <a:ext cx="5202936" cy="6035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</a:pPr>
            <a:r>
              <a:rPr sz="1200">
                <a:solidFill>
                  <a:srgbClr val="168DA8"/>
                </a:solidFill>
                <a:latin typeface="Paperlogy 7 Bold"/>
                <a:ea typeface="Paperlogy 7 Bold"/>
                <a:cs typeface="Paperlogy 7 Bold"/>
              </a:rPr>
              <a:t>01  </a:t>
            </a:r>
            <a:r>
              <a:rPr sz="1200">
                <a:solidFill>
                  <a:srgbClr val="171717"/>
                </a:solidFill>
                <a:latin typeface="Paperlogy 6 SemiBold"/>
                <a:ea typeface="Paperlogy 6 SemiBold"/>
                <a:cs typeface="Paperlogy 6 SemiBold"/>
              </a:rPr>
              <a:t>칸 값</a:t>
            </a:r>
          </a:p>
          <a:p>
            <a:pPr>
              <a:lnSpc>
                <a:spcPct val="120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점수 = 칸 값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685800" y="2743200"/>
            <a:ext cx="5202936" cy="0"/>
          </a:xfrm>
          <a:prstGeom prst="line">
            <a:avLst/>
          </a:prstGeom>
          <a:ln w="9525">
            <a:solidFill>
              <a:srgbClr val="D8D8D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685800" y="2816352"/>
            <a:ext cx="5202936" cy="6035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</a:pPr>
            <a:r>
              <a:rPr sz="1200">
                <a:solidFill>
                  <a:srgbClr val="168DA8"/>
                </a:solidFill>
                <a:latin typeface="Paperlogy 7 Bold"/>
                <a:ea typeface="Paperlogy 7 Bold"/>
                <a:cs typeface="Paperlogy 7 Bold"/>
              </a:rPr>
              <a:t>02  </a:t>
            </a:r>
            <a:r>
              <a:rPr sz="1200">
                <a:solidFill>
                  <a:srgbClr val="171717"/>
                </a:solidFill>
                <a:latin typeface="Paperlogy 6 SemiBold"/>
                <a:ea typeface="Paperlogy 6 SemiBold"/>
                <a:cs typeface="Paperlogy 6 SemiBold"/>
              </a:rPr>
              <a:t>영역 배수</a:t>
            </a:r>
          </a:p>
          <a:p>
            <a:pPr>
              <a:lnSpc>
                <a:spcPct val="120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배수 = 싱글1 더블2 트리플3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685800" y="3383280"/>
            <a:ext cx="5202936" cy="0"/>
          </a:xfrm>
          <a:prstGeom prst="line">
            <a:avLst/>
          </a:prstGeom>
          <a:ln w="9525">
            <a:solidFill>
              <a:srgbClr val="D8D8D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685800" y="3456432"/>
            <a:ext cx="5202936" cy="6035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</a:pPr>
            <a:r>
              <a:rPr sz="1200">
                <a:solidFill>
                  <a:srgbClr val="168DA8"/>
                </a:solidFill>
                <a:latin typeface="Paperlogy 7 Bold"/>
                <a:ea typeface="Paperlogy 7 Bold"/>
                <a:cs typeface="Paperlogy 7 Bold"/>
              </a:rPr>
              <a:t>03  </a:t>
            </a:r>
            <a:r>
              <a:rPr sz="1200">
                <a:solidFill>
                  <a:srgbClr val="171717"/>
                </a:solidFill>
                <a:latin typeface="Paperlogy 6 SemiBold"/>
                <a:ea typeface="Paperlogy 6 SemiBold"/>
                <a:cs typeface="Paperlogy 6 SemiBold"/>
              </a:rPr>
              <a:t>랙 왼쪽부터</a:t>
            </a:r>
          </a:p>
          <a:p>
            <a:pPr>
              <a:lnSpc>
                <a:spcPct val="120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선 스티커를 차례로 낸다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685800" y="4023359"/>
            <a:ext cx="5202936" cy="0"/>
          </a:xfrm>
          <a:prstGeom prst="line">
            <a:avLst/>
          </a:prstGeom>
          <a:ln w="9525">
            <a:solidFill>
              <a:srgbClr val="D8D8D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685800" y="4096511"/>
            <a:ext cx="5202936" cy="6035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</a:pPr>
            <a:r>
              <a:rPr sz="1200">
                <a:solidFill>
                  <a:srgbClr val="168DA8"/>
                </a:solidFill>
                <a:latin typeface="Paperlogy 7 Bold"/>
                <a:ea typeface="Paperlogy 7 Bold"/>
                <a:cs typeface="Paperlogy 7 Bold"/>
              </a:rPr>
              <a:t>04  </a:t>
            </a:r>
            <a:r>
              <a:rPr sz="1200">
                <a:solidFill>
                  <a:srgbClr val="171717"/>
                </a:solidFill>
                <a:latin typeface="Paperlogy 6 SemiBold"/>
                <a:ea typeface="Paperlogy 6 SemiBold"/>
                <a:cs typeface="Paperlogy 6 SemiBold"/>
              </a:rPr>
              <a:t>점수 갈래</a:t>
            </a:r>
          </a:p>
          <a:p>
            <a:pPr>
              <a:lnSpc>
                <a:spcPct val="120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점수에 더한다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685800" y="4663440"/>
            <a:ext cx="5202936" cy="0"/>
          </a:xfrm>
          <a:prstGeom prst="line">
            <a:avLst/>
          </a:prstGeom>
          <a:ln w="9525">
            <a:solidFill>
              <a:srgbClr val="D8D8D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6300216" y="2176272"/>
            <a:ext cx="5202936" cy="6035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</a:pPr>
            <a:r>
              <a:rPr sz="1200">
                <a:solidFill>
                  <a:srgbClr val="168DA8"/>
                </a:solidFill>
                <a:latin typeface="Paperlogy 7 Bold"/>
                <a:ea typeface="Paperlogy 7 Bold"/>
                <a:cs typeface="Paperlogy 7 Bold"/>
              </a:rPr>
              <a:t>05  </a:t>
            </a:r>
            <a:r>
              <a:rPr sz="1200">
                <a:solidFill>
                  <a:srgbClr val="171717"/>
                </a:solidFill>
                <a:latin typeface="Paperlogy 6 SemiBold"/>
                <a:ea typeface="Paperlogy 6 SemiBold"/>
                <a:cs typeface="Paperlogy 6 SemiBold"/>
              </a:rPr>
              <a:t>배수 갈래</a:t>
            </a:r>
          </a:p>
          <a:p>
            <a:pPr>
              <a:lnSpc>
                <a:spcPct val="120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배수에 더한다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6300216" y="2743200"/>
            <a:ext cx="5202936" cy="0"/>
          </a:xfrm>
          <a:prstGeom prst="line">
            <a:avLst/>
          </a:prstGeom>
          <a:ln w="9525">
            <a:solidFill>
              <a:srgbClr val="D8D8D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6300216" y="2816352"/>
            <a:ext cx="5202936" cy="6035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</a:pPr>
            <a:r>
              <a:rPr sz="1200">
                <a:solidFill>
                  <a:srgbClr val="168DA8"/>
                </a:solidFill>
                <a:latin typeface="Paperlogy 7 Bold"/>
                <a:ea typeface="Paperlogy 7 Bold"/>
                <a:cs typeface="Paperlogy 7 Bold"/>
              </a:rPr>
              <a:t>06  </a:t>
            </a:r>
            <a:r>
              <a:rPr sz="1200">
                <a:solidFill>
                  <a:srgbClr val="171717"/>
                </a:solidFill>
                <a:latin typeface="Paperlogy 6 SemiBold"/>
                <a:ea typeface="Paperlogy 6 SemiBold"/>
                <a:cs typeface="Paperlogy 6 SemiBold"/>
              </a:rPr>
              <a:t>×배수 갈래</a:t>
            </a:r>
          </a:p>
          <a:p>
            <a:pPr>
              <a:lnSpc>
                <a:spcPct val="120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배수에 곱한다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6300216" y="3383280"/>
            <a:ext cx="5202936" cy="0"/>
          </a:xfrm>
          <a:prstGeom prst="line">
            <a:avLst/>
          </a:prstGeom>
          <a:ln w="9525">
            <a:solidFill>
              <a:srgbClr val="D8D8D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6300216" y="3456432"/>
            <a:ext cx="5202936" cy="6035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</a:pPr>
            <a:r>
              <a:rPr sz="1200">
                <a:solidFill>
                  <a:srgbClr val="168DA8"/>
                </a:solidFill>
                <a:latin typeface="Paperlogy 7 Bold"/>
                <a:ea typeface="Paperlogy 7 Bold"/>
                <a:cs typeface="Paperlogy 7 Bold"/>
              </a:rPr>
              <a:t>07  </a:t>
            </a:r>
            <a:r>
              <a:rPr sz="1200">
                <a:solidFill>
                  <a:srgbClr val="171717"/>
                </a:solidFill>
                <a:latin typeface="Paperlogy 6 SemiBold"/>
                <a:ea typeface="Paperlogy 6 SemiBold"/>
                <a:cs typeface="Paperlogy 6 SemiBold"/>
              </a:rPr>
              <a:t>총점</a:t>
            </a:r>
          </a:p>
          <a:p>
            <a:pPr>
              <a:lnSpc>
                <a:spcPct val="120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칸 값 × 배수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6300216" y="4023359"/>
            <a:ext cx="5202936" cy="0"/>
          </a:xfrm>
          <a:prstGeom prst="line">
            <a:avLst/>
          </a:prstGeom>
          <a:ln w="9525">
            <a:solidFill>
              <a:srgbClr val="D8D8D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685800" y="4892040"/>
            <a:ext cx="7909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같은 장, 순서만 바꾼다</a:t>
            </a:r>
          </a:p>
        </p:txBody>
      </p:sp>
      <p:graphicFrame>
        <p:nvGraphicFramePr>
          <p:cNvPr id="22" name="Table 21"/>
          <p:cNvGraphicFramePr>
            <a:graphicFrameLocks noGrp="1"/>
          </p:cNvGraphicFramePr>
          <p:nvPr/>
        </p:nvGraphicFramePr>
        <p:xfrm>
          <a:off x="685800" y="5221224"/>
          <a:ext cx="7909558" cy="1001268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1458500"/>
                <a:gridCol w="1869872"/>
                <a:gridCol w="1869872"/>
                <a:gridCol w="2711314"/>
              </a:tblGrid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착탄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랙 순서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배수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총점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더블 20 (40점)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가장자리 → 칼끝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(2+3)×2 = 10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400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더블 20 (40점)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칼끝 → 가장자리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2×2+3 = 7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280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트리플 20 (60점)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삼중고 → 증폭기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(3+4)×2 = 14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840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23" name="TextBox 22"/>
          <p:cNvSpPr txBox="1"/>
          <p:nvPr/>
        </p:nvSpPr>
        <p:spPr>
          <a:xfrm>
            <a:off x="685800" y="6400800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관련  점수 공식  ·  정산 큐  ·  랙  ·  스티커  ·  효과와 등급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02336"/>
            <a:ext cx="10817352" cy="6126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25">
                <a:solidFill>
                  <a:srgbClr val="171717"/>
                </a:solidFill>
                <a:latin typeface="Paperlogy 7 Bold"/>
                <a:ea typeface="Paperlogy 7 Bold"/>
                <a:cs typeface="Paperlogy 7 Bold"/>
              </a:rPr>
              <a:t>재미 요소 - 발동 순서 설계 (이어서)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85800" y="1143000"/>
            <a:ext cx="10817352" cy="0"/>
          </a:xfrm>
          <a:prstGeom prst="line">
            <a:avLst/>
          </a:prstGeom>
          <a:ln w="12700">
            <a:solidFill>
              <a:srgbClr val="1717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0881360" y="6419088"/>
            <a:ext cx="62179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52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335024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같은 장, 순서만 바꾼다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85800" y="1664207"/>
          <a:ext cx="10817350" cy="1001268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1994689"/>
                <a:gridCol w="2557293"/>
                <a:gridCol w="2557293"/>
                <a:gridCol w="3708075"/>
              </a:tblGrid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착탄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랙 순서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배수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총점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트리플 20 (60점)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증폭기 → 삼중고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3×2+4 = 10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600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트리플 20 (60점)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삼중고·기본 → 증폭기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(3+4+4)×2 = 22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1,320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트리플 20 (60점)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증폭기 → 삼중고·기본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3×2+4+4 = 14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840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85800" y="2839212"/>
            <a:ext cx="1081735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순서 바꾸기는 판 위에서도 된다. 정산 큐가 서면 잠긴다.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6400800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관련  점수 공식  ·  정산 큐  ·  랙  ·  스티커  ·  효과와 등급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02336"/>
            <a:ext cx="10817352" cy="6126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25">
                <a:solidFill>
                  <a:srgbClr val="171717"/>
                </a:solidFill>
                <a:latin typeface="Paperlogy 7 Bold"/>
                <a:ea typeface="Paperlogy 7 Bold"/>
                <a:cs typeface="Paperlogy 7 Bold"/>
              </a:rPr>
              <a:t>재미 요소 - 선택의 저울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85800" y="1143000"/>
            <a:ext cx="10817352" cy="0"/>
          </a:xfrm>
          <a:prstGeom prst="line">
            <a:avLst/>
          </a:prstGeom>
          <a:ln w="12700">
            <a:solidFill>
              <a:srgbClr val="1717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0881360" y="6419088"/>
            <a:ext cx="62179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53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335024"/>
            <a:ext cx="1081735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>
                <a:solidFill>
                  <a:srgbClr val="171717"/>
                </a:solidFill>
                <a:latin typeface="Paperlogy 6 SemiBold"/>
                <a:ea typeface="Paperlogy 6 SemiBold"/>
                <a:cs typeface="Paperlogy 6 SemiBold"/>
              </a:rPr>
              <a:t>이자 상한 5G 는 보유 25G 에서 찬다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847088"/>
            <a:ext cx="52029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들어오는 곳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85800" y="2176272"/>
          <a:ext cx="5202936" cy="1211580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1325880"/>
                <a:gridCol w="3877056"/>
              </a:tblGrid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클리어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작은 3 · 큰 4 · 보스 5G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남은 다트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1발당 1G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이자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보유 5G당 1G · 상한 5G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판매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구매가 ÷2 · 최소 2G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딱지 삯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건너뛰면 6G · 앤티 3+ 12G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300216" y="1847088"/>
            <a:ext cx="52029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나가는 곳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300216" y="2176272"/>
          <a:ext cx="5202936" cy="1453896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1325880"/>
                <a:gridCol w="3877056"/>
              </a:tblGrid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일반 스티커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4G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희귀 스티커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7G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레어 스티커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11 ~ 14G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개조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6 ~ 12G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설비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10G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새로고침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무료 1회 뒤 2 · 3 · 4G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85800" y="6400800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관련  골드  ·  이자  ·  상점  ·  딱지  ·  설비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02336"/>
            <a:ext cx="10817352" cy="6126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25">
                <a:solidFill>
                  <a:srgbClr val="171717"/>
                </a:solidFill>
                <a:latin typeface="Paperlogy 7 Bold"/>
                <a:ea typeface="Paperlogy 7 Bold"/>
                <a:cs typeface="Paperlogy 7 Bold"/>
              </a:rPr>
              <a:t>재미 요소 - 선택의 저울 (이어서)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85800" y="1143000"/>
            <a:ext cx="10817352" cy="0"/>
          </a:xfrm>
          <a:prstGeom prst="line">
            <a:avLst/>
          </a:prstGeom>
          <a:ln w="12700">
            <a:solidFill>
              <a:srgbClr val="1717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0881360" y="6419088"/>
            <a:ext cx="62179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54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335024"/>
            <a:ext cx="3749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25G 를 쥐고 무엇을 사나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85800" y="1664207"/>
          <a:ext cx="3749037" cy="3424428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691312"/>
                <a:gridCol w="886297"/>
                <a:gridCol w="886297"/>
                <a:gridCol w="1285131"/>
              </a:tblGrid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산 것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값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잔액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판당 이자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</a:tr>
              <a:tr h="484632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안 산다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—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25G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5G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484632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일반 스티커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4G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21G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4G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484632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희귀 스티커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7G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18G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3G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설비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10G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15G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3G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484632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레어 스티커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11G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14G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2G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484632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개조 판벌이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12G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13G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2G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484632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레어 증폭기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14G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11G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2G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937760" y="1335024"/>
            <a:ext cx="3749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같은 골드를 다른 길로 번다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937760" y="1664207"/>
          <a:ext cx="3749038" cy="3666744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905340"/>
                <a:gridCol w="1160693"/>
                <a:gridCol w="1683005"/>
              </a:tblGrid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갈래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골드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조건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</a:tr>
              <a:tr h="484632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속사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9G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트리플 명중 · 남은 다트 3발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484632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딱지 삯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6G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건너뛰기 · 상점도 건너뛴다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484632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이자 상한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5G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보유 25G 유지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484632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굳은살 + 이자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5G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보유 6G (4 + 1)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후원자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4G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클리어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484632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정산 모듈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4G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라운드마다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484632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남은 다트 3발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3G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목표를 3발에 넘긴다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선취점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1G/발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라운드 첫 다트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85800" y="6400800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관련  골드  ·  이자  ·  상점  ·  딱지  ·  설비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02336"/>
            <a:ext cx="10817352" cy="6126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25">
                <a:solidFill>
                  <a:srgbClr val="171717"/>
                </a:solidFill>
                <a:latin typeface="Paperlogy 7 Bold"/>
                <a:ea typeface="Paperlogy 7 Bold"/>
                <a:cs typeface="Paperlogy 7 Bold"/>
              </a:rPr>
              <a:t>보상 요소 - 골드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85800" y="1143000"/>
            <a:ext cx="10817352" cy="0"/>
          </a:xfrm>
          <a:prstGeom prst="line">
            <a:avLst/>
          </a:prstGeom>
          <a:ln w="12700">
            <a:solidFill>
              <a:srgbClr val="1717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0881360" y="6419088"/>
            <a:ext cx="62179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55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335024"/>
            <a:ext cx="1081735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>
                <a:solidFill>
                  <a:srgbClr val="171717"/>
                </a:solidFill>
                <a:latin typeface="Paperlogy 6 SemiBold"/>
                <a:ea typeface="Paperlogy 6 SemiBold"/>
                <a:cs typeface="Paperlogy 6 SemiBold"/>
              </a:rPr>
              <a:t>런 시작 4G. 정산에서 들어오고 상점에서 나간다.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847088"/>
            <a:ext cx="52029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들어오는 곳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85800" y="2176272"/>
          <a:ext cx="5202936" cy="1696212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1325880"/>
                <a:gridCol w="3877056"/>
              </a:tblGrid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런 시작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4G · 선금 팩 14G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클리어 보상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작은 3 · 큰 4 · 보스 5G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남은 다트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1발당 1G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이자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보유 5G당 1G · 상한 5G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골드 스티커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9장 (정산 7 · 착탄 2)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스티커 판매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표 가격 ÷2 · 하한 2G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딱지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삯 6G · 두둑한 삯 12G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300216" y="1847088"/>
            <a:ext cx="52029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나가는 곳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300216" y="2176272"/>
          <a:ext cx="5202936" cy="969264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1325880"/>
                <a:gridCol w="3877056"/>
              </a:tblGrid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매대 구매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스티커 · 개조 · 다트 · 소비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새로고침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무료 1회 뒤 2G부터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설비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7종 전부 10G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유지비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판마다 3G · 검정 리그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85800" y="6400800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관련  이자  ·  상점  ·  딜러  ·  정산 큐  ·  리그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02336"/>
            <a:ext cx="10817352" cy="6126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25">
                <a:solidFill>
                  <a:srgbClr val="171717"/>
                </a:solidFill>
                <a:latin typeface="Paperlogy 7 Bold"/>
                <a:ea typeface="Paperlogy 7 Bold"/>
                <a:cs typeface="Paperlogy 7 Bold"/>
              </a:rPr>
              <a:t>보상 요소 - 골드 (이어서)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85800" y="1143000"/>
            <a:ext cx="10817352" cy="0"/>
          </a:xfrm>
          <a:prstGeom prst="line">
            <a:avLst/>
          </a:prstGeom>
          <a:ln w="12700">
            <a:solidFill>
              <a:srgbClr val="1717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0881360" y="6419088"/>
            <a:ext cx="62179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56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335024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정산 순서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664207"/>
            <a:ext cx="5202936" cy="6035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</a:pPr>
            <a:r>
              <a:rPr sz="1200">
                <a:solidFill>
                  <a:srgbClr val="168DA8"/>
                </a:solidFill>
                <a:latin typeface="Paperlogy 7 Bold"/>
                <a:ea typeface="Paperlogy 7 Bold"/>
                <a:cs typeface="Paperlogy 7 Bold"/>
              </a:rPr>
              <a:t>01  </a:t>
            </a:r>
            <a:r>
              <a:rPr sz="1200">
                <a:solidFill>
                  <a:srgbClr val="171717"/>
                </a:solidFill>
                <a:latin typeface="Paperlogy 6 SemiBold"/>
                <a:ea typeface="Paperlogy 6 SemiBold"/>
                <a:cs typeface="Paperlogy 6 SemiBold"/>
              </a:rPr>
              <a:t>유지비</a:t>
            </a:r>
          </a:p>
          <a:p>
            <a:pPr>
              <a:lnSpc>
                <a:spcPct val="120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검정 리그 3G. 잔고 0에서 멈춘다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685800" y="2231136"/>
            <a:ext cx="5202936" cy="0"/>
          </a:xfrm>
          <a:prstGeom prst="line">
            <a:avLst/>
          </a:prstGeom>
          <a:ln w="9525">
            <a:solidFill>
              <a:srgbClr val="D8D8D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685800" y="2304287"/>
            <a:ext cx="5202936" cy="6035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</a:pPr>
            <a:r>
              <a:rPr sz="1200">
                <a:solidFill>
                  <a:srgbClr val="168DA8"/>
                </a:solidFill>
                <a:latin typeface="Paperlogy 7 Bold"/>
                <a:ea typeface="Paperlogy 7 Bold"/>
                <a:cs typeface="Paperlogy 7 Bold"/>
              </a:rPr>
              <a:t>02  </a:t>
            </a:r>
            <a:r>
              <a:rPr sz="1200">
                <a:solidFill>
                  <a:srgbClr val="171717"/>
                </a:solidFill>
                <a:latin typeface="Paperlogy 6 SemiBold"/>
                <a:ea typeface="Paperlogy 6 SemiBold"/>
                <a:cs typeface="Paperlogy 6 SemiBold"/>
              </a:rPr>
              <a:t>마모</a:t>
            </a:r>
          </a:p>
          <a:p>
            <a:pPr>
              <a:lnSpc>
                <a:spcPct val="120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삭음 · 확률 파괴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85800" y="2871215"/>
            <a:ext cx="5202936" cy="0"/>
          </a:xfrm>
          <a:prstGeom prst="line">
            <a:avLst/>
          </a:prstGeom>
          <a:ln w="9525">
            <a:solidFill>
              <a:srgbClr val="D8D8D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685800" y="2944368"/>
            <a:ext cx="5202936" cy="6035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</a:pPr>
            <a:r>
              <a:rPr sz="1200">
                <a:solidFill>
                  <a:srgbClr val="168DA8"/>
                </a:solidFill>
                <a:latin typeface="Paperlogy 7 Bold"/>
                <a:ea typeface="Paperlogy 7 Bold"/>
                <a:cs typeface="Paperlogy 7 Bold"/>
              </a:rPr>
              <a:t>03  </a:t>
            </a:r>
            <a:r>
              <a:rPr sz="1200">
                <a:solidFill>
                  <a:srgbClr val="171717"/>
                </a:solidFill>
                <a:latin typeface="Paperlogy 6 SemiBold"/>
                <a:ea typeface="Paperlogy 6 SemiBold"/>
                <a:cs typeface="Paperlogy 6 SemiBold"/>
              </a:rPr>
              <a:t>잔탄 골드</a:t>
            </a:r>
          </a:p>
          <a:p>
            <a:pPr>
              <a:lnSpc>
                <a:spcPct val="120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남은 다트 × 1G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685800" y="3511296"/>
            <a:ext cx="5202936" cy="0"/>
          </a:xfrm>
          <a:prstGeom prst="line">
            <a:avLst/>
          </a:prstGeom>
          <a:ln w="9525">
            <a:solidFill>
              <a:srgbClr val="D8D8D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685800" y="3584447"/>
            <a:ext cx="5202936" cy="6035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</a:pPr>
            <a:r>
              <a:rPr sz="1200">
                <a:solidFill>
                  <a:srgbClr val="168DA8"/>
                </a:solidFill>
                <a:latin typeface="Paperlogy 7 Bold"/>
                <a:ea typeface="Paperlogy 7 Bold"/>
                <a:cs typeface="Paperlogy 7 Bold"/>
              </a:rPr>
              <a:t>04  </a:t>
            </a:r>
            <a:r>
              <a:rPr sz="1200">
                <a:solidFill>
                  <a:srgbClr val="171717"/>
                </a:solidFill>
                <a:latin typeface="Paperlogy 6 SemiBold"/>
                <a:ea typeface="Paperlogy 6 SemiBold"/>
                <a:cs typeface="Paperlogy 6 SemiBold"/>
              </a:rPr>
              <a:t>이자</a:t>
            </a:r>
          </a:p>
          <a:p>
            <a:pPr>
              <a:lnSpc>
                <a:spcPct val="120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지급 전 잔고로 계산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685800" y="4151375"/>
            <a:ext cx="5202936" cy="0"/>
          </a:xfrm>
          <a:prstGeom prst="line">
            <a:avLst/>
          </a:prstGeom>
          <a:ln w="9525">
            <a:solidFill>
              <a:srgbClr val="D8D8D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6300216" y="1664207"/>
            <a:ext cx="5202936" cy="6035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</a:pPr>
            <a:r>
              <a:rPr sz="1200">
                <a:solidFill>
                  <a:srgbClr val="168DA8"/>
                </a:solidFill>
                <a:latin typeface="Paperlogy 7 Bold"/>
                <a:ea typeface="Paperlogy 7 Bold"/>
                <a:cs typeface="Paperlogy 7 Bold"/>
              </a:rPr>
              <a:t>05  </a:t>
            </a:r>
            <a:r>
              <a:rPr sz="1200">
                <a:solidFill>
                  <a:srgbClr val="171717"/>
                </a:solidFill>
                <a:latin typeface="Paperlogy 6 SemiBold"/>
                <a:ea typeface="Paperlogy 6 SemiBold"/>
                <a:cs typeface="Paperlogy 6 SemiBold"/>
              </a:rPr>
              <a:t>골드 스티커</a:t>
            </a:r>
          </a:p>
          <a:p>
            <a:pPr>
              <a:lnSpc>
                <a:spcPct val="120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이자와 같은 잔고를 본다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6300216" y="2231136"/>
            <a:ext cx="5202936" cy="0"/>
          </a:xfrm>
          <a:prstGeom prst="line">
            <a:avLst/>
          </a:prstGeom>
          <a:ln w="9525">
            <a:solidFill>
              <a:srgbClr val="D8D8D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6300216" y="2304287"/>
            <a:ext cx="5202936" cy="6035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</a:pPr>
            <a:r>
              <a:rPr sz="1200">
                <a:solidFill>
                  <a:srgbClr val="168DA8"/>
                </a:solidFill>
                <a:latin typeface="Paperlogy 7 Bold"/>
                <a:ea typeface="Paperlogy 7 Bold"/>
                <a:cs typeface="Paperlogy 7 Bold"/>
              </a:rPr>
              <a:t>06  </a:t>
            </a:r>
            <a:r>
              <a:rPr sz="1200">
                <a:solidFill>
                  <a:srgbClr val="171717"/>
                </a:solidFill>
                <a:latin typeface="Paperlogy 6 SemiBold"/>
                <a:ea typeface="Paperlogy 6 SemiBold"/>
                <a:cs typeface="Paperlogy 6 SemiBold"/>
              </a:rPr>
              <a:t>클리어 보상</a:t>
            </a:r>
          </a:p>
          <a:p>
            <a:pPr>
              <a:lnSpc>
                <a:spcPct val="120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리그 → 제약 순으로 눌린다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6300216" y="2871215"/>
            <a:ext cx="5202936" cy="0"/>
          </a:xfrm>
          <a:prstGeom prst="line">
            <a:avLst/>
          </a:prstGeom>
          <a:ln w="9525">
            <a:solidFill>
              <a:srgbClr val="D8D8D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6300216" y="2944368"/>
            <a:ext cx="5202936" cy="6035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</a:pPr>
            <a:r>
              <a:rPr sz="1200">
                <a:solidFill>
                  <a:srgbClr val="168DA8"/>
                </a:solidFill>
                <a:latin typeface="Paperlogy 7 Bold"/>
                <a:ea typeface="Paperlogy 7 Bold"/>
                <a:cs typeface="Paperlogy 7 Bold"/>
              </a:rPr>
              <a:t>07  </a:t>
            </a:r>
            <a:r>
              <a:rPr sz="1200">
                <a:solidFill>
                  <a:srgbClr val="171717"/>
                </a:solidFill>
                <a:latin typeface="Paperlogy 6 SemiBold"/>
                <a:ea typeface="Paperlogy 6 SemiBold"/>
                <a:cs typeface="Paperlogy 6 SemiBold"/>
              </a:rPr>
              <a:t>지급</a:t>
            </a:r>
          </a:p>
          <a:p>
            <a:pPr>
              <a:lnSpc>
                <a:spcPct val="120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내역을 한꺼번에 더한다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6300216" y="3511296"/>
            <a:ext cx="5202936" cy="0"/>
          </a:xfrm>
          <a:prstGeom prst="line">
            <a:avLst/>
          </a:prstGeom>
          <a:ln w="9525">
            <a:solidFill>
              <a:srgbClr val="D8D8D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685800" y="4379975"/>
            <a:ext cx="1081735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「빈손」 제약은 클리어 보상만 0배로 만든다. 잔탄 · 이자 · 스티커 골드는 그대로 들어온다.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5800" y="6400800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관련  이자  ·  상점  ·  딜러  ·  정산 큐  ·  리그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02336"/>
            <a:ext cx="10817352" cy="6126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25">
                <a:solidFill>
                  <a:srgbClr val="171717"/>
                </a:solidFill>
                <a:latin typeface="Paperlogy 7 Bold"/>
                <a:ea typeface="Paperlogy 7 Bold"/>
                <a:cs typeface="Paperlogy 7 Bold"/>
              </a:rPr>
              <a:t>보상 요소 - 이자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85800" y="1143000"/>
            <a:ext cx="10817352" cy="0"/>
          </a:xfrm>
          <a:prstGeom prst="line">
            <a:avLst/>
          </a:prstGeom>
          <a:ln w="12700">
            <a:solidFill>
              <a:srgbClr val="1717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0881360" y="6419088"/>
            <a:ext cx="62179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57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335024"/>
            <a:ext cx="1081735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>
                <a:solidFill>
                  <a:srgbClr val="171717"/>
                </a:solidFill>
                <a:latin typeface="Paperlogy 6 SemiBold"/>
                <a:ea typeface="Paperlogy 6 SemiBold"/>
                <a:cs typeface="Paperlogy 6 SemiBold"/>
              </a:rPr>
              <a:t>이자 = min(보유 골드 ÷ 5, 상한 5). 내림.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847088"/>
            <a:ext cx="3749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값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85800" y="2176272"/>
          <a:ext cx="3749040" cy="1696212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1325880"/>
                <a:gridCol w="2423160"/>
              </a:tblGrid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보유 N당 1G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N = 5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기본 상한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5G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484632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상한에 닿는 잔고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25G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보는 잔고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정산 지급 전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끄는 것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일당 팩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리그 보정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8단 전부 +0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4937760" y="1847088"/>
            <a:ext cx="3749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잔고별 이자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4937760" y="2176272"/>
          <a:ext cx="3749040" cy="1970532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1874520"/>
                <a:gridCol w="1874520"/>
              </a:tblGrid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보유 골드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이자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0~4G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0G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5~9G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10~14G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2G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15~19G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3G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20~24G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4G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25G 이상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5G — 상한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50G 이상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10G — 저금통 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85800" y="4320540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상한을 미는 것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685800" y="4649724"/>
          <a:ext cx="10817350" cy="1243584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2612239"/>
                <a:gridCol w="3349025"/>
                <a:gridCol w="4856086"/>
              </a:tblGrid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미는 것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값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상한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표 interest_max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5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5G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리그 8단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+0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5G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저금통 (설비)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+5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10G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일당 팩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이자 끔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0G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685800" y="6400800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관련  골드  ·  상점  ·  설비  ·  스타트 팩  ·  리그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02336"/>
            <a:ext cx="10817352" cy="6126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25">
                <a:solidFill>
                  <a:srgbClr val="171717"/>
                </a:solidFill>
                <a:latin typeface="Paperlogy 7 Bold"/>
                <a:ea typeface="Paperlogy 7 Bold"/>
                <a:cs typeface="Paperlogy 7 Bold"/>
              </a:rPr>
              <a:t>보상 요소 - 상점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85800" y="1143000"/>
            <a:ext cx="10817352" cy="0"/>
          </a:xfrm>
          <a:prstGeom prst="line">
            <a:avLst/>
          </a:prstGeom>
          <a:ln w="12700">
            <a:solidFill>
              <a:srgbClr val="1717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0881360" y="6419088"/>
            <a:ext cx="62179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58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335024"/>
            <a:ext cx="1081735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>
                <a:solidFill>
                  <a:srgbClr val="171717"/>
                </a:solidFill>
                <a:latin typeface="Paperlogy 6 SemiBold"/>
                <a:ea typeface="Paperlogy 6 SemiBold"/>
                <a:cs typeface="Paperlogy 6 SemiBold"/>
              </a:rPr>
              <a:t>판 N 을 넘긴 뒤 열린다. 매대 자리는 4칸 고정.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847088"/>
            <a:ext cx="3749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여는 규칙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85800" y="2176272"/>
          <a:ext cx="3749040" cy="1696212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1325880"/>
                <a:gridCol w="2423160"/>
              </a:tblGrid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여는 때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판 N 을 넘긴 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안 여는 때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마지막 판(24) 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매대 자리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4칸 고정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구성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스티커 2 · 개조 1 · 다트 1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소비 아이템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스티커 1칸 대체 (임시)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설비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왼쪽 벽 · 앤티당 1장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후보 제외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보유 · 미해금 · 전설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4937760" y="1847088"/>
            <a:ext cx="3749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가격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4937760" y="2176272"/>
          <a:ext cx="3749038" cy="3424428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905340"/>
                <a:gridCol w="1160693"/>
                <a:gridCol w="1683005"/>
              </a:tblGrid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매물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기본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주황 · 검정 리그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</a:tr>
              <a:tr h="484632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일반 스티커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4G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5G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484632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희귀 스티커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7G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9G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484632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레어 스티커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11G · 14G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14G · 18G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484632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가격 예외 5장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5G · 8G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7G · 10G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개조 8종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6~12G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8~15G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다트 4종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5~7G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7~9G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484632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소비 아이템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4G (임시)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5G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설비 7종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10G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10G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85800" y="6400800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관련  골드  ·  딜러  ·  설비  ·  스티커  ·  딱지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02336"/>
            <a:ext cx="10817352" cy="6126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25">
                <a:solidFill>
                  <a:srgbClr val="171717"/>
                </a:solidFill>
                <a:latin typeface="Paperlogy 7 Bold"/>
                <a:ea typeface="Paperlogy 7 Bold"/>
                <a:cs typeface="Paperlogy 7 Bold"/>
              </a:rPr>
              <a:t>보상 요소 - 상점 (이어서)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85800" y="1143000"/>
            <a:ext cx="10817352" cy="0"/>
          </a:xfrm>
          <a:prstGeom prst="line">
            <a:avLst/>
          </a:prstGeom>
          <a:ln w="12700">
            <a:solidFill>
              <a:srgbClr val="1717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0881360" y="6419088"/>
            <a:ext cx="62179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59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335024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새로고침과 판매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85800" y="1664207"/>
          <a:ext cx="10817352" cy="2455164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5408676"/>
                <a:gridCol w="5408676"/>
              </a:tblGrid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항목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값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무료 새로고침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1회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유료 첫 값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2G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누적 상승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+1G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실제 흐름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0 · 2 · 3 · 4G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덤 새로고침 (설비)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무료 +1회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딱지 「무료 새로고침」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무료 +2회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판매가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표 가격 ÷2 내림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판매가 하한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2G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판매 스프레드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2 · 4 · 6 · 7G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85800" y="6400800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관련  골드  ·  딜러  ·  설비  ·  스티커  ·  딱지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02336"/>
            <a:ext cx="10817352" cy="6126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25">
                <a:solidFill>
                  <a:srgbClr val="171717"/>
                </a:solidFill>
                <a:latin typeface="Paperlogy 7 Bold"/>
                <a:ea typeface="Paperlogy 7 Bold"/>
                <a:cs typeface="Paperlogy 7 Bold"/>
              </a:rPr>
              <a:t>보상 요소 - 딜러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85800" y="1143000"/>
            <a:ext cx="10817352" cy="0"/>
          </a:xfrm>
          <a:prstGeom prst="line">
            <a:avLst/>
          </a:prstGeom>
          <a:ln w="12700">
            <a:solidFill>
              <a:srgbClr val="1717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0881360" y="6419088"/>
            <a:ext cx="62179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60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335024"/>
            <a:ext cx="1081735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>
                <a:solidFill>
                  <a:srgbClr val="171717"/>
                </a:solidFill>
                <a:latin typeface="Paperlogy 6 SemiBold"/>
                <a:ea typeface="Paperlogy 6 SemiBold"/>
                <a:cs typeface="Paperlogy 6 SemiBold"/>
              </a:rPr>
              <a:t>정장 입은 상반신. 매물을 던지고 쓸어 담는다.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847088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그려지는 것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85800" y="2176272"/>
          <a:ext cx="10817352" cy="1696212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2011680"/>
                <a:gridCol w="8805672"/>
              </a:tblGrid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보이는 부분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몸통과 두 팔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잘리는 부분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목 위 — 스티커 랙 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실루엣 최상단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y 22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허리 = 카운터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y 128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몸 길이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106 px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가슴 · 허리 반폭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72 px · 60 px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움직이는 것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숨과 쓸기, 둘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85800" y="6400800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관련  상점  ·  골드  ·  설비  ·  랙  ·  조작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02336"/>
            <a:ext cx="10817352" cy="6126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25">
                <a:solidFill>
                  <a:srgbClr val="171717"/>
                </a:solidFill>
                <a:latin typeface="Paperlogy 7 Bold"/>
                <a:ea typeface="Paperlogy 7 Bold"/>
                <a:cs typeface="Paperlogy 7 Bold"/>
              </a:rPr>
              <a:t>보상 요소 - 딜러 (이어서)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85800" y="1143000"/>
            <a:ext cx="10817352" cy="0"/>
          </a:xfrm>
          <a:prstGeom prst="line">
            <a:avLst/>
          </a:prstGeom>
          <a:ln w="12700">
            <a:solidFill>
              <a:srgbClr val="1717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0881360" y="6419088"/>
            <a:ext cx="62179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61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335024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쓸기 — 세 박자 1.08초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664207"/>
            <a:ext cx="5202936" cy="6035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</a:pPr>
            <a:r>
              <a:rPr sz="1200">
                <a:solidFill>
                  <a:srgbClr val="168DA8"/>
                </a:solidFill>
                <a:latin typeface="Paperlogy 7 Bold"/>
                <a:ea typeface="Paperlogy 7 Bold"/>
                <a:cs typeface="Paperlogy 7 Bold"/>
              </a:rPr>
              <a:t>01  </a:t>
            </a:r>
            <a:r>
              <a:rPr sz="1200">
                <a:solidFill>
                  <a:srgbClr val="171717"/>
                </a:solidFill>
                <a:latin typeface="Paperlogy 6 SemiBold"/>
                <a:ea typeface="Paperlogy 6 SemiBold"/>
                <a:cs typeface="Paperlogy 6 SemiBold"/>
              </a:rPr>
              <a:t>뻗기 0.26초</a:t>
            </a:r>
          </a:p>
          <a:p>
            <a:pPr>
              <a:lnSpc>
                <a:spcPct val="120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팔을 오른쪽 끝까지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685800" y="2231136"/>
            <a:ext cx="5202936" cy="0"/>
          </a:xfrm>
          <a:prstGeom prst="line">
            <a:avLst/>
          </a:prstGeom>
          <a:ln w="9525">
            <a:solidFill>
              <a:srgbClr val="D8D8D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685800" y="2304287"/>
            <a:ext cx="5202936" cy="6035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</a:pPr>
            <a:r>
              <a:rPr sz="1200">
                <a:solidFill>
                  <a:srgbClr val="168DA8"/>
                </a:solidFill>
                <a:latin typeface="Paperlogy 7 Bold"/>
                <a:ea typeface="Paperlogy 7 Bold"/>
                <a:cs typeface="Paperlogy 7 Bold"/>
              </a:rPr>
              <a:t>02  </a:t>
            </a:r>
            <a:r>
              <a:rPr sz="1200">
                <a:solidFill>
                  <a:srgbClr val="171717"/>
                </a:solidFill>
                <a:latin typeface="Paperlogy 6 SemiBold"/>
                <a:ea typeface="Paperlogy 6 SemiBold"/>
                <a:cs typeface="Paperlogy 6 SemiBold"/>
              </a:rPr>
              <a:t>훑기 0.52초</a:t>
            </a:r>
          </a:p>
          <a:p>
            <a:pPr>
              <a:lnSpc>
                <a:spcPct val="120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이 동안만 왼쪽 벽이 열린다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85800" y="2871215"/>
            <a:ext cx="5202936" cy="0"/>
          </a:xfrm>
          <a:prstGeom prst="line">
            <a:avLst/>
          </a:prstGeom>
          <a:ln w="9525">
            <a:solidFill>
              <a:srgbClr val="D8D8D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685800" y="2944368"/>
            <a:ext cx="5202936" cy="6035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</a:pPr>
            <a:r>
              <a:rPr sz="1200">
                <a:solidFill>
                  <a:srgbClr val="168DA8"/>
                </a:solidFill>
                <a:latin typeface="Paperlogy 7 Bold"/>
                <a:ea typeface="Paperlogy 7 Bold"/>
                <a:cs typeface="Paperlogy 7 Bold"/>
              </a:rPr>
              <a:t>03  </a:t>
            </a:r>
            <a:r>
              <a:rPr sz="1200">
                <a:solidFill>
                  <a:srgbClr val="171717"/>
                </a:solidFill>
                <a:latin typeface="Paperlogy 6 SemiBold"/>
                <a:ea typeface="Paperlogy 6 SemiBold"/>
                <a:cs typeface="Paperlogy 6 SemiBold"/>
              </a:rPr>
              <a:t>복귀 0.30초</a:t>
            </a:r>
          </a:p>
          <a:p>
            <a:pPr>
              <a:lnSpc>
                <a:spcPct val="120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새 매물이 이미 떨어진다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685800" y="3511296"/>
            <a:ext cx="5202936" cy="0"/>
          </a:xfrm>
          <a:prstGeom prst="line">
            <a:avLst/>
          </a:prstGeom>
          <a:ln w="9525">
            <a:solidFill>
              <a:srgbClr val="D8D8D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6300216" y="1664207"/>
            <a:ext cx="5202936" cy="6035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</a:pPr>
            <a:r>
              <a:rPr sz="1200">
                <a:solidFill>
                  <a:srgbClr val="168DA8"/>
                </a:solidFill>
                <a:latin typeface="Paperlogy 7 Bold"/>
                <a:ea typeface="Paperlogy 7 Bold"/>
                <a:cs typeface="Paperlogy 7 Bold"/>
              </a:rPr>
              <a:t>04  </a:t>
            </a:r>
            <a:r>
              <a:rPr sz="1200">
                <a:solidFill>
                  <a:srgbClr val="171717"/>
                </a:solidFill>
                <a:latin typeface="Paperlogy 6 SemiBold"/>
                <a:ea typeface="Paperlogy 6 SemiBold"/>
                <a:cs typeface="Paperlogy 6 SemiBold"/>
              </a:rPr>
              <a:t>미는 힘</a:t>
            </a:r>
          </a:p>
          <a:p>
            <a:pPr>
              <a:lnSpc>
                <a:spcPct val="120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최소 620 면px/s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6300216" y="2231136"/>
            <a:ext cx="5202936" cy="0"/>
          </a:xfrm>
          <a:prstGeom prst="line">
            <a:avLst/>
          </a:prstGeom>
          <a:ln w="9525">
            <a:solidFill>
              <a:srgbClr val="D8D8D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6300216" y="2304287"/>
            <a:ext cx="5202936" cy="6035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</a:pPr>
            <a:r>
              <a:rPr sz="1200">
                <a:solidFill>
                  <a:srgbClr val="168DA8"/>
                </a:solidFill>
                <a:latin typeface="Paperlogy 7 Bold"/>
                <a:ea typeface="Paperlogy 7 Bold"/>
                <a:cs typeface="Paperlogy 7 Bold"/>
              </a:rPr>
              <a:t>05  </a:t>
            </a:r>
            <a:r>
              <a:rPr sz="1200">
                <a:solidFill>
                  <a:srgbClr val="171717"/>
                </a:solidFill>
                <a:latin typeface="Paperlogy 6 SemiBold"/>
                <a:ea typeface="Paperlogy 6 SemiBold"/>
                <a:cs typeface="Paperlogy 6 SemiBold"/>
              </a:rPr>
              <a:t>빠진 물건</a:t>
            </a:r>
          </a:p>
          <a:p>
            <a:pPr>
              <a:lnSpc>
                <a:spcPct val="120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판매 창구로 넘어간다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6300216" y="2871215"/>
            <a:ext cx="5202936" cy="0"/>
          </a:xfrm>
          <a:prstGeom prst="line">
            <a:avLst/>
          </a:prstGeom>
          <a:ln w="9525">
            <a:solidFill>
              <a:srgbClr val="D8D8D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6300216" y="2944368"/>
            <a:ext cx="5202936" cy="6035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</a:pPr>
            <a:r>
              <a:rPr sz="1200">
                <a:solidFill>
                  <a:srgbClr val="168DA8"/>
                </a:solidFill>
                <a:latin typeface="Paperlogy 7 Bold"/>
                <a:ea typeface="Paperlogy 7 Bold"/>
                <a:cs typeface="Paperlogy 7 Bold"/>
              </a:rPr>
              <a:t>06  </a:t>
            </a:r>
            <a:r>
              <a:rPr sz="1200">
                <a:solidFill>
                  <a:srgbClr val="171717"/>
                </a:solidFill>
                <a:latin typeface="Paperlogy 6 SemiBold"/>
                <a:ea typeface="Paperlogy 6 SemiBold"/>
                <a:cs typeface="Paperlogy 6 SemiBold"/>
              </a:rPr>
              <a:t>입력</a:t>
            </a:r>
          </a:p>
          <a:p>
            <a:pPr>
              <a:lnSpc>
                <a:spcPct val="120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쓸기 동안 삼킨다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6300216" y="3511296"/>
            <a:ext cx="5202936" cy="0"/>
          </a:xfrm>
          <a:prstGeom prst="line">
            <a:avLst/>
          </a:prstGeom>
          <a:ln w="9525">
            <a:solidFill>
              <a:srgbClr val="D8D8D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685800" y="3739896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매물이 오가는 길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685800" y="4069080"/>
          <a:ext cx="10817352" cy="1970532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5408676"/>
                <a:gridCol w="5408676"/>
              </a:tblGrid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단계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하는 일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던지기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먼 레일 뒤에서 앞으로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낙하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중력 1400 면px/s²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정착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쿨롱 마찰 520 등감속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구매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오른쪽 창구로 민다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판매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왼쪽 창구로 민다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두 번 누르기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물건 → 계산대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탭 · 드래그 경계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누적 이동 5px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685800" y="6400800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관련  상점  ·  골드  ·  설비  ·  랙  ·  조작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02336"/>
            <a:ext cx="10817352" cy="6126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25">
                <a:solidFill>
                  <a:srgbClr val="171717"/>
                </a:solidFill>
                <a:latin typeface="Paperlogy 7 Bold"/>
                <a:ea typeface="Paperlogy 7 Bold"/>
                <a:cs typeface="Paperlogy 7 Bold"/>
              </a:rPr>
              <a:t>보상 요소 - 설비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85800" y="1143000"/>
            <a:ext cx="10817352" cy="0"/>
          </a:xfrm>
          <a:prstGeom prst="line">
            <a:avLst/>
          </a:prstGeom>
          <a:ln w="12700">
            <a:solidFill>
              <a:srgbClr val="1717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0881360" y="6419088"/>
            <a:ext cx="62179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62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335024"/>
            <a:ext cx="1081735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>
                <a:solidFill>
                  <a:srgbClr val="171717"/>
                </a:solidFill>
                <a:latin typeface="Paperlogy 6 SemiBold"/>
                <a:ea typeface="Paperlogy 6 SemiBold"/>
                <a:cs typeface="Paperlogy 6 SemiBold"/>
              </a:rPr>
              <a:t>상점 선반에서 사는 런 영구 강화. 7종 · 전부 10G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847088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설비 7종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85800" y="2176272"/>
          <a:ext cx="10817350" cy="1970532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1994689"/>
                <a:gridCol w="2557293"/>
                <a:gridCol w="2557293"/>
                <a:gridCol w="3708075"/>
              </a:tblGrid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이름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효과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최소 앤티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선행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진열대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매대 칸 +1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—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긴 진열대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매대 칸 +1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3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진열대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덤 새로고침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무료 새로고침 +1회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—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저금통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이자 상한 +5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2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—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침착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조준 게이지 ×0.85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—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더 침착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조준 게이지 ×0.85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3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침착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긴 탄창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다트 +1발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2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—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85800" y="6400800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관련  상점  ·  골드  ·  이자  ·  조준  ·  딱지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02336"/>
            <a:ext cx="10817352" cy="6126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25">
                <a:solidFill>
                  <a:srgbClr val="171717"/>
                </a:solidFill>
                <a:latin typeface="Paperlogy 7 Bold"/>
                <a:ea typeface="Paperlogy 7 Bold"/>
                <a:cs typeface="Paperlogy 7 Bold"/>
              </a:rPr>
              <a:t>보상 요소 - 설비 (이어서)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85800" y="1143000"/>
            <a:ext cx="10817352" cy="0"/>
          </a:xfrm>
          <a:prstGeom prst="line">
            <a:avLst/>
          </a:prstGeom>
          <a:ln w="12700">
            <a:solidFill>
              <a:srgbClr val="1717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0881360" y="6419088"/>
            <a:ext cx="62179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63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335024"/>
            <a:ext cx="3749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규칙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85800" y="1664207"/>
          <a:ext cx="3749040" cy="1696212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1325880"/>
                <a:gridCol w="2423160"/>
              </a:tblGrid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가격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7종 전부 10G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선반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상점마다 1칸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다시 굴리는 때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앤티가 바뀔 때만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안 사면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같은 앤티 내내 그대로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사면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랙·소비 칸에 안 쌓인다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유지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런 끝까지 · 새 런에 초기화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겹침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침착 둘이면 0.7225배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937760" y="1335024"/>
            <a:ext cx="3749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겹친 값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937760" y="1664207"/>
          <a:ext cx="3749040" cy="969264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1325880"/>
                <a:gridCol w="2423160"/>
              </a:tblGrid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매대 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2 → 3 → 4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무료 새로고침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1회 → 2회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이자 상한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5 → 10 (보유 50G)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다트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6발 → 7발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85800" y="3534156"/>
            <a:ext cx="1081735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다트 수 순서 — 판·팩 → 제약 → 리그 → 딱지 → 설비 → 스티커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6400800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관련  상점  ·  골드  ·  이자  ·  조준  ·  딱지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02336"/>
            <a:ext cx="10817352" cy="6126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25">
                <a:solidFill>
                  <a:srgbClr val="171717"/>
                </a:solidFill>
                <a:latin typeface="Paperlogy 7 Bold"/>
                <a:ea typeface="Paperlogy 7 Bold"/>
                <a:cs typeface="Paperlogy 7 Bold"/>
              </a:rPr>
              <a:t>보상 요소 - 딱지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85800" y="1143000"/>
            <a:ext cx="10817352" cy="0"/>
          </a:xfrm>
          <a:prstGeom prst="line">
            <a:avLst/>
          </a:prstGeom>
          <a:ln w="12700">
            <a:solidFill>
              <a:srgbClr val="1717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0881360" y="6419088"/>
            <a:ext cx="62179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64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335024"/>
            <a:ext cx="1081735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>
                <a:solidFill>
                  <a:srgbClr val="171717"/>
                </a:solidFill>
                <a:latin typeface="Paperlogy 6 SemiBold"/>
                <a:ea typeface="Paperlogy 6 SemiBold"/>
                <a:cs typeface="Paperlogy 6 SemiBold"/>
              </a:rPr>
              <a:t>판을 건너뛰고 받는 보상. 10종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847088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나오는 곳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85800" y="2176272"/>
          <a:ext cx="10817352" cy="1211580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2011680"/>
                <a:gridCol w="8805672"/>
              </a:tblGrid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건너뛸 수 있는 판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작은 판 · 큰 판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보스 판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못 건너뛴다 = 딱지 없다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굴리는 때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앤티에 들어설 때 한꺼번에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건너뛰면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점수 0 · 골드 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칸이 꽉 차면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견본 · 보급은 안 들어온다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85800" y="3561588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바로 받는다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85800" y="3890772"/>
          <a:ext cx="10817350" cy="1485900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1994689"/>
                <a:gridCol w="2557293"/>
                <a:gridCol w="2557293"/>
                <a:gridCol w="3708075"/>
              </a:tblGrid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이름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효과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최소 앤티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가중치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삯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골드 +6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1.00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두둑한 삯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골드 +12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3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0.70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영역 승급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무작위 영역 강화 +1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0.90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보급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소비 아이템 1장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0.90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견본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스티커 1장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2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0.60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85800" y="6400800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관련  판  ·  골드  ·  상점  ·  소비 아이템  ·  보스 제약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02336"/>
            <a:ext cx="10817352" cy="6126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25">
                <a:solidFill>
                  <a:srgbClr val="171717"/>
                </a:solidFill>
                <a:latin typeface="Paperlogy 7 Bold"/>
                <a:ea typeface="Paperlogy 7 Bold"/>
                <a:cs typeface="Paperlogy 7 Bold"/>
              </a:rPr>
              <a:t>보상 요소 - 딱지 (이어서)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85800" y="1143000"/>
            <a:ext cx="10817352" cy="0"/>
          </a:xfrm>
          <a:prstGeom prst="line">
            <a:avLst/>
          </a:prstGeom>
          <a:ln w="12700">
            <a:solidFill>
              <a:srgbClr val="1717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0881360" y="6419088"/>
            <a:ext cx="62179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65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335024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쥐고 있다가 쓴다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85800" y="1664207"/>
          <a:ext cx="10817350" cy="1485900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1613295"/>
                <a:gridCol w="2068327"/>
                <a:gridCol w="2068327"/>
                <a:gridCol w="2068327"/>
                <a:gridCol w="2999074"/>
              </a:tblGrid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이름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효과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쓰는 때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앤티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가중치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여벌 다트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다트 +1발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다음 판에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1.00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무료 새로고침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무료 새로고침 +2회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다음 상점에서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0.90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넓은 매대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매물 +2칸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다음 상점에서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2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0.70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여유로운 선택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제약 선택지 +1장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다음 보스 판에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2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0.60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외상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물건 1개가 공짜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다음 상점에서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3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0.50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85800" y="6400800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관련  판  ·  골드  ·  상점  ·  소비 아이템  ·  보스 제약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02336"/>
            <a:ext cx="10817352" cy="6126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25">
                <a:solidFill>
                  <a:srgbClr val="171717"/>
                </a:solidFill>
                <a:latin typeface="Paperlogy 7 Bold"/>
                <a:ea typeface="Paperlogy 7 Bold"/>
                <a:cs typeface="Paperlogy 7 Bold"/>
              </a:rPr>
              <a:t>보상 요소 - 소비 아이템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85800" y="1143000"/>
            <a:ext cx="10817352" cy="0"/>
          </a:xfrm>
          <a:prstGeom prst="line">
            <a:avLst/>
          </a:prstGeom>
          <a:ln w="12700">
            <a:solidFill>
              <a:srgbClr val="1717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0881360" y="6419088"/>
            <a:ext cx="62179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66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335024"/>
            <a:ext cx="1081735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>
                <a:solidFill>
                  <a:srgbClr val="171717"/>
                </a:solidFill>
                <a:latin typeface="Paperlogy 6 SemiBold"/>
                <a:ea typeface="Paperlogy 6 SemiBold"/>
                <a:cs typeface="Paperlogy 6 SemiBold"/>
              </a:rPr>
              <a:t>칸 2개에 쥐고 한 번 쓰는 물건. 활성 5종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847088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소비 아이템 7종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85800" y="2176272"/>
          <a:ext cx="10817350" cy="1970532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1994689"/>
                <a:gridCol w="2557293"/>
                <a:gridCol w="2557293"/>
                <a:gridCol w="3708075"/>
              </a:tblGrid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이름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효과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상태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가격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싱글 강화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싱글 트랙 Lv +1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매대 등장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4G (임시)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더블 강화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더블 트랙 Lv +1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매대 등장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4G (임시)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트리플 강화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트리플 트랙 Lv +1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매대 등장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4G (임시)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불 강화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불 트랙 Lv +1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매대 등장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4G (임시)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보드 아웃 강화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보드 아웃 트랙 Lv +1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매대 등장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4G (임시)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아이템 가공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스티커 1장에 가공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미구현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미정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다트 가공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다트 1자루에 가공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미구현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미정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85800" y="6400800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관련  영역 강화  ·  착탄 영역  ·  상점  ·  딱지  ·  골드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02336"/>
            <a:ext cx="10817352" cy="6126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25">
                <a:solidFill>
                  <a:srgbClr val="171717"/>
                </a:solidFill>
                <a:latin typeface="Paperlogy 7 Bold"/>
                <a:ea typeface="Paperlogy 7 Bold"/>
                <a:cs typeface="Paperlogy 7 Bold"/>
              </a:rPr>
              <a:t>보상 요소 - 소비 아이템 (이어서)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85800" y="1143000"/>
            <a:ext cx="10817352" cy="0"/>
          </a:xfrm>
          <a:prstGeom prst="line">
            <a:avLst/>
          </a:prstGeom>
          <a:ln w="12700">
            <a:solidFill>
              <a:srgbClr val="1717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0881360" y="6419088"/>
            <a:ext cx="62179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67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335024"/>
            <a:ext cx="3749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강화 트랙 — 레벨당 증분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85800" y="1664207"/>
          <a:ext cx="3749038" cy="1728216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905340"/>
                <a:gridCol w="1160693"/>
                <a:gridCol w="1683005"/>
              </a:tblGrid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트랙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점수/Lv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배수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싱글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+5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—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더블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+8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홀수 Lv 마다 +1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트리플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+11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홀수 Lv 마다 +1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불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+40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매 Lv +1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484632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보드 아웃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+6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—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937760" y="1335024"/>
            <a:ext cx="3749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규칙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937760" y="1664207"/>
          <a:ext cx="3749040" cy="1696212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1325880"/>
                <a:gridCol w="2423160"/>
              </a:tblGrid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2개 (선금 팩은 1개)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쓰는 법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칸을 눌러 즉시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쓰면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사라진다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상점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스티커 자리 1칸을 대체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표 상한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Lv 8 까지 증분이 있다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불 트랙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아우터·이너가 공유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가공 둘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대상 선택 흐름 미구현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85800" y="6400800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관련  영역 강화  ·  착탄 영역  ·  상점  ·  딱지  ·  골드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02336"/>
            <a:ext cx="10817352" cy="6126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25">
                <a:solidFill>
                  <a:srgbClr val="171717"/>
                </a:solidFill>
                <a:latin typeface="Paperlogy 7 Bold"/>
                <a:ea typeface="Paperlogy 7 Bold"/>
                <a:cs typeface="Paperlogy 7 Bold"/>
              </a:rPr>
              <a:t>보상 요소 - 스타트 팩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85800" y="1143000"/>
            <a:ext cx="10817352" cy="0"/>
          </a:xfrm>
          <a:prstGeom prst="line">
            <a:avLst/>
          </a:prstGeom>
          <a:ln w="12700">
            <a:solidFill>
              <a:srgbClr val="1717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0881360" y="6419088"/>
            <a:ext cx="62179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68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335024"/>
            <a:ext cx="1081735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>
                <a:solidFill>
                  <a:srgbClr val="171717"/>
                </a:solidFill>
                <a:latin typeface="Paperlogy 6 SemiBold"/>
                <a:ea typeface="Paperlogy 6 SemiBold"/>
                <a:cs typeface="Paperlogy 6 SemiBold"/>
              </a:rPr>
              <a:t>런 시작 조건을 쥐는 덱. 기본 5 · 히든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847088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팩 6종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85800" y="2176272"/>
          <a:ext cx="10817350" cy="1728216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1613295"/>
                <a:gridCol w="2068327"/>
                <a:gridCol w="2068327"/>
                <a:gridCol w="2068327"/>
                <a:gridCol w="2999074"/>
              </a:tblGrid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팩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다트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시작 골드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스티커 / 소비 칸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그 밖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기본 팩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6발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4G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5 / 2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—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여벌 팩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7발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4G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5 / 2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잔탄 골드 0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넓은 랙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5발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4G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6 / 2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—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선금 팩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6발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14G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5 / 1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—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일당 팩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6발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4G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5 / 2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이자 없음 · 잔탄 2G/발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미정 (히든)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6발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4G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5 / 2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미정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85800" y="4078223"/>
            <a:ext cx="3749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해금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85800" y="4407407"/>
          <a:ext cx="3749040" cy="1453896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1325880"/>
                <a:gridCol w="2423160"/>
              </a:tblGrid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여벌 팩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기본 팩으로 완주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넓은 랙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여벌 팩으로 완주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선금 팩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넓은 랙으로 완주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일당 팩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선금 팩으로 완주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히든 팩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불 명중 누적 50회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여는 때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런이 끝날 때 · 새 런 화면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4937760" y="4078223"/>
            <a:ext cx="3749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주는 방식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4937760" y="4407407"/>
          <a:ext cx="3749040" cy="969264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1325880"/>
                <a:gridCol w="2423160"/>
              </a:tblGrid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갈래 넷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개조 · 설비 · 소비 · 스티커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칸이 모자라면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안 담긴다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잔탄 골드 기본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남은 다트 1개당 1G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일당 팩 잔탄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남은 다트 1개당 2G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685800" y="6400800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관련  리그  ·  다트  ·  랙  ·  골드  ·  이자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02336"/>
            <a:ext cx="10817352" cy="6126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25">
                <a:solidFill>
                  <a:srgbClr val="171717"/>
                </a:solidFill>
                <a:latin typeface="Paperlogy 7 Bold"/>
                <a:ea typeface="Paperlogy 7 Bold"/>
                <a:cs typeface="Paperlogy 7 Bold"/>
              </a:rPr>
              <a:t>보상 요소 - 리그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85800" y="1143000"/>
            <a:ext cx="10817352" cy="0"/>
          </a:xfrm>
          <a:prstGeom prst="line">
            <a:avLst/>
          </a:prstGeom>
          <a:ln w="12700">
            <a:solidFill>
              <a:srgbClr val="1717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0881360" y="6419088"/>
            <a:ext cx="62179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69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335024"/>
            <a:ext cx="1081735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>
                <a:solidFill>
                  <a:srgbClr val="171717"/>
                </a:solidFill>
                <a:latin typeface="Paperlogy 6 SemiBold"/>
                <a:ea typeface="Paperlogy 6 SemiBold"/>
                <a:cs typeface="Paperlogy 6 SemiBold"/>
              </a:rPr>
              <a:t>런 시작에 고르는 8단. 아래 단이 위를 다 안는다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847088"/>
            <a:ext cx="3749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리그 8단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85800" y="2176272"/>
          <a:ext cx="3749037" cy="3909060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691312"/>
                <a:gridCol w="886297"/>
                <a:gridCol w="886297"/>
                <a:gridCol w="1285131"/>
              </a:tblGrid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단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리그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곡선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더해지는 것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1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흰 리그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base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—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484632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2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초록 리그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base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작은 판 보상 3G → 0G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484632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3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파랑 리그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curve_a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목표 곡선 상승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484632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4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보라 리그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curve_a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매 판 스티커 1장 봉인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484632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5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붉은 리그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curve_a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다트 6발 → 5발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484632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6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노랑 리그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curve_b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목표 곡선 재상승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484632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7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주황 리그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curve_b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매대 ×1.25 · 삭음 5판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484632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8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검정 리그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curve_b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판마다 유지비 3G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4937760" y="1847088"/>
            <a:ext cx="3749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곡선 배수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4937760" y="2176272"/>
          <a:ext cx="3749038" cy="2212848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905340"/>
                <a:gridCol w="1160693"/>
                <a:gridCol w="1683005"/>
              </a:tblGrid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앤티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curve_a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curve_b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1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1.00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1.00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2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1.10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1.25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3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1.25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1.55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4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1.45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1.85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5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1.60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2.30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6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1.75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2.80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7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1.90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3.40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8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2.00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4.00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85800" y="6400800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관련  앤티  ·  목표 점수  ·  스타트 팩  ·  스티커  ·  골드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02336"/>
            <a:ext cx="10817352" cy="6126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25">
                <a:solidFill>
                  <a:srgbClr val="171717"/>
                </a:solidFill>
                <a:latin typeface="Paperlogy 7 Bold"/>
                <a:ea typeface="Paperlogy 7 Bold"/>
                <a:cs typeface="Paperlogy 7 Bold"/>
              </a:rPr>
              <a:t>보상 요소 - 리그 (이어서)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85800" y="1143000"/>
            <a:ext cx="10817352" cy="0"/>
          </a:xfrm>
          <a:prstGeom prst="line">
            <a:avLst/>
          </a:prstGeom>
          <a:ln w="12700">
            <a:solidFill>
              <a:srgbClr val="1717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0881360" y="6419088"/>
            <a:ext cx="62179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70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335024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규칙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85800" y="1664207"/>
          <a:ext cx="10817352" cy="1696212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2011680"/>
                <a:gridCol w="8805672"/>
              </a:tblGrid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해금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그 단을 완주하면 다음 단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갈림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팩마다 따로 뚫는다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봉인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무작위 1장 · 그 판만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삭음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산 판부터 5판 뒤 부서진다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매대 값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올림 — 4G 가 5G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유지비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보유 0G 면 안 낸다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목표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앤티 기본 × 판 배수 × 곡선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85800" y="6400800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관련  앤티  ·  목표 점수  ·  스타트 팩  ·  스티커  ·  골드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02336"/>
            <a:ext cx="10817352" cy="6126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25">
                <a:solidFill>
                  <a:srgbClr val="171717"/>
                </a:solidFill>
                <a:latin typeface="Paperlogy 7 Bold"/>
                <a:ea typeface="Paperlogy 7 Bold"/>
                <a:cs typeface="Paperlogy 7 Bold"/>
              </a:rPr>
              <a:t>UI/UX - 레이아웃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85800" y="1143000"/>
            <a:ext cx="10817352" cy="0"/>
          </a:xfrm>
          <a:prstGeom prst="line">
            <a:avLst/>
          </a:prstGeom>
          <a:ln w="12700">
            <a:solidFill>
              <a:srgbClr val="1717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0881360" y="6419088"/>
            <a:ext cx="62179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71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335024"/>
            <a:ext cx="1081735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>
                <a:solidFill>
                  <a:srgbClr val="171717"/>
                </a:solidFill>
                <a:latin typeface="Paperlogy 6 SemiBold"/>
                <a:ea typeface="Paperlogy 6 SemiBold"/>
                <a:cs typeface="Paperlogy 6 SemiBold"/>
              </a:rPr>
              <a:t>뷰포트 640 × 360 px · HUD 좌표는 LAY 표 한 곳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847088"/>
            <a:ext cx="3749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상시 HUD 요소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85800" y="2176272"/>
          <a:ext cx="3749040" cy="1696212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1325880"/>
                <a:gridCol w="2423160"/>
              </a:tblGrid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상단 띠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640 × 18 px · y0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자금판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72 × 34 px · x4 y20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소비 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68 × 44 px · 2칸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스티커 랙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322 × 44 px · 5칸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용량 표시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40 × 44 px · x490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다트 벽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x34 · 간격 31 px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점수 카드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244 × 96 px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4937760" y="1847088"/>
            <a:ext cx="3749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띠와 하단 줄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4937760" y="2176272"/>
          <a:ext cx="3749038" cy="2455164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905340"/>
                <a:gridCol w="1160693"/>
                <a:gridCol w="1683005"/>
              </a:tblGrid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자리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좌표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싣는 것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</a:tr>
              <a:tr h="484632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띠 1칸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x 0~100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R n / 8 · 앤티 눈금 8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484632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띠 2칸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x 100~584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판 이름 · 목표 게이지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띠 2칸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x 514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점수 / 목표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띠 3칸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x 584~640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이번 판 제약 아이콘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안내 줄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y 348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지금 할 일 · 12 pt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484632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조절 값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y 356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디버그 빌드만 · 9 pt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85800" y="6400800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관련  조작  ·  화면 전이  ·  랙  ·  상점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02336"/>
            <a:ext cx="10817352" cy="6126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25">
                <a:solidFill>
                  <a:srgbClr val="171717"/>
                </a:solidFill>
                <a:latin typeface="Paperlogy 7 Bold"/>
                <a:ea typeface="Paperlogy 7 Bold"/>
                <a:cs typeface="Paperlogy 7 Bold"/>
              </a:rPr>
              <a:t>UI/UX - 레이아웃 (이어서)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85800" y="1143000"/>
            <a:ext cx="10817352" cy="0"/>
          </a:xfrm>
          <a:prstGeom prst="line">
            <a:avLst/>
          </a:prstGeom>
          <a:ln w="12700">
            <a:solidFill>
              <a:srgbClr val="1717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0881360" y="6419088"/>
            <a:ext cx="62179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72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335024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화면별 HUD 노출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85800" y="1664207"/>
          <a:ext cx="10817350" cy="1485900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2612239"/>
                <a:gridCol w="3349025"/>
                <a:gridCol w="4856086"/>
              </a:tblGrid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화면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상단 띠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나머지 판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판 · 판 고르기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켠다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전부 그린다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제약 고르기 · 상점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끈다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16 px 올린다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정산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켠다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전부 끈다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484632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제목 · 설정 · 컬렉션 · 새 런 · 종료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끈다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전부 끈다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85800" y="6400800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관련  조작  ·  화면 전이  ·  랙  ·  상점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02336"/>
            <a:ext cx="10817352" cy="6126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25">
                <a:solidFill>
                  <a:srgbClr val="171717"/>
                </a:solidFill>
                <a:latin typeface="Paperlogy 7 Bold"/>
                <a:ea typeface="Paperlogy 7 Bold"/>
                <a:cs typeface="Paperlogy 7 Bold"/>
              </a:rPr>
              <a:t>UI/UX - 조작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85800" y="1143000"/>
            <a:ext cx="10817352" cy="0"/>
          </a:xfrm>
          <a:prstGeom prst="line">
            <a:avLst/>
          </a:prstGeom>
          <a:ln w="12700">
            <a:solidFill>
              <a:srgbClr val="1717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0881360" y="6419088"/>
            <a:ext cx="62179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73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335024"/>
            <a:ext cx="1081735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>
                <a:solidFill>
                  <a:srgbClr val="171717"/>
                </a:solidFill>
                <a:latin typeface="Paperlogy 6 SemiBold"/>
                <a:ea typeface="Paperlogy 6 SemiBold"/>
                <a:cs typeface="Paperlogy 6 SemiBold"/>
              </a:rPr>
              <a:t>진행은 좌클릭 하나. 스페이스가 같은 동작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847088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상태별 입력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85800" y="2176272"/>
          <a:ext cx="10817350" cy="2455164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2612239"/>
                <a:gridCol w="3349025"/>
                <a:gridCol w="4856086"/>
              </a:tblGrid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상태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좌클릭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스페이스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다트 고르기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벽의 자루 · 반경 18 px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0번 자루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높이 조준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판 위(반경 119.6 px) 클릭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즉시 잠금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좌우 조준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같은 규칙 · 좌우 잠금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즉시 잠금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확인 · 비행 · 정산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안 받는다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안 받는다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판 고르기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「시작」 · 「건너뛰기」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없음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제약 고르기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0.56 초 뒤 카드 선택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없음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상점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아래 여덟 단계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선택 해제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정산 화면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아무 자리 → 상점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상점으로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종료 화면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아무 자리 → 새 런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새 런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85800" y="4805171"/>
            <a:ext cx="7909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키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85800" y="5134355"/>
          <a:ext cx="7909559" cy="1001268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1910048"/>
                <a:gridCol w="2448780"/>
                <a:gridCol w="3550731"/>
              </a:tblGrid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키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하는 일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범위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스페이스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진행 · 확정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—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ESC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일시정지 · 취소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—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F11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전체화면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—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85800" y="6400800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관련  조준  ·  조준 방식  ·  레이아웃  ·  상태별 처리  ·  상점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02336"/>
            <a:ext cx="10817352" cy="6126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25">
                <a:solidFill>
                  <a:srgbClr val="171717"/>
                </a:solidFill>
                <a:latin typeface="Paperlogy 7 Bold"/>
                <a:ea typeface="Paperlogy 7 Bold"/>
                <a:cs typeface="Paperlogy 7 Bold"/>
              </a:rPr>
              <a:t>UI/UX - 조작 (이어서)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85800" y="1143000"/>
            <a:ext cx="10817352" cy="0"/>
          </a:xfrm>
          <a:prstGeom prst="line">
            <a:avLst/>
          </a:prstGeom>
          <a:ln w="12700">
            <a:solidFill>
              <a:srgbClr val="1717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0881360" y="6419088"/>
            <a:ext cx="62179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74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335024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키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85800" y="1664207"/>
          <a:ext cx="10817350" cy="1243584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2612239"/>
                <a:gridCol w="3349025"/>
                <a:gridCol w="4856086"/>
              </a:tblGrid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키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하는 일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범위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[  ]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조준 속도 ∓0.05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0.15 ~ 4.0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-  =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정산 간격 ±0.03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0.08 ~ 1.0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; '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확인 텀 ∓0.05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0.0 ~ 1.5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\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개발 오버레이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Tab 쪽 넘김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85800" y="3081527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상점 클릭 판정 순서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3410711"/>
            <a:ext cx="5202936" cy="6035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</a:pPr>
            <a:r>
              <a:rPr sz="1200">
                <a:solidFill>
                  <a:srgbClr val="168DA8"/>
                </a:solidFill>
                <a:latin typeface="Paperlogy 7 Bold"/>
                <a:ea typeface="Paperlogy 7 Bold"/>
                <a:cs typeface="Paperlogy 7 Bold"/>
              </a:rPr>
              <a:t>01  </a:t>
            </a:r>
            <a:r>
              <a:rPr sz="1200">
                <a:solidFill>
                  <a:srgbClr val="171717"/>
                </a:solidFill>
                <a:latin typeface="Paperlogy 6 SemiBold"/>
                <a:ea typeface="Paperlogy 6 SemiBold"/>
                <a:cs typeface="Paperlogy 6 SemiBold"/>
              </a:rPr>
              <a:t>쓸기 중</a:t>
            </a:r>
          </a:p>
          <a:p>
            <a:pPr>
              <a:lnSpc>
                <a:spcPct val="120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클릭을 통째로 삼킨다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85800" y="3977639"/>
            <a:ext cx="5202936" cy="0"/>
          </a:xfrm>
          <a:prstGeom prst="line">
            <a:avLst/>
          </a:prstGeom>
          <a:ln w="9525">
            <a:solidFill>
              <a:srgbClr val="D8D8D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685800" y="4050791"/>
            <a:ext cx="5202936" cy="6035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</a:pPr>
            <a:r>
              <a:rPr sz="1200">
                <a:solidFill>
                  <a:srgbClr val="168DA8"/>
                </a:solidFill>
                <a:latin typeface="Paperlogy 7 Bold"/>
                <a:ea typeface="Paperlogy 7 Bold"/>
                <a:cs typeface="Paperlogy 7 Bold"/>
              </a:rPr>
              <a:t>02  </a:t>
            </a:r>
            <a:r>
              <a:rPr sz="1200">
                <a:solidFill>
                  <a:srgbClr val="171717"/>
                </a:solidFill>
                <a:latin typeface="Paperlogy 6 SemiBold"/>
                <a:ea typeface="Paperlogy 6 SemiBold"/>
                <a:cs typeface="Paperlogy 6 SemiBold"/>
              </a:rPr>
              <a:t>선반</a:t>
            </a:r>
          </a:p>
          <a:p>
            <a:pPr>
              <a:lnSpc>
                <a:spcPct val="120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설비 구매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685800" y="4617720"/>
            <a:ext cx="5202936" cy="0"/>
          </a:xfrm>
          <a:prstGeom prst="line">
            <a:avLst/>
          </a:prstGeom>
          <a:ln w="9525">
            <a:solidFill>
              <a:srgbClr val="D8D8D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685800" y="4690871"/>
            <a:ext cx="5202936" cy="6035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</a:pPr>
            <a:r>
              <a:rPr sz="1200">
                <a:solidFill>
                  <a:srgbClr val="168DA8"/>
                </a:solidFill>
                <a:latin typeface="Paperlogy 7 Bold"/>
                <a:ea typeface="Paperlogy 7 Bold"/>
                <a:cs typeface="Paperlogy 7 Bold"/>
              </a:rPr>
              <a:t>03  </a:t>
            </a:r>
            <a:r>
              <a:rPr sz="1200">
                <a:solidFill>
                  <a:srgbClr val="171717"/>
                </a:solidFill>
                <a:latin typeface="Paperlogy 6 SemiBold"/>
                <a:ea typeface="Paperlogy 6 SemiBold"/>
                <a:cs typeface="Paperlogy 6 SemiBold"/>
              </a:rPr>
              <a:t>좌우 창구</a:t>
            </a:r>
          </a:p>
          <a:p>
            <a:pPr>
              <a:lnSpc>
                <a:spcPct val="120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왼쪽 판매 · 오른쪽 구매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685800" y="5257799"/>
            <a:ext cx="5202936" cy="0"/>
          </a:xfrm>
          <a:prstGeom prst="line">
            <a:avLst/>
          </a:prstGeom>
          <a:ln w="9525">
            <a:solidFill>
              <a:srgbClr val="D8D8D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685800" y="5330951"/>
            <a:ext cx="5202936" cy="6035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</a:pPr>
            <a:r>
              <a:rPr sz="1200">
                <a:solidFill>
                  <a:srgbClr val="168DA8"/>
                </a:solidFill>
                <a:latin typeface="Paperlogy 7 Bold"/>
                <a:ea typeface="Paperlogy 7 Bold"/>
                <a:cs typeface="Paperlogy 7 Bold"/>
              </a:rPr>
              <a:t>04  </a:t>
            </a:r>
            <a:r>
              <a:rPr sz="1200">
                <a:solidFill>
                  <a:srgbClr val="171717"/>
                </a:solidFill>
                <a:latin typeface="Paperlogy 6 SemiBold"/>
                <a:ea typeface="Paperlogy 6 SemiBold"/>
                <a:cs typeface="Paperlogy 6 SemiBold"/>
              </a:rPr>
              <a:t>스티커 랙</a:t>
            </a:r>
          </a:p>
          <a:p>
            <a:pPr>
              <a:lnSpc>
                <a:spcPct val="120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팔 스티커 고르기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685800" y="5897879"/>
            <a:ext cx="5202936" cy="0"/>
          </a:xfrm>
          <a:prstGeom prst="line">
            <a:avLst/>
          </a:prstGeom>
          <a:ln w="9525">
            <a:solidFill>
              <a:srgbClr val="D8D8D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6300216" y="3410711"/>
            <a:ext cx="5202936" cy="6035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</a:pPr>
            <a:r>
              <a:rPr sz="1200">
                <a:solidFill>
                  <a:srgbClr val="168DA8"/>
                </a:solidFill>
                <a:latin typeface="Paperlogy 7 Bold"/>
                <a:ea typeface="Paperlogy 7 Bold"/>
                <a:cs typeface="Paperlogy 7 Bold"/>
              </a:rPr>
              <a:t>05  </a:t>
            </a:r>
            <a:r>
              <a:rPr sz="1200">
                <a:solidFill>
                  <a:srgbClr val="171717"/>
                </a:solidFill>
                <a:latin typeface="Paperlogy 6 SemiBold"/>
                <a:ea typeface="Paperlogy 6 SemiBold"/>
                <a:cs typeface="Paperlogy 6 SemiBold"/>
              </a:rPr>
              <a:t>리롤 버튼</a:t>
            </a:r>
          </a:p>
          <a:p>
            <a:pPr>
              <a:lnSpc>
                <a:spcPct val="120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x32 y288 · 152 × 46 px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6300216" y="3977639"/>
            <a:ext cx="5202936" cy="0"/>
          </a:xfrm>
          <a:prstGeom prst="line">
            <a:avLst/>
          </a:prstGeom>
          <a:ln w="9525">
            <a:solidFill>
              <a:srgbClr val="D8D8D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6300216" y="4050791"/>
            <a:ext cx="5202936" cy="6035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</a:pPr>
            <a:r>
              <a:rPr sz="1200">
                <a:solidFill>
                  <a:srgbClr val="168DA8"/>
                </a:solidFill>
                <a:latin typeface="Paperlogy 7 Bold"/>
                <a:ea typeface="Paperlogy 7 Bold"/>
                <a:cs typeface="Paperlogy 7 Bold"/>
              </a:rPr>
              <a:t>06  </a:t>
            </a:r>
            <a:r>
              <a:rPr sz="1200">
                <a:solidFill>
                  <a:srgbClr val="171717"/>
                </a:solidFill>
                <a:latin typeface="Paperlogy 6 SemiBold"/>
                <a:ea typeface="Paperlogy 6 SemiBold"/>
                <a:cs typeface="Paperlogy 6 SemiBold"/>
              </a:rPr>
              <a:t>다음 버튼</a:t>
            </a:r>
          </a:p>
          <a:p>
            <a:pPr>
              <a:lnSpc>
                <a:spcPct val="120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x432 y288 · 176 × 46 px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6300216" y="4617720"/>
            <a:ext cx="5202936" cy="0"/>
          </a:xfrm>
          <a:prstGeom prst="line">
            <a:avLst/>
          </a:prstGeom>
          <a:ln w="9525">
            <a:solidFill>
              <a:srgbClr val="D8D8D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6300216" y="4690871"/>
            <a:ext cx="5202936" cy="6035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</a:pPr>
            <a:r>
              <a:rPr sz="1200">
                <a:solidFill>
                  <a:srgbClr val="168DA8"/>
                </a:solidFill>
                <a:latin typeface="Paperlogy 7 Bold"/>
                <a:ea typeface="Paperlogy 7 Bold"/>
                <a:cs typeface="Paperlogy 7 Bold"/>
              </a:rPr>
              <a:t>07  </a:t>
            </a:r>
            <a:r>
              <a:rPr sz="1200">
                <a:solidFill>
                  <a:srgbClr val="171717"/>
                </a:solidFill>
                <a:latin typeface="Paperlogy 6 SemiBold"/>
                <a:ea typeface="Paperlogy 6 SemiBold"/>
                <a:cs typeface="Paperlogy 6 SemiBold"/>
              </a:rPr>
              <a:t>낙하 중</a:t>
            </a:r>
          </a:p>
          <a:p>
            <a:pPr>
              <a:lnSpc>
                <a:spcPct val="120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「지금 세운다」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6300216" y="5257799"/>
            <a:ext cx="5202936" cy="0"/>
          </a:xfrm>
          <a:prstGeom prst="line">
            <a:avLst/>
          </a:prstGeom>
          <a:ln w="9525">
            <a:solidFill>
              <a:srgbClr val="D8D8D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6300216" y="5330951"/>
            <a:ext cx="5202936" cy="6035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</a:pPr>
            <a:r>
              <a:rPr sz="1200">
                <a:solidFill>
                  <a:srgbClr val="168DA8"/>
                </a:solidFill>
                <a:latin typeface="Paperlogy 7 Bold"/>
                <a:ea typeface="Paperlogy 7 Bold"/>
                <a:cs typeface="Paperlogy 7 Bold"/>
              </a:rPr>
              <a:t>08  </a:t>
            </a:r>
            <a:r>
              <a:rPr sz="1200">
                <a:solidFill>
                  <a:srgbClr val="171717"/>
                </a:solidFill>
                <a:latin typeface="Paperlogy 6 SemiBold"/>
                <a:ea typeface="Paperlogy 6 SemiBold"/>
                <a:cs typeface="Paperlogy 6 SemiBold"/>
              </a:rPr>
              <a:t>매물 · 맨 펠트</a:t>
            </a:r>
          </a:p>
          <a:p>
            <a:pPr>
              <a:lnSpc>
                <a:spcPct val="120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고르기 · 취소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6300216" y="5897879"/>
            <a:ext cx="5202936" cy="0"/>
          </a:xfrm>
          <a:prstGeom prst="line">
            <a:avLst/>
          </a:prstGeom>
          <a:ln w="9525">
            <a:solidFill>
              <a:srgbClr val="D8D8D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685800" y="6400800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관련  조준  ·  조준 방식  ·  레이아웃  ·  상태별 처리  ·  상점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02336"/>
            <a:ext cx="10817352" cy="6126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25">
                <a:solidFill>
                  <a:srgbClr val="171717"/>
                </a:solidFill>
                <a:latin typeface="Paperlogy 7 Bold"/>
                <a:ea typeface="Paperlogy 7 Bold"/>
                <a:cs typeface="Paperlogy 7 Bold"/>
              </a:rPr>
              <a:t>UI/UX - 화면 전이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85800" y="1143000"/>
            <a:ext cx="10817352" cy="0"/>
          </a:xfrm>
          <a:prstGeom prst="line">
            <a:avLst/>
          </a:prstGeom>
          <a:ln w="12700">
            <a:solidFill>
              <a:srgbClr val="1717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0881360" y="6419088"/>
            <a:ext cx="62179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75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335024"/>
            <a:ext cx="1081735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>
                <a:solidFill>
                  <a:srgbClr val="171717"/>
                </a:solidFill>
                <a:latin typeface="Paperlogy 6 SemiBold"/>
                <a:ea typeface="Paperlogy 6 SemiBold"/>
                <a:cs typeface="Paperlogy 6 SemiBold"/>
              </a:rPr>
              <a:t>상태 15개가 그리는 화면 10개를 나눠 쓴다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1847088"/>
            <a:ext cx="2046427" cy="914400"/>
          </a:xfrm>
          <a:prstGeom prst="roundRect">
            <a:avLst/>
          </a:prstGeom>
          <a:noFill/>
          <a:ln w="9525">
            <a:solidFill>
              <a:srgbClr val="C9CC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200">
                <a:solidFill>
                  <a:srgbClr val="171717"/>
                </a:solidFill>
                <a:latin typeface="Paperlogy 6 SemiBold"/>
                <a:ea typeface="Paperlogy 6 SemiBold"/>
                <a:cs typeface="Paperlogy 6 SemiBold"/>
              </a:rPr>
              <a:t>판 고르기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2750515" y="2304288"/>
            <a:ext cx="109728" cy="0"/>
          </a:xfrm>
          <a:prstGeom prst="line">
            <a:avLst/>
          </a:prstGeom>
          <a:ln w="12700">
            <a:solidFill>
              <a:srgbClr val="168DA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2878531" y="1847088"/>
            <a:ext cx="2046427" cy="914400"/>
          </a:xfrm>
          <a:prstGeom prst="roundRect">
            <a:avLst/>
          </a:prstGeom>
          <a:noFill/>
          <a:ln w="9525">
            <a:solidFill>
              <a:srgbClr val="C9CC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200">
                <a:solidFill>
                  <a:srgbClr val="171717"/>
                </a:solidFill>
                <a:latin typeface="Paperlogy 6 SemiBold"/>
                <a:ea typeface="Paperlogy 6 SemiBold"/>
                <a:cs typeface="Paperlogy 6 SemiBold"/>
              </a:rPr>
              <a:t>제약 고르기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4943246" y="2304288"/>
            <a:ext cx="109728" cy="0"/>
          </a:xfrm>
          <a:prstGeom prst="line">
            <a:avLst/>
          </a:prstGeom>
          <a:ln w="12700">
            <a:solidFill>
              <a:srgbClr val="168DA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5071262" y="1847088"/>
            <a:ext cx="2046427" cy="914400"/>
          </a:xfrm>
          <a:prstGeom prst="roundRect">
            <a:avLst/>
          </a:prstGeom>
          <a:noFill/>
          <a:ln w="9525">
            <a:solidFill>
              <a:srgbClr val="C9CC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200">
                <a:solidFill>
                  <a:srgbClr val="171717"/>
                </a:solidFill>
                <a:latin typeface="Paperlogy 6 SemiBold"/>
                <a:ea typeface="Paperlogy 6 SemiBold"/>
                <a:cs typeface="Paperlogy 6 SemiBold"/>
              </a:rPr>
              <a:t>판 6상태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7135977" y="2304288"/>
            <a:ext cx="109728" cy="0"/>
          </a:xfrm>
          <a:prstGeom prst="line">
            <a:avLst/>
          </a:prstGeom>
          <a:ln w="12700">
            <a:solidFill>
              <a:srgbClr val="168DA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7263993" y="1847088"/>
            <a:ext cx="2046427" cy="914400"/>
          </a:xfrm>
          <a:prstGeom prst="roundRect">
            <a:avLst/>
          </a:prstGeom>
          <a:noFill/>
          <a:ln w="9525">
            <a:solidFill>
              <a:srgbClr val="C9CC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200">
                <a:solidFill>
                  <a:srgbClr val="171717"/>
                </a:solidFill>
                <a:latin typeface="Paperlogy 6 SemiBold"/>
                <a:ea typeface="Paperlogy 6 SemiBold"/>
                <a:cs typeface="Paperlogy 6 SemiBold"/>
              </a:rPr>
              <a:t>정산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9328708" y="2304288"/>
            <a:ext cx="109728" cy="0"/>
          </a:xfrm>
          <a:prstGeom prst="line">
            <a:avLst/>
          </a:prstGeom>
          <a:ln w="12700">
            <a:solidFill>
              <a:srgbClr val="168DA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9456724" y="1847088"/>
            <a:ext cx="2046427" cy="914400"/>
          </a:xfrm>
          <a:prstGeom prst="roundRect">
            <a:avLst/>
          </a:prstGeom>
          <a:noFill/>
          <a:ln w="9525">
            <a:solidFill>
              <a:srgbClr val="C9CC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200">
                <a:solidFill>
                  <a:srgbClr val="171717"/>
                </a:solidFill>
                <a:latin typeface="Paperlogy 6 SemiBold"/>
                <a:ea typeface="Paperlogy 6 SemiBold"/>
                <a:cs typeface="Paperlogy 6 SemiBold"/>
              </a:rPr>
              <a:t>상점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6400800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관련  런 구조  ·  판  ·  상점  ·  레이아웃  ·  딜러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02336"/>
            <a:ext cx="10817352" cy="6126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25">
                <a:solidFill>
                  <a:srgbClr val="171717"/>
                </a:solidFill>
                <a:latin typeface="Paperlogy 7 Bold"/>
                <a:ea typeface="Paperlogy 7 Bold"/>
                <a:cs typeface="Paperlogy 7 Bold"/>
              </a:rPr>
              <a:t>UI/UX - 화면 전이 (이어서)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85800" y="1143000"/>
            <a:ext cx="10817352" cy="0"/>
          </a:xfrm>
          <a:prstGeom prst="line">
            <a:avLst/>
          </a:prstGeom>
          <a:ln w="12700">
            <a:solidFill>
              <a:srgbClr val="1717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0881360" y="6419088"/>
            <a:ext cx="62179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76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335024"/>
            <a:ext cx="3749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화면 밖 전이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85800" y="1664207"/>
          <a:ext cx="3749038" cy="3666744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905340"/>
                <a:gridCol w="1160693"/>
                <a:gridCol w="1683005"/>
              </a:tblGrid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출발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조건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도착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부팅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—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제목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484632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제목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시작 · 컬렉션 · 설정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새 런 · 컬렉션 · 설정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새 런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스페이스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판 고르기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484632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판 고르기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「건너뛰기」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다음 판 · 딱지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정산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클릭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상점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상점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「다음」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판 고르기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726948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정산 시점 목표 미달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—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종료(실패)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484632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24판째 클리어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—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종료(완주)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종료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클릭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새 런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937760" y="1335024"/>
            <a:ext cx="3749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판 갈이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937760" y="1664207"/>
          <a:ext cx="3749040" cy="1696212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1325880"/>
                <a:gridCol w="2423160"/>
              </a:tblGrid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총 길이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0.36 초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테이블 빠짐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0.15 초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판이 뜨는 시각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0.13 초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판이 서기까지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0.23 초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돌아올 때 눕기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0.11 초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도는 동안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입력 전부 삼킴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여는 자리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라운드 시작 · 정산 클릭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85800" y="6400800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관련  런 구조  ·  판  ·  상점  ·  레이아웃  ·  딜러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02336"/>
            <a:ext cx="10817352" cy="6126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25">
                <a:solidFill>
                  <a:srgbClr val="171717"/>
                </a:solidFill>
                <a:latin typeface="Paperlogy 7 Bold"/>
                <a:ea typeface="Paperlogy 7 Bold"/>
                <a:cs typeface="Paperlogy 7 Bold"/>
              </a:rPr>
              <a:t>UI/UX - 상태별 처리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85800" y="1143000"/>
            <a:ext cx="10817352" cy="0"/>
          </a:xfrm>
          <a:prstGeom prst="line">
            <a:avLst/>
          </a:prstGeom>
          <a:ln w="12700">
            <a:solidFill>
              <a:srgbClr val="1717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0881360" y="6419088"/>
            <a:ext cx="62179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77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335024"/>
            <a:ext cx="1081735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>
                <a:solidFill>
                  <a:srgbClr val="171717"/>
                </a:solidFill>
                <a:latin typeface="Paperlogy 6 SemiBold"/>
                <a:ea typeface="Paperlogy 6 SemiBold"/>
                <a:cs typeface="Paperlogy 6 SemiBold"/>
              </a:rPr>
              <a:t>판 6상태는 한 화면을 쓰고 나머지 9는 각자 그린다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847088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입력을 잠그는 자리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85800" y="2176272"/>
          <a:ext cx="10817350" cy="2212848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2612239"/>
                <a:gridCol w="3349025"/>
                <a:gridCol w="4856086"/>
              </a:tblGrid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자리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잠기는 것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푸는 조건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판 갈이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클릭 · 키 전부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0.36 초 · 아무 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딜러 쓸기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상점 클릭 전부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1.08 초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매물 낙하 중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구매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첫 클릭이 세운다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제약 카드 딜링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카드 선택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0.56 초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확인 · 비행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전부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자동 진행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정산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랙 순서 바꾸기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정산 끝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연발 진행 중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다트 갈아타기 · 랙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마지막 발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첫 축 잠근 뒤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다트 갈아타기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다음 발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85800" y="6400800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관련  투척 흐름  ·  조작  ·  화면 전이  ·  정산 큐  ·  딜러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02336"/>
            <a:ext cx="10817352" cy="6126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25">
                <a:solidFill>
                  <a:srgbClr val="171717"/>
                </a:solidFill>
                <a:latin typeface="Paperlogy 7 Bold"/>
                <a:ea typeface="Paperlogy 7 Bold"/>
                <a:cs typeface="Paperlogy 7 Bold"/>
              </a:rPr>
              <a:t>UI/UX - 상태별 처리 (이어서)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85800" y="1143000"/>
            <a:ext cx="10817352" cy="0"/>
          </a:xfrm>
          <a:prstGeom prst="line">
            <a:avLst/>
          </a:prstGeom>
          <a:ln w="12700">
            <a:solidFill>
              <a:srgbClr val="1717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0881360" y="6419088"/>
            <a:ext cx="62179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78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335024"/>
            <a:ext cx="3749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ESC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85800" y="1664207"/>
          <a:ext cx="3749040" cy="1728216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1874520"/>
                <a:gridCol w="1874520"/>
              </a:tblGrid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상태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하는 일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설정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열던 자리로 되돌림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컬렉션 · 새 런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제목으로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손에 쥔 것 있음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놓기 취소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구매 · 판매 선택 중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선택 해제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그 밖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일시정지 → 설정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제목 · 종료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안 받는다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937760" y="1335024"/>
            <a:ext cx="3749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거절 문구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937760" y="1664207"/>
          <a:ext cx="3749040" cy="2697480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1874520"/>
                <a:gridCol w="1874520"/>
              </a:tblGrid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조건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문구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이미 팔린 매물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이미 구매함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골드 부족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골드가 N 모자란다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스티커 5칸 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스티커 판이 꽉 찼다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표준 다트 없음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바꿀 표준 다트가 없다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484632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소비 2칸 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소비 아이템 칸이 꽉 찼다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484632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구매 창구 빈손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먼저 매대에서 살 물건을 고른다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484632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판매 창구 빈손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먼저 판에서 팔 스티커를 고른다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85800" y="6400800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관련  투척 흐름  ·  조작  ·  화면 전이  ·  정산 큐  ·  딜러</a:t>
            </a: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02336"/>
            <a:ext cx="10817352" cy="6126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25">
                <a:solidFill>
                  <a:srgbClr val="171717"/>
                </a:solidFill>
                <a:latin typeface="Paperlogy 7 Bold"/>
                <a:ea typeface="Paperlogy 7 Bold"/>
                <a:cs typeface="Paperlogy 7 Bold"/>
              </a:rPr>
              <a:t>데이터 - 스티커 · 일반 1/4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85800" y="1143000"/>
            <a:ext cx="10817352" cy="0"/>
          </a:xfrm>
          <a:prstGeom prst="line">
            <a:avLst/>
          </a:prstGeom>
          <a:ln w="12700">
            <a:solidFill>
              <a:srgbClr val="1717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0881360" y="6419088"/>
            <a:ext cx="62179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79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335024"/>
            <a:ext cx="1081735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>
                <a:solidFill>
                  <a:srgbClr val="171717"/>
                </a:solidFill>
                <a:latin typeface="Paperlogy 6 SemiBold"/>
                <a:ea typeface="Paperlogy 6 SemiBold"/>
                <a:cs typeface="Paperlogy 6 SemiBold"/>
              </a:rPr>
              <a:t>일반 49장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85800" y="1847088"/>
          <a:ext cx="10817349" cy="3424428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1984043"/>
                <a:gridCol w="1069658"/>
                <a:gridCol w="3536773"/>
                <a:gridCol w="3450511"/>
                <a:gridCol w="776364"/>
              </a:tblGrid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이름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희귀도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조건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효과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가격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대물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일반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15 이상 섹터 명중 시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점수 +16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4G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가장자리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일반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더블 명중 시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배수 +3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4G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짝수 애호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일반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짝수 섹터 명중 시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점수 +14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4G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좌익수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일반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왼쪽 절반 명중 시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배수 +2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4G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굳은살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일반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5 이하 섹터 명중 시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배수 +2 · 정산 때 보유 골드 6 이하면 +4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4G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홀수 애호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일반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홀수 섹터 명중 시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점수 +14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4G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우익수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일반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오른쪽 절반 명중 시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배수 +2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4G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소물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일반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5 이하 섹터 명중 시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배수 +5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4G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삼중고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일반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트리플 명중 시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배수 +4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4G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빗나감 배수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일반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빗나가면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배수 +2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4G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랙 집합체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일반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모든 다트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보유 아이템 1개당 배수 +3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4G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잔여 깃발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일반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모든 다트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남은 다트 1개당 점수 +30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4G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모험심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일반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모든 다트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더블·트리플·불 명중 시 절반 확률로 골드 +2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4G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02336"/>
            <a:ext cx="10817352" cy="6126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25">
                <a:solidFill>
                  <a:srgbClr val="171717"/>
                </a:solidFill>
                <a:latin typeface="Paperlogy 7 Bold"/>
                <a:ea typeface="Paperlogy 7 Bold"/>
                <a:cs typeface="Paperlogy 7 Bold"/>
              </a:rPr>
              <a:t>데이터 - 스티커 · 일반 2/4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85800" y="1143000"/>
            <a:ext cx="10817352" cy="0"/>
          </a:xfrm>
          <a:prstGeom prst="line">
            <a:avLst/>
          </a:prstGeom>
          <a:ln w="12700">
            <a:solidFill>
              <a:srgbClr val="1717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0881360" y="6419088"/>
            <a:ext cx="62179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80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335024"/>
            <a:ext cx="1081735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>
                <a:solidFill>
                  <a:srgbClr val="171717"/>
                </a:solidFill>
                <a:latin typeface="Paperlogy 6 SemiBold"/>
                <a:ea typeface="Paperlogy 6 SemiBold"/>
                <a:cs typeface="Paperlogy 6 SemiBold"/>
              </a:rPr>
              <a:t>일반 49장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85800" y="1847088"/>
          <a:ext cx="10817349" cy="3424428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1984043"/>
                <a:gridCol w="1069658"/>
                <a:gridCol w="3536773"/>
                <a:gridCol w="3450511"/>
                <a:gridCol w="776364"/>
              </a:tblGrid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이름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희귀도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조건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효과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가격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과충전 증폭기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일반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모든 다트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배수 ×3 · 라운드마다 0.1% 확률로 파괴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4G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이중 짝맞춤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일반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다른 두 숫자를 각 2회 맞힌 발부터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점수 +80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4G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영역 집중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일반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같은 영역 종류 3회를 맞힌 발부터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점수 +80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4G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분산 궤적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일반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다른 숫자 세 곳을 맞힌 발부터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배수 +12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4G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결벽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일반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모든 다트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한 발도 안 빗나가면 골드 +2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4G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분산 관통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일반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다른 숫자 세 곳을 맞힌 발부터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점수 +100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4G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한 영역 고집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일반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같은 영역 종류 3회를 맞힌 발부터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배수 +10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4G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짝수 보정기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일반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짝수 섹터 명중 시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배수 +4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4G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지정색 증폭기 A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일반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크림 칸 명중 시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배수 +3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4G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정산 모듈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일반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모든 다트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라운드마다 골드 +4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4G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지정색 증폭기 B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일반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먹 칸 명중 시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배수 +3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4G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명중 적립기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일반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모든 다트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명중마다 배수 +1 · 빗나가면 −1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4G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불안정 증폭기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일반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모든 다트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배수 +15 · 라운드마다 1/6 확률로 파괴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4G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02336"/>
            <a:ext cx="10817352" cy="6126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25">
                <a:solidFill>
                  <a:srgbClr val="171717"/>
                </a:solidFill>
                <a:latin typeface="Paperlogy 7 Bold"/>
                <a:ea typeface="Paperlogy 7 Bold"/>
                <a:cs typeface="Paperlogy 7 Bold"/>
              </a:rPr>
              <a:t>데이터 - 스티커 · 일반 3/4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85800" y="1143000"/>
            <a:ext cx="10817352" cy="0"/>
          </a:xfrm>
          <a:prstGeom prst="line">
            <a:avLst/>
          </a:prstGeom>
          <a:ln w="12700">
            <a:solidFill>
              <a:srgbClr val="1717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0881360" y="6419088"/>
            <a:ext cx="62179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81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335024"/>
            <a:ext cx="1081735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>
                <a:solidFill>
                  <a:srgbClr val="171717"/>
                </a:solidFill>
                <a:latin typeface="Paperlogy 6 SemiBold"/>
                <a:ea typeface="Paperlogy 6 SemiBold"/>
                <a:cs typeface="Paperlogy 6 SemiBold"/>
              </a:rPr>
              <a:t>일반 49장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85800" y="1847088"/>
          <a:ext cx="10817349" cy="3666744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1984043"/>
                <a:gridCol w="1069658"/>
                <a:gridCol w="3536773"/>
                <a:gridCol w="3450511"/>
                <a:gridCol w="776364"/>
              </a:tblGrid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이름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희귀도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조건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효과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가격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소수 정예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일반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이번 라운드 다트가 3개 이하면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배수 +20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4G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녹는 점수원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일반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모든 다트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점수 +100 에서 시작 · 던질 때마다 −5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4G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기본 증폭기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일반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모든 다트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배수 +4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8G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같은 숫자 한 쌍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일반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같은 숫자 2회를 맞힌 발부터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배수 +8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4G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예비 다트 홀더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일반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모든 다트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라운드 시작 다트 +1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4G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이중 짝 증폭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일반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다른 두 숫자를 각 2회 맞힌 발부터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배수 +10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4G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오차 인쇄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일반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모든 다트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배수 +0~23 무작위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4G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마지막 고도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일반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라운드 마지막 다트에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배수 +15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4G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홀수 보정기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일반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홀수 섹터 명중 시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점수 +31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5G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첫 고난도 촬영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일반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라운드 첫 더블·트리플·불 명중 시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배수 ×2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4G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484632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소모성 증폭기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일반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모든 다트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배수 +20 에서 시작 · 라운드마다 −4 · 0이면 파괴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4G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최저점 반격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일반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모든 다트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라운드 최저 명중 숫자 1당 배수 +2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4G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분산 주자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일반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다른 숫자 세 곳을 맞힌 발부터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발동할 때마다 점수 +15 누적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4G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02336"/>
            <a:ext cx="10817352" cy="6126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25">
                <a:solidFill>
                  <a:srgbClr val="171717"/>
                </a:solidFill>
                <a:latin typeface="Paperlogy 7 Bold"/>
                <a:ea typeface="Paperlogy 7 Bold"/>
                <a:cs typeface="Paperlogy 7 Bold"/>
              </a:rPr>
              <a:t>데이터 - 스티커 · 일반 4/4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85800" y="1143000"/>
            <a:ext cx="10817352" cy="0"/>
          </a:xfrm>
          <a:prstGeom prst="line">
            <a:avLst/>
          </a:prstGeom>
          <a:ln w="12700">
            <a:solidFill>
              <a:srgbClr val="1717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0881360" y="6419088"/>
            <a:ext cx="62179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82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335024"/>
            <a:ext cx="1081735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>
                <a:solidFill>
                  <a:srgbClr val="171717"/>
                </a:solidFill>
                <a:latin typeface="Paperlogy 6 SemiBold"/>
                <a:ea typeface="Paperlogy 6 SemiBold"/>
                <a:cs typeface="Paperlogy 6 SemiBold"/>
              </a:rPr>
              <a:t>일반 49장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85800" y="1847088"/>
          <a:ext cx="10817349" cy="2697480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1984043"/>
                <a:gridCol w="1069658"/>
                <a:gridCol w="3536773"/>
                <a:gridCol w="3450511"/>
                <a:gridCol w="776364"/>
              </a:tblGrid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이름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희귀도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조건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효과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가격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고난도 표적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일반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더블·트리플·불 명중 시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점수 +30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8G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불 연구원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일반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불 명중 시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점수 +20 · 배수 +4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4G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무거운 대기열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일반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모든 다트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무거운 다트 1개당 배수 +13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4G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같은 숫자 보너스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일반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같은 숫자 2회를 맞힌 발부터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점수 +50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4G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고난도 미소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일반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더블·트리플·불 명중 시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배수 +5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5G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착탄 이력계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일반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모든 다트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이 영역의 런 누적 명중 1회당 배수 +1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4G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진열 가치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일반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모든 다트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다른 아이템 판매가 합계만큼 배수 추가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4G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4·10 무전기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일반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4·10번 명중 시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점수 +10 · 배수 +4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4G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세 발 집중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일반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같은 숫자 3회를 맞힌 발부터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점수 +100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4G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세 발 증폭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일반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같은 숫자 3회를 맞힌 발부터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배수 +12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4G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02336"/>
            <a:ext cx="10817352" cy="6126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25">
                <a:solidFill>
                  <a:srgbClr val="171717"/>
                </a:solidFill>
                <a:latin typeface="Paperlogy 7 Bold"/>
                <a:ea typeface="Paperlogy 7 Bold"/>
                <a:cs typeface="Paperlogy 7 Bold"/>
              </a:rPr>
              <a:t>데이터 - 스티커 · 희귀 1/2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85800" y="1143000"/>
            <a:ext cx="10817352" cy="0"/>
          </a:xfrm>
          <a:prstGeom prst="line">
            <a:avLst/>
          </a:prstGeom>
          <a:ln w="12700">
            <a:solidFill>
              <a:srgbClr val="1717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0881360" y="6419088"/>
            <a:ext cx="62179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83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335024"/>
            <a:ext cx="1081735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>
                <a:solidFill>
                  <a:srgbClr val="171717"/>
                </a:solidFill>
                <a:latin typeface="Paperlogy 6 SemiBold"/>
                <a:ea typeface="Paperlogy 6 SemiBold"/>
                <a:cs typeface="Paperlogy 6 SemiBold"/>
              </a:rPr>
              <a:t>희귀 26장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85800" y="1847088"/>
          <a:ext cx="10817349" cy="3424428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1984043"/>
                <a:gridCol w="1069658"/>
                <a:gridCol w="3536773"/>
                <a:gridCol w="3450511"/>
                <a:gridCol w="776364"/>
              </a:tblGrid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이름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희귀도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조건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효과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가격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새 자리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희귀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직전과 다른 섹터면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점수 +12 · 한 발도 안 빗나가면 골드 +3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7G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띠쟁이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희귀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트리플·더블 어디든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점수 +20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7G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명중왕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희귀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불 명중 시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배수 +8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7G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첫 발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희귀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라운드 첫 다트에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점수 +45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7G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막판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희귀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라운드 마지막 다트에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배수 ×2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7G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선취점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희귀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라운드 첫 다트에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점수 +26 · 남은 다트 1개당 골드 +1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7G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외골수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희귀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직전과 같은 섹터면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배수 +4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7G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손맛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희귀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이번 라운드에 트리플을 맞힌 뒤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점수 +30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7G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연속 빗나감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희귀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직전 투척이 빗나갔다면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배수 ×2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7G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마지막 곡예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희귀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라운드 마지막 다트에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배수 ×3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8G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검은 쐐기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희귀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먹 칸 명중 시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점수 +50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7G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자금 증폭끈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희귀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모든 다트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보유 골드 5당 배수 +2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7G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자금 과녁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희귀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모든 다트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보유 골드 1당 점수 +2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7G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02336"/>
            <a:ext cx="10817352" cy="6126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25">
                <a:solidFill>
                  <a:srgbClr val="171717"/>
                </a:solidFill>
                <a:latin typeface="Paperlogy 7 Bold"/>
                <a:ea typeface="Paperlogy 7 Bold"/>
                <a:cs typeface="Paperlogy 7 Bold"/>
              </a:rPr>
              <a:t>데이터 - 스티커 · 희귀 2/2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85800" y="1143000"/>
            <a:ext cx="10817352" cy="0"/>
          </a:xfrm>
          <a:prstGeom prst="line">
            <a:avLst/>
          </a:prstGeom>
          <a:ln w="12700">
            <a:solidFill>
              <a:srgbClr val="1717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0881360" y="6419088"/>
            <a:ext cx="62179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84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335024"/>
            <a:ext cx="1081735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>
                <a:solidFill>
                  <a:srgbClr val="171717"/>
                </a:solidFill>
                <a:latin typeface="Paperlogy 6 SemiBold"/>
                <a:ea typeface="Paperlogy 6 SemiBold"/>
                <a:cs typeface="Paperlogy 6 SemiBold"/>
              </a:rPr>
              <a:t>희귀 26장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85800" y="1847088"/>
          <a:ext cx="10817349" cy="3424428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1984043"/>
                <a:gridCol w="1069658"/>
                <a:gridCol w="3536773"/>
                <a:gridCol w="3450511"/>
                <a:gridCol w="776364"/>
              </a:tblGrid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이름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희귀도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조건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효과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가격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반복 궤도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희귀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이미 명중한 영역을 다시 맞히면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배수 ×3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7G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압축 투척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희귀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모든 다트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기본에서 줄어든 다트 1개당 배수 +4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7G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피보나치 과녁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희귀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1·2·3·5·8번 명중 시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배수 +8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7G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네 영역 화분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희귀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네 영역을 모두 맞힌 발부터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배수 ×3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7G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빈 랙 형판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희귀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모든 다트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배수 × 빈 아이템 칸 수 (최소 ×1)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7G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여섯 번째 약속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희귀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매 6번째 투척에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배수 ×4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7G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비상 골격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희귀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모든 다트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실패 1회 방지 (총점이 목표의 25% 이상일 때)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7G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흑색 마노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희귀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먹 칸 명중 시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배수 +7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7G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거친 보석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희귀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크림 칸 명중 시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발동할 때마다 골드 +1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7G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이종 영역 관측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희귀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다른 영역 2종을 맞힌 발부터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배수 ×2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7G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영역 승급기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희귀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모든 다트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발동 4회 중 1회, 맞은 영역 강화 +1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7G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쌍쌍 바지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희귀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다른 두 숫자를 각 2회 맞힌 발부터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발동할 때마다 배수 +2 누적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7G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중량 다트 계수기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희귀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모든 다트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무거운 다트 1개당 점수 +25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7G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02336"/>
            <a:ext cx="10817352" cy="6126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25">
                <a:solidFill>
                  <a:srgbClr val="171717"/>
                </a:solidFill>
                <a:latin typeface="Paperlogy 7 Bold"/>
                <a:ea typeface="Paperlogy 7 Bold"/>
                <a:cs typeface="Paperlogy 7 Bold"/>
              </a:rPr>
              <a:t>데이터 - 스티커 · 레어 1/2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85800" y="1143000"/>
            <a:ext cx="10817352" cy="0"/>
          </a:xfrm>
          <a:prstGeom prst="line">
            <a:avLst/>
          </a:prstGeom>
          <a:ln w="12700">
            <a:solidFill>
              <a:srgbClr val="1717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0881360" y="6419088"/>
            <a:ext cx="62179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85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335024"/>
            <a:ext cx="1081735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>
                <a:solidFill>
                  <a:srgbClr val="171717"/>
                </a:solidFill>
                <a:latin typeface="Paperlogy 6 SemiBold"/>
                <a:ea typeface="Paperlogy 6 SemiBold"/>
                <a:cs typeface="Paperlogy 6 SemiBold"/>
              </a:rPr>
              <a:t>레어 24장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85800" y="1847088"/>
          <a:ext cx="10817349" cy="3182112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1984043"/>
                <a:gridCol w="1069658"/>
                <a:gridCol w="3536773"/>
                <a:gridCol w="3450511"/>
                <a:gridCol w="776364"/>
              </a:tblGrid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이름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희귀도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조건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효과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가격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변덕쟁이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레어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직전과 다른 섹터면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점수 +22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7G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빈손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레어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빗나가면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점수 +30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7G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기본기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레어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모든 다트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점수 +25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11G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칼끝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레어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더블 명중 시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배수 ×2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11G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속사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레어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트리플 명중 시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배수 +3 · 남은 다트 3개 이상이면 골드 +9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11G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후원자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레어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모든 다트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점수 +16 · 클리어 시 골드 +4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11G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정밀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레어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연속 명중 1회마다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배수 +3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11G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증폭기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레어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모든 다트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배수 ×2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14G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중물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레어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6~14 섹터 명중 시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점수 +40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14G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곡예 다트맨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레어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모든 다트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점수 +250 · 라운드 시작 다트 -2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11G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두 발의 결속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레어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같은 숫자 2회를 맞힌 발부터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배수 ×2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11G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네 발의 가족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레어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같은 숫자 4회를 맞힌 발부터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배수 ×4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11G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02336"/>
            <a:ext cx="10817352" cy="6126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25">
                <a:solidFill>
                  <a:srgbClr val="171717"/>
                </a:solidFill>
                <a:latin typeface="Paperlogy 7 Bold"/>
                <a:ea typeface="Paperlogy 7 Bold"/>
                <a:cs typeface="Paperlogy 7 Bold"/>
              </a:rPr>
              <a:t>데이터 - 스티커 · 레어 2/2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85800" y="1143000"/>
            <a:ext cx="10817352" cy="0"/>
          </a:xfrm>
          <a:prstGeom prst="line">
            <a:avLst/>
          </a:prstGeom>
          <a:ln w="12700">
            <a:solidFill>
              <a:srgbClr val="1717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0881360" y="6419088"/>
            <a:ext cx="62179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86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335024"/>
            <a:ext cx="1081735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>
                <a:solidFill>
                  <a:srgbClr val="171717"/>
                </a:solidFill>
                <a:latin typeface="Paperlogy 6 SemiBold"/>
                <a:ea typeface="Paperlogy 6 SemiBold"/>
                <a:cs typeface="Paperlogy 6 SemiBold"/>
              </a:rPr>
              <a:t>레어 24장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85800" y="1847088"/>
          <a:ext cx="10817349" cy="3666744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1984043"/>
                <a:gridCol w="1069658"/>
                <a:gridCol w="3536773"/>
                <a:gridCol w="3450511"/>
                <a:gridCol w="776364"/>
              </a:tblGrid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이름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희귀도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조건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효과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가격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분산의 질서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레어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다른 숫자 세 곳을 맞힌 발부터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배수 ×3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11G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영역 부족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레어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같은 영역 종류 3회를 맞힌 발부터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배수 ×2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11G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세 발의 결속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레어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같은 숫자 3회를 맞힌 발부터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배수 ×3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11G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작은 2번 과녁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레어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2번 명중 시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발동할 때마다 점수 +8 누적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11G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12·13 왕가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레어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12·13번 명중 시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배수 ×2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11G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원 조준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레어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모든 다트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원의 크기와 각도로 조준합니다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11G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빗각 조준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레어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모든 다트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조준선이 다트마다 다른 각도로 기웁니다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11G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484632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겹조준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레어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모든 다트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가로세로 조준선이 함께 움직이며 한 번에 잠깁니다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11G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흔들 조준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레어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모든 다트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조준점이 커서 둘레를 제멋대로 떠돕니다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11G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손 조준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레어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모든 다트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조준점을 원하는 자리에 직접 놓습니다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11G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당김 조준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레어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모든 다트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튕기는 속도와 방향으로 다트를 던집니다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11G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484632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반동 조준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레어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모든 다트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한 발이 작은 다트 5발이 되고 발마다 점수의 25%를 받으며, 쏠 때마다 조준이 밀립니다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11G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02336"/>
            <a:ext cx="10817352" cy="6126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25">
                <a:solidFill>
                  <a:srgbClr val="171717"/>
                </a:solidFill>
                <a:latin typeface="Paperlogy 7 Bold"/>
                <a:ea typeface="Paperlogy 7 Bold"/>
                <a:cs typeface="Paperlogy 7 Bold"/>
              </a:rPr>
              <a:t>데이터 - 다트 · 개조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85800" y="1143000"/>
            <a:ext cx="10817352" cy="0"/>
          </a:xfrm>
          <a:prstGeom prst="line">
            <a:avLst/>
          </a:prstGeom>
          <a:ln w="12700">
            <a:solidFill>
              <a:srgbClr val="1717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0881360" y="6419088"/>
            <a:ext cx="62179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87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335024"/>
            <a:ext cx="1081735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>
                <a:solidFill>
                  <a:srgbClr val="171717"/>
                </a:solidFill>
                <a:latin typeface="Paperlogy 6 SemiBold"/>
                <a:ea typeface="Paperlogy 6 SemiBold"/>
                <a:cs typeface="Paperlogy 6 SemiBold"/>
              </a:rPr>
              <a:t>다트 5종 · 개조 8종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847088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다트 — 표준 1발을 대체한다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85800" y="2176272"/>
          <a:ext cx="10817351" cy="1485900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1802892"/>
                <a:gridCol w="1262024"/>
                <a:gridCol w="901446"/>
                <a:gridCol w="5769254"/>
                <a:gridCol w="1081735"/>
              </a:tblGrid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이름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게이지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배수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효과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가격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표준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×1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특성 없음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기본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무거운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×0.55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-1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게이지 0.55배 · 배수 -1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5G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가벼운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×1.9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3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게이지 1.9배 · 배수 +3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6G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관통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×1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0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양옆 칸 0.5배 · 배수 고정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7G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자석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×1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-1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중심으로 0.25 당김 · 배수 -1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7G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85800" y="3835907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개조 — 판의 기하를 바꾼다 · 런 동안 유지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85800" y="4165091"/>
          <a:ext cx="10817350" cy="2212848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1802892"/>
                <a:gridCol w="1442313"/>
                <a:gridCol w="5048097"/>
                <a:gridCol w="1442313"/>
                <a:gridCol w="1081735"/>
              </a:tblGrid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이름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축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효과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배타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가격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속살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band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트리플 띠 +0.06 · 더블 띠 -0.06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guts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9G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겉살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band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트리플 띠 -0.06 · 더블 띠 +0.06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soks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6G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벼랑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slide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트리플 띠가 더블 안쪽에서 0.03 띄운 자리로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—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7G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아랫목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ring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안쪽에 트리플 띠 하나 더 (0.38~0.46)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—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9G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멍석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bull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한복판 0.04 · 불 0.2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—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8G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판벌이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out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판이 1.1배로 커진다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—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12G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판갈이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swap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가장 작은 3 칸이 20이 된다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—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9G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짝패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odd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칸마다 짝이 생긴다 · 짝수 칸 −1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—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6G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02336"/>
            <a:ext cx="10817352" cy="6126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25">
                <a:solidFill>
                  <a:srgbClr val="171717"/>
                </a:solidFill>
                <a:latin typeface="Paperlogy 7 Bold"/>
                <a:ea typeface="Paperlogy 7 Bold"/>
                <a:cs typeface="Paperlogy 7 Bold"/>
              </a:rPr>
              <a:t>데이터 - 보스 제약 · 착탄 영역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85800" y="1143000"/>
            <a:ext cx="10817352" cy="0"/>
          </a:xfrm>
          <a:prstGeom prst="line">
            <a:avLst/>
          </a:prstGeom>
          <a:ln w="12700">
            <a:solidFill>
              <a:srgbClr val="1717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0881360" y="6419088"/>
            <a:ext cx="62179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88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335024"/>
            <a:ext cx="1081735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>
                <a:solidFill>
                  <a:srgbClr val="171717"/>
                </a:solidFill>
                <a:latin typeface="Paperlogy 6 SemiBold"/>
                <a:ea typeface="Paperlogy 6 SemiBold"/>
                <a:cs typeface="Paperlogy 6 SemiBold"/>
              </a:rPr>
              <a:t>제약 12종 · 영역 6종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847088"/>
            <a:ext cx="52029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보스 제약 — 입장 전 3개 중 1개를 고른다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85800" y="2176272"/>
          <a:ext cx="5202935" cy="3424428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945988"/>
                <a:gridCol w="1040587"/>
                <a:gridCol w="3216360"/>
              </a:tblGrid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이름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축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효과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좁은 판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band_mul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트리플·더블 링 폭 0.5배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역풍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gauge_mul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조준 게이지 2배 속도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안개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fog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조준선이 판 위에서 사라진다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단벌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darts_add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다트 -1개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484632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금지 구역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sector_kill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지정 칸 점수 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둔화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seal_items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스티커 1장 무작위 봉인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높은 목표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target_mul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목표 점수 1.25배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그늘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color_kill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먹색 칸 점수 0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민짜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ring_kill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트리플 배수 무효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홀대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odd_mul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홀수 칸 값 0.5배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돌린 판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spin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판이 7칸 돌아간다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빈손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reward_mul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이 판 보상 골드 0배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391656" y="1847088"/>
            <a:ext cx="52029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착탄 영역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391656" y="2176272"/>
          <a:ext cx="5202935" cy="1728216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945988"/>
                <a:gridCol w="1135186"/>
                <a:gridCol w="3121761"/>
              </a:tblGrid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영역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기본 점수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기본 배수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싱글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섹터 숫자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더블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섹터 숫자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2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트리플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섹터 숫자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3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아우터 불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25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이너 불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50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보드 아웃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0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02336"/>
            <a:ext cx="10817352" cy="6126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25">
                <a:solidFill>
                  <a:srgbClr val="171717"/>
                </a:solidFill>
                <a:latin typeface="Paperlogy 7 Bold"/>
                <a:ea typeface="Paperlogy 7 Bold"/>
                <a:cs typeface="Paperlogy 7 Bold"/>
              </a:rPr>
              <a:t>데이터 - 설비 · 딱지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85800" y="1143000"/>
            <a:ext cx="10817352" cy="0"/>
          </a:xfrm>
          <a:prstGeom prst="line">
            <a:avLst/>
          </a:prstGeom>
          <a:ln w="12700">
            <a:solidFill>
              <a:srgbClr val="1717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0881360" y="6419088"/>
            <a:ext cx="62179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89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335024"/>
            <a:ext cx="1081735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>
                <a:solidFill>
                  <a:srgbClr val="171717"/>
                </a:solidFill>
                <a:latin typeface="Paperlogy 6 SemiBold"/>
                <a:ea typeface="Paperlogy 6 SemiBold"/>
                <a:cs typeface="Paperlogy 6 SemiBold"/>
              </a:rPr>
              <a:t>설비 7종 · 딱지 10종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847088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설비 — 상점 왼쪽 벽, 앤티마다 하나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85800" y="2176272"/>
          <a:ext cx="10817350" cy="1970532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2087559"/>
                <a:gridCol w="4934230"/>
                <a:gridCol w="948890"/>
                <a:gridCol w="948890"/>
                <a:gridCol w="1897781"/>
              </a:tblGrid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이름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효과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가격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앤티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선행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진열대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매대 칸 +1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10G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—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긴 진열대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매대 칸 +1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10G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3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v_shelf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덤 새로고침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무료 새로고침 +1회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10G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—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저금통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이자 상한 +5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10G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2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—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침착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조준 게이지 속도 0.85배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10G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—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더 침착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조준 게이지 속도 0.85배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10G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3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v_aim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긴 탄창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다트 +1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10G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2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—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85800" y="4320540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딱지 — 소판·대판을 건너뛸 때만 받는다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85800" y="4649724"/>
          <a:ext cx="10817350" cy="1728216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2203534"/>
                <a:gridCol w="5809318"/>
                <a:gridCol w="1802892"/>
                <a:gridCol w="1001606"/>
              </a:tblGrid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이름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효과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시점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앤티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삯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골드 +6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now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두둑한 삯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골드 +12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now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3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여벌 다트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다트 +1개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round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영역 승급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무작위 영역 강화 +1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now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보급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소비 아이템 1장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now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견본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스티커 1장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now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2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02336"/>
            <a:ext cx="10817352" cy="6126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25">
                <a:solidFill>
                  <a:srgbClr val="171717"/>
                </a:solidFill>
                <a:latin typeface="Paperlogy 7 Bold"/>
                <a:ea typeface="Paperlogy 7 Bold"/>
                <a:cs typeface="Paperlogy 7 Bold"/>
              </a:rPr>
              <a:t>데이터 - 설비 · 딱지 (이어서)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85800" y="1143000"/>
            <a:ext cx="10817352" cy="0"/>
          </a:xfrm>
          <a:prstGeom prst="line">
            <a:avLst/>
          </a:prstGeom>
          <a:ln w="12700">
            <a:solidFill>
              <a:srgbClr val="1717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0881360" y="6419088"/>
            <a:ext cx="62179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90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335024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딱지 — 소판·대판을 건너뛸 때만 받는다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85800" y="1664207"/>
          <a:ext cx="10817350" cy="1243584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2203534"/>
                <a:gridCol w="5809318"/>
                <a:gridCol w="1802892"/>
                <a:gridCol w="1001606"/>
              </a:tblGrid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이름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효과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시점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앤티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무료 새로고침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무료 새로고침 +2회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shop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넓은 매대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매물 +2칸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shop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2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여유로운 선택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제약 선택지 +1장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stage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2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외상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물건 1개가 공짜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shop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3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02336"/>
            <a:ext cx="10817352" cy="6126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25">
                <a:solidFill>
                  <a:srgbClr val="171717"/>
                </a:solidFill>
                <a:latin typeface="Paperlogy 7 Bold"/>
                <a:ea typeface="Paperlogy 7 Bold"/>
                <a:cs typeface="Paperlogy 7 Bold"/>
              </a:rPr>
              <a:t>데이터 - 리그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85800" y="1143000"/>
            <a:ext cx="10817352" cy="0"/>
          </a:xfrm>
          <a:prstGeom prst="line">
            <a:avLst/>
          </a:prstGeom>
          <a:ln w="12700">
            <a:solidFill>
              <a:srgbClr val="1717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0881360" y="6419088"/>
            <a:ext cx="62179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91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335024"/>
            <a:ext cx="1081735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>
                <a:solidFill>
                  <a:srgbClr val="171717"/>
                </a:solidFill>
                <a:latin typeface="Paperlogy 6 SemiBold"/>
                <a:ea typeface="Paperlogy 6 SemiBold"/>
                <a:cs typeface="Paperlogy 6 SemiBold"/>
              </a:rPr>
              <a:t>8단 · 앞 단을 완주하면 다음 단이 열린다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85800" y="1847088"/>
          <a:ext cx="10817347" cy="2212848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1025216"/>
                <a:gridCol w="1314380"/>
                <a:gridCol w="1314380"/>
                <a:gridCol w="1314380"/>
                <a:gridCol w="1314380"/>
                <a:gridCol w="1314380"/>
                <a:gridCol w="1314380"/>
                <a:gridCol w="1905851"/>
              </a:tblGrid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리그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곡선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소판 골드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봉인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다트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매대 가격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삭음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유지비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흰 리그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base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3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×1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초록 리그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base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0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0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0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×1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0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0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파랑 리그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curve_a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×1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보라 리그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curve_a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0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0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×1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0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0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붉은 리그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curve_a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-1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×1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노랑 리그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curve_b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0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-1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×1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0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0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주황 리그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curve_b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-1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×1.25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5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검정 리그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curve_b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0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-1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×1.25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5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3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85800" y="4233671"/>
            <a:ext cx="1081735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곡선 base 는 기준 곡선, curve_a·curve_b 는 앤티 표의 가팔라진 열이다. 삭음은 산 스티커가 몇 판 뒤에 사라지는가, 유지비는 판마다 내는 골드다.</a:t>
            </a:r>
          </a:p>
        </p:txBody>
      </p:sp>
    </p:spTree>
  </p:cSld>
  <p:clrMapOvr>
    <a:masterClrMapping/>
  </p:clrMapOvr>
</p:sld>
</file>

<file path=ppt/slides/slide9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02336"/>
            <a:ext cx="10817352" cy="6126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25">
                <a:solidFill>
                  <a:srgbClr val="171717"/>
                </a:solidFill>
                <a:latin typeface="Paperlogy 7 Bold"/>
                <a:ea typeface="Paperlogy 7 Bold"/>
                <a:cs typeface="Paperlogy 7 Bold"/>
              </a:rPr>
              <a:t>데이터 - 스타트 팩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85800" y="1143000"/>
            <a:ext cx="10817352" cy="0"/>
          </a:xfrm>
          <a:prstGeom prst="line">
            <a:avLst/>
          </a:prstGeom>
          <a:ln w="12700">
            <a:solidFill>
              <a:srgbClr val="1717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0881360" y="6419088"/>
            <a:ext cx="62179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92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335024"/>
            <a:ext cx="1081735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>
                <a:solidFill>
                  <a:srgbClr val="171717"/>
                </a:solidFill>
                <a:latin typeface="Paperlogy 6 SemiBold"/>
                <a:ea typeface="Paperlogy 6 SemiBold"/>
                <a:cs typeface="Paperlogy 6 SemiBold"/>
              </a:rPr>
              <a:t>6종 · 직접 버프가 아니라 물건과 대가를 준다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85800" y="1847088"/>
          <a:ext cx="10817349" cy="1728216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1567732"/>
                <a:gridCol w="862252"/>
                <a:gridCol w="1097412"/>
                <a:gridCol w="705479"/>
                <a:gridCol w="940639"/>
                <a:gridCol w="5643835"/>
              </a:tblGrid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팩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다트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시작 골드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랙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소비 칸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대가와 변화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기본 팩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5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2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—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여벌 팩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0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5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2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추가 다트 1개로 시작하며, 남은 다트는 골드가 되지 않습니다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넓은 랙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-1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6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2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추가 스티커 슬롯 1칸, 다트 1개 감소된 채 시작합니다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선금 팩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0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10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5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추가 10골드, 소비 아이템 슬롯 1칸 감소된 채 시작합니다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일당 팩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5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2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이자를 받지 않으며, 남은 다트 1개당 2골드를 받습니다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미정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0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0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5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2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—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02336"/>
            <a:ext cx="10817352" cy="6126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25">
                <a:solidFill>
                  <a:srgbClr val="171717"/>
                </a:solidFill>
                <a:latin typeface="Paperlogy 7 Bold"/>
                <a:ea typeface="Paperlogy 7 Bold"/>
                <a:cs typeface="Paperlogy 7 Bold"/>
              </a:rPr>
              <a:t>데이터 - 영역 강화 · 튜닝 상수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85800" y="1143000"/>
            <a:ext cx="10817352" cy="0"/>
          </a:xfrm>
          <a:prstGeom prst="line">
            <a:avLst/>
          </a:prstGeom>
          <a:ln w="12700">
            <a:solidFill>
              <a:srgbClr val="1717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0881360" y="6419088"/>
            <a:ext cx="62179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93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335024"/>
            <a:ext cx="1081735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>
                <a:solidFill>
                  <a:srgbClr val="171717"/>
                </a:solidFill>
                <a:latin typeface="Paperlogy 6 SemiBold"/>
                <a:ea typeface="Paperlogy 6 SemiBold"/>
                <a:cs typeface="Paperlogy 6 SemiBold"/>
              </a:rPr>
              <a:t>강화 5트랙 · 레벨당 증분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847088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영역 강화 — 런 동안 유지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85800" y="2176272"/>
          <a:ext cx="10817350" cy="1970532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1994689"/>
                <a:gridCol w="2557293"/>
                <a:gridCol w="2557293"/>
                <a:gridCol w="3708075"/>
              </a:tblGrid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트랙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레벨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레벨당 점수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레벨당 배수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싱글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8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5 · 5 · 5 · 5 · 5 · 5 · 5 · 5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— · — · — · — · — · — · — · —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더블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8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8 · 8 · 8 · 8 · 8 · 8 · 8 · 8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 · — · 1 · — · 1 · — · 1 · —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484632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트리플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8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11 · 11 · 11 · 11 · 11 · 11 · 11 · 11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 · — · 1 · — · 1 · — · 1 · —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484632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불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8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40 · 40 · 40 · 40 · 40 · 40 · 40 · 40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 · 1 · 1 · 1 · 1 · 1 · 1 · 1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보드 아웃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8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6 · 6 · 6 · 6 · 6 · 6 · 6 · 6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— · — · — · — · — · — · — · —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85800" y="4320540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튜닝 상수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85800" y="4649724"/>
          <a:ext cx="10817350" cy="1728216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1994689"/>
                <a:gridCol w="2557293"/>
                <a:gridCol w="2557293"/>
                <a:gridCol w="3708075"/>
              </a:tblGrid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키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값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키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값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start_gold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4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clear_gold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4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gold_per_dart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interest_per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5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interest_max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5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sell_div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2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sell_min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2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free_rerolls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reroll_base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2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reroll_step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max_items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5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darts_base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6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02336"/>
            <a:ext cx="10817352" cy="6126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25">
                <a:solidFill>
                  <a:srgbClr val="171717"/>
                </a:solidFill>
                <a:latin typeface="Paperlogy 7 Bold"/>
                <a:ea typeface="Paperlogy 7 Bold"/>
                <a:cs typeface="Paperlogy 7 Bold"/>
              </a:rPr>
              <a:t>데이터 - 영역 강화 · 튜닝 상수 (이어서)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85800" y="1143000"/>
            <a:ext cx="10817352" cy="0"/>
          </a:xfrm>
          <a:prstGeom prst="line">
            <a:avLst/>
          </a:prstGeom>
          <a:ln w="12700">
            <a:solidFill>
              <a:srgbClr val="1717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0881360" y="6419088"/>
            <a:ext cx="62179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94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335024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튜닝 상수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85800" y="1664207"/>
          <a:ext cx="10817350" cy="758952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1994689"/>
                <a:gridCol w="2557293"/>
                <a:gridCol w="2557293"/>
                <a:gridCol w="3708075"/>
              </a:tblGrid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키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값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키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값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cons_slots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2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curve_first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25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curve_last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4000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/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/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02336"/>
            <a:ext cx="10817352" cy="6126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25">
                <a:solidFill>
                  <a:srgbClr val="171717"/>
                </a:solidFill>
                <a:latin typeface="Paperlogy 7 Bold"/>
                <a:ea typeface="Paperlogy 7 Bold"/>
                <a:cs typeface="Paperlogy 7 Bold"/>
              </a:rPr>
              <a:t>데이터 - 목표 점수 — 흰 리그 24판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85800" y="1143000"/>
            <a:ext cx="10817352" cy="0"/>
          </a:xfrm>
          <a:prstGeom prst="line">
            <a:avLst/>
          </a:prstGeom>
          <a:ln w="12700">
            <a:solidFill>
              <a:srgbClr val="1717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0881360" y="6419088"/>
            <a:ext cx="62179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95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335024"/>
            <a:ext cx="1081735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>
                <a:solidFill>
                  <a:srgbClr val="171717"/>
                </a:solidFill>
                <a:latin typeface="Paperlogy 6 SemiBold"/>
                <a:ea typeface="Paperlogy 6 SemiBold"/>
                <a:cs typeface="Paperlogy 6 SemiBold"/>
              </a:rPr>
              <a:t>앤티 8 × 판 3. 목표 = 앤티 기준값 × 판 배수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85800" y="1847088"/>
          <a:ext cx="10817349" cy="2212848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1354339"/>
                <a:gridCol w="1736332"/>
                <a:gridCol w="1736332"/>
                <a:gridCol w="1736332"/>
                <a:gridCol w="1736332"/>
                <a:gridCol w="2517682"/>
              </a:tblGrid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앤티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작은 판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큰 판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보스 판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다트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보상 (소·대·보스)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1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25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38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50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6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3 · 4 · 5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2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58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87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116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6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3 · 4 · 5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3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129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193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257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6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3 · 4 · 5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4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276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414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552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6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3 · 4 · 5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5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569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854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1139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6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3 · 4 · 5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6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1132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1698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2265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6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3 · 4 · 5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7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2169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3253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4337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6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3 · 4 · 5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8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4000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6000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8000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6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3 · 4 · 5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