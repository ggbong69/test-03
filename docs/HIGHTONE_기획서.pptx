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흰 · 초록</c:v>
                </c:pt>
              </c:strCache>
            </c:strRef>
          </c:tx>
          <c:cat>
            <c:strRef>
              <c:f>Sheet1!$A$2:$A$9</c:f>
              <c:strCache>
                <c:ptCount val="8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50</c:v>
                </c:pt>
                <c:pt idx="1">
                  <c:v>116</c:v>
                </c:pt>
                <c:pt idx="2">
                  <c:v>257</c:v>
                </c:pt>
                <c:pt idx="3">
                  <c:v>552</c:v>
                </c:pt>
                <c:pt idx="4">
                  <c:v>1139</c:v>
                </c:pt>
                <c:pt idx="5">
                  <c:v>2265</c:v>
                </c:pt>
                <c:pt idx="6">
                  <c:v>4337</c:v>
                </c:pt>
                <c:pt idx="7">
                  <c:v>8000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파랑 · 보라 · 붉은</c:v>
                </c:pt>
              </c:strCache>
            </c:strRef>
          </c:tx>
          <c:cat>
            <c:strRef>
              <c:f>Sheet1!$A$2:$A$9</c:f>
              <c:strCache>
                <c:ptCount val="8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50</c:v>
                </c:pt>
                <c:pt idx="1">
                  <c:v>127</c:v>
                </c:pt>
                <c:pt idx="2">
                  <c:v>322</c:v>
                </c:pt>
                <c:pt idx="3">
                  <c:v>800</c:v>
                </c:pt>
                <c:pt idx="4">
                  <c:v>1822</c:v>
                </c:pt>
                <c:pt idx="5">
                  <c:v>3963</c:v>
                </c:pt>
                <c:pt idx="6">
                  <c:v>8240</c:v>
                </c:pt>
                <c:pt idx="7">
                  <c:v>16000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노랑 · 주황 · 검정</c:v>
                </c:pt>
              </c:strCache>
            </c:strRef>
          </c:tx>
          <c:cat>
            <c:strRef>
              <c:f>Sheet1!$A$2:$A$9</c:f>
              <c:strCache>
                <c:ptCount val="8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</c:strCache>
            </c:strRef>
          </c:cat>
          <c:val>
            <c:numRef>
              <c:f>Sheet1!$D$2:$D$9</c:f>
              <c:numCache>
                <c:formatCode>General</c:formatCode>
                <c:ptCount val="8"/>
                <c:pt idx="0">
                  <c:v>50</c:v>
                </c:pt>
                <c:pt idx="1">
                  <c:v>144</c:v>
                </c:pt>
                <c:pt idx="2">
                  <c:v>399</c:v>
                </c:pt>
                <c:pt idx="3">
                  <c:v>1020</c:v>
                </c:pt>
                <c:pt idx="4">
                  <c:v>2619</c:v>
                </c:pt>
                <c:pt idx="5">
                  <c:v>6341</c:v>
                </c:pt>
                <c:pt idx="6">
                  <c:v>14746</c:v>
                </c:pt>
                <c:pt idx="7">
                  <c:v>32000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Paperlogy 4 Regular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logBase val="1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Paperlogy 4 Regular"/>
              </a:defRPr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000">
              <a:latin typeface="Paperlogy 4 Regular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1572768"/>
            <a:ext cx="1081735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6450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HIGHTONE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2761488"/>
            <a:ext cx="365760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325">
                <a:solidFill>
                  <a:srgbClr val="62666C"/>
                </a:solidFill>
                <a:latin typeface="Paperlogy 6 SemiBold"/>
                <a:ea typeface="Paperlogy 6 SemiBold"/>
                <a:cs typeface="Paperlogy 6 SemiBold"/>
              </a:rPr>
              <a:t>하이톤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85800" y="3493008"/>
            <a:ext cx="2093976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85800" y="3840480"/>
            <a:ext cx="457200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게임 기획서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626864"/>
            <a:ext cx="5486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다트 스코어어택 로그라이트 · PC</a:t>
            </a:r>
          </a:p>
          <a:p>
            <a:pPr algn="l">
              <a:lnSpc>
                <a:spcPct val="125000"/>
              </a:lnSpc>
            </a:pPr>
            <a:r>
              <a:rPr sz="13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기획 김건의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목차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02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335024"/>
          <a:ext cx="3300984" cy="4905756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459736"/>
                <a:gridCol w="841248"/>
              </a:tblGrid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71717"/>
                          </a:solidFill>
                          <a:latin typeface="Paperlogy 7 Bold"/>
                          <a:ea typeface="Paperlogy 7 Bold"/>
                          <a:cs typeface="Paperlogy 7 Bold"/>
                        </a:rPr>
                        <a:t>용어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>
                          <a:solidFill>
                            <a:srgbClr val="168DA8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3–6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24028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점수와 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24028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모으는 것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04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24028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런과 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24028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상점과 런 바깥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06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71717"/>
                          </a:solidFill>
                          <a:latin typeface="Paperlogy 7 Bold"/>
                          <a:ea typeface="Paperlogy 7 Bold"/>
                          <a:cs typeface="Paperlogy 7 Bold"/>
                        </a:rPr>
                        <a:t>기획 의도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>
                          <a:solidFill>
                            <a:srgbClr val="168DA8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7–9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24028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한 줄 정의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07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24028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실력 × 빌드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08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24028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타깃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09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71717"/>
                          </a:solidFill>
                          <a:latin typeface="Paperlogy 7 Bold"/>
                          <a:ea typeface="Paperlogy 7 Bold"/>
                          <a:cs typeface="Paperlogy 7 Bold"/>
                        </a:rPr>
                        <a:t>시스템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>
                          <a:solidFill>
                            <a:srgbClr val="168DA8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10–31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24028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런 구조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24028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라운드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24028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24028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목표 점수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24028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투척 흐름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14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24028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24028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16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24028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조준 방식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17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24028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조준 스티커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18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24028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착탄 영역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19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cxnSp>
        <p:nvCxnSpPr>
          <p:cNvPr id="6" name="Connector 5"/>
          <p:cNvCxnSpPr/>
          <p:nvPr/>
        </p:nvCxnSpPr>
        <p:spPr>
          <a:xfrm>
            <a:off x="685800" y="1636775"/>
            <a:ext cx="3300983" cy="0"/>
          </a:xfrm>
          <a:prstGeom prst="line">
            <a:avLst/>
          </a:prstGeom>
          <a:ln w="9525">
            <a:solidFill>
              <a:srgbClr val="C9CC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685800" y="2898648"/>
            <a:ext cx="3300983" cy="0"/>
          </a:xfrm>
          <a:prstGeom prst="line">
            <a:avLst/>
          </a:prstGeom>
          <a:ln w="9525">
            <a:solidFill>
              <a:srgbClr val="C9CC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685800" y="3936492"/>
            <a:ext cx="3300983" cy="0"/>
          </a:xfrm>
          <a:prstGeom prst="line">
            <a:avLst/>
          </a:prstGeom>
          <a:ln w="9525">
            <a:solidFill>
              <a:srgbClr val="C9CC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443983" y="1335024"/>
          <a:ext cx="3300984" cy="4905756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459736"/>
                <a:gridCol w="841248"/>
              </a:tblGrid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71717"/>
                          </a:solidFill>
                          <a:latin typeface="Paperlogy 7 Bold"/>
                          <a:ea typeface="Paperlogy 7 Bold"/>
                          <a:cs typeface="Paperlogy 7 Bold"/>
                        </a:rPr>
                        <a:t>시스템 (이어서)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>
                          <a:solidFill>
                            <a:srgbClr val="168DA8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/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24028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빗나감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24028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공식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24028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정산 순서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24028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스티커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24028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24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24028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효과와 희귀도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24028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개조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26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24028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영역 강화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27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24028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보스 제약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28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24028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골드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29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24028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상점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24028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설비와 딱지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71717"/>
                          </a:solidFill>
                          <a:latin typeface="Paperlogy 7 Bold"/>
                          <a:ea typeface="Paperlogy 7 Bold"/>
                          <a:cs typeface="Paperlogy 7 Bold"/>
                        </a:rPr>
                        <a:t>재미 요소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>
                          <a:solidFill>
                            <a:srgbClr val="168DA8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32–34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24028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조준의 재미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24028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조합의 재미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24028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발동 순서 설계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34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71717"/>
                          </a:solidFill>
                          <a:latin typeface="Paperlogy 7 Bold"/>
                          <a:ea typeface="Paperlogy 7 Bold"/>
                          <a:cs typeface="Paperlogy 7 Bold"/>
                        </a:rPr>
                        <a:t>보상 요소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>
                          <a:solidFill>
                            <a:srgbClr val="168DA8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35–38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24028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판을 넘겼을 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24028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스타트 팩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36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cxnSp>
        <p:nvCxnSpPr>
          <p:cNvPr id="10" name="Connector 9"/>
          <p:cNvCxnSpPr/>
          <p:nvPr/>
        </p:nvCxnSpPr>
        <p:spPr>
          <a:xfrm>
            <a:off x="4443983" y="1636775"/>
            <a:ext cx="3300984" cy="0"/>
          </a:xfrm>
          <a:prstGeom prst="line">
            <a:avLst/>
          </a:prstGeom>
          <a:ln w="9525">
            <a:solidFill>
              <a:srgbClr val="C9CC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4443983" y="4690872"/>
            <a:ext cx="3300984" cy="0"/>
          </a:xfrm>
          <a:prstGeom prst="line">
            <a:avLst/>
          </a:prstGeom>
          <a:ln w="9525">
            <a:solidFill>
              <a:srgbClr val="C9CC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443983" y="5728716"/>
            <a:ext cx="3300984" cy="0"/>
          </a:xfrm>
          <a:prstGeom prst="line">
            <a:avLst/>
          </a:prstGeom>
          <a:ln w="9525">
            <a:solidFill>
              <a:srgbClr val="C9CC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8202167" y="1335024"/>
          <a:ext cx="3300984" cy="3561588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459736"/>
                <a:gridCol w="841248"/>
              </a:tblGrid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71717"/>
                          </a:solidFill>
                          <a:latin typeface="Paperlogy 7 Bold"/>
                          <a:ea typeface="Paperlogy 7 Bold"/>
                          <a:cs typeface="Paperlogy 7 Bold"/>
                        </a:rPr>
                        <a:t>보상 요소 (이어서)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>
                          <a:solidFill>
                            <a:srgbClr val="168DA8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/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24028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리그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37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24028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해금과 확장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38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71717"/>
                          </a:solidFill>
                          <a:latin typeface="Paperlogy 7 Bold"/>
                          <a:ea typeface="Paperlogy 7 Bold"/>
                          <a:cs typeface="Paperlogy 7 Bold"/>
                        </a:rPr>
                        <a:t>UI/UX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>
                          <a:solidFill>
                            <a:srgbClr val="168DA8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39–41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24028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레이아웃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39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24028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조작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24028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화면 전이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71717"/>
                          </a:solidFill>
                          <a:latin typeface="Paperlogy 7 Bold"/>
                          <a:ea typeface="Paperlogy 7 Bold"/>
                          <a:cs typeface="Paperlogy 7 Bold"/>
                        </a:rPr>
                        <a:t>데이터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>
                          <a:solidFill>
                            <a:srgbClr val="168DA8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42–50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24028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스티커 전종 99장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/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24028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다트 · 개조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/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24028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보스 제약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/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24028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설비 · 딱지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/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24028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리그 · 스타트 팩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/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24028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영역 강화 · 튜닝 상수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/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cxnSp>
        <p:nvCxnSpPr>
          <p:cNvPr id="14" name="Connector 13"/>
          <p:cNvCxnSpPr/>
          <p:nvPr/>
        </p:nvCxnSpPr>
        <p:spPr>
          <a:xfrm>
            <a:off x="8202167" y="1636775"/>
            <a:ext cx="3300984" cy="0"/>
          </a:xfrm>
          <a:prstGeom prst="line">
            <a:avLst/>
          </a:prstGeom>
          <a:ln w="9525">
            <a:solidFill>
              <a:srgbClr val="C9CC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8202167" y="2450592"/>
            <a:ext cx="3300984" cy="0"/>
          </a:xfrm>
          <a:prstGeom prst="line">
            <a:avLst/>
          </a:prstGeom>
          <a:ln w="9525">
            <a:solidFill>
              <a:srgbClr val="C9CC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8202167" y="3488436"/>
            <a:ext cx="3300984" cy="0"/>
          </a:xfrm>
          <a:prstGeom prst="line">
            <a:avLst/>
          </a:prstGeom>
          <a:ln w="9525">
            <a:solidFill>
              <a:srgbClr val="C9CC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용어 - 점수와 판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한 발 점수 = 칩 × 배수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점수를 이루는 말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4320540" cy="1938528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칩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점수의 앞자리. 꽂힌 칸의 값에서 시작한다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배수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칩에 곱하는 수. 꽂힌 영역이 정한다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칩 +N · 배수 +N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현재 값에 더한다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배수 ×N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앞서 만든 배수를 곱한다. 순서가 값을 바꾼다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정산 순서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한 발의 점수를 정하는 일곱 걸음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50926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판을 가리키는 말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509260" y="2176272"/>
          <a:ext cx="4320540" cy="1938528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섹터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판을 20 등분한 부채꼴. 1~20 의 숫자를 가진다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싱글 · 더블 · 트리플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섹터 안의 세 구간. 배수 1 · 2 · 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 한복판. 아우터 25 · 이너 50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보드 아웃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 밖. 칩 0 · 배수 1 로 정산된다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빗나감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보드 아웃에 꽂힌 것. 조건이 되는 결과다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점수 공식  ·  정산 순서  ·  착탄 영역  ·  빗나감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용어 - 모으는 것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스티커 · 다트 · 개조 · 강화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물건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4320540" cy="2180844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스티커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조건 + 효과 한 쌍. 스티커 칸에 꽂아 쓴다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스티커 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스티커를 꽂는 자리. 기본 5칸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조건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스티커가 언제 걸리는지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효과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걸렸을 때 무엇을 하는지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희귀도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 · 희귀 · 레어 · 전설 네 단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던지는 자루. 5종 · 다트 묶음에 기본 6발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다트 묶음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이번 판에 던질 다트 묶음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50926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판과 값을 바꾸는 것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509260" y="2176272"/>
          <a:ext cx="4320540" cy="121158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개조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판의 기하를 바꾼다. 스티커 칸을 안 먹는다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영역 강화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영역의 시작 칩·배수를 올린다. 5트랙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소비 아이템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한 번 쓰고 사라진다. 기본 2칸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가공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스티커·다트에 덧붙이는 변형. 미구현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스티커  ·  조건  ·  다트  ·  개조  ·  영역 강화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용어 - 런과 판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런 = 라운드 8 × 판 3 = 24판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진행 단위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4320540" cy="1453896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한 번의 도전. 24판을 지나면 완주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라운드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 3개 묶음. 런에 8라운드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다트를 다 쓰거나 목표를 넘기면 끝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작은 · 큰 · 보스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한 라운드를 이루는 판 셋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목표 점수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그 판을 넘기려면 필요한 누적 점수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50926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판에 걸리는 규칙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509260" y="2176272"/>
          <a:ext cx="4320540" cy="969264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건너뛰기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작은·큰 판을 안 하고 딱지를 받는다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보스 제약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보스 판 입장 전 3장 중 1장을 고른다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봉인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그 판 동안 스티커 한 장이 안 서는 것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목숨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실패 1회 방지. 그 스티커는 부서진다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런 구조  ·  라운드  ·  판  ·  목표 점수  ·  보스 제약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용어 - 상점과 런 바깥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골드 · 진열대 · 팩 · 리그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상점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4320540" cy="1696212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골드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살 때 쓰는 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보유 골드 5당 1. 상한 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진열대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상점에 깔리는 물건 자리. 4칸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딜러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매물을 테이블에 던져 놓는 사람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새로고침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진열대를 다시 깐다. 방문당 1회 무료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판매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스티커 칸의 스티커를 되파는 것. 구매가 절반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50926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런 바깥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509260" y="2176272"/>
          <a:ext cx="4320540" cy="121158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팩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런을 시작하는 조건 묶음. 6종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리그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난이도 8단. 완주하면 다음 단 해금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설비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라운드마다 1개. 런 끝까지 유지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딱지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건너뛴 판의 보상. 10종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해금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완주로 열리는 다음 팩과 다음 리그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상점  ·  딜러  ·  골드  ·  이자  ·  스타트 팩  ·  리그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기획 의도 - 한 줄 정의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다트판 위의 덱빌딩 스코어어택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제품 정의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4320540" cy="484632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장르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싱글 로그라이트 · 스코어어택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플랫폼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PC · 마우스 단독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50926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점수의 두 축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509260" y="2176272"/>
          <a:ext cx="4320539" cy="1243584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043350"/>
                <a:gridCol w="1337628"/>
                <a:gridCol w="1939561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축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정하는 것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손잡이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점수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꽂힌 칸의 값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배수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꽂힌 링 · 스티커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빌드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한 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× 배수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둘 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3593592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기본 규모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85800" y="3922776"/>
          <a:ext cx="4320540" cy="1453896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스티커 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다트 묶음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5종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스티커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99장 (활성)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개조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8종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보스 제약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12종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509260" y="3593592"/>
            <a:ext cx="432054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스티커 칸 · 다트 수 · 진열대 칸은 설비와 팩으로 늘어난다.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점수 공식  ·  런 구조  ·  투척 흐름  ·  스티커  ·  목표 점수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기획 의도 - 실력 × 빌드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손이 칩을, 빌드가 배수를 만든다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무장 없이 조준만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4320540" cy="121158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6발 상한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360점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라운드 1 첫 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25점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라운드 4 보스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552점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라운드 5 보스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1139점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라운드 8 보스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8000점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50926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스티커 순서가 값을 바꾼다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509260" y="2176272"/>
          <a:ext cx="4320539" cy="148590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043350"/>
                <a:gridCol w="1337628"/>
                <a:gridCol w="1939561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슬롯 순서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배수 계산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한 발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없음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삼중고 → 증폭기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(3+4) × 2 = 14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280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증폭기 → 삼중고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3×2 + 4 = 10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200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3835907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실력이 닿는 확률 (36만 발)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85800" y="4165091"/>
          <a:ext cx="10817352" cy="1696212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011680"/>
                <a:gridCol w="8805672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싱글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41.6%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더블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11.79%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트리플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7.61%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1.18%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빗나감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37.70%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자석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빗나감 5.52%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판벌이 개조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빗나감 24.60%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점수 공식  ·  정산 순서  ·  스티커  ·  목표 점수  ·  라운드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기획 의도 - 타깃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스코어어택 · 덱빌딩 유저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타깃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4320540" cy="969264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주 타깃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스코어어택 · 덱빌딩 선호 유저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나이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15~29세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플랫폼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PC · 마우스만 쓴다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1회 플레이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15~40분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50926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레퍼런스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509260" y="2176272"/>
          <a:ext cx="4320539" cy="1970532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043350"/>
                <a:gridCol w="1337628"/>
                <a:gridCol w="1939561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출처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가져온 것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버린 것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726948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발라트로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조건 + 효과 · 슬롯 5칸 · 점수 × 배수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카드 뽑기 · 족보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실물 다트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20칸 · 띠 · 불 이중 구조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501 · 크리켓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플래시 게임 게이지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위아래 한 번 · 좌우 한 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착탄 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점수 공식  ·  조준  ·  스티커  ·  리그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시스템 - 런 구조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런 1회 = 라운드 8 × 판 3 = 24판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847088"/>
            <a:ext cx="2046427" cy="91440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판 선택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750515" y="2304288"/>
            <a:ext cx="109728" cy="0"/>
          </a:xfrm>
          <a:prstGeom prst="line">
            <a:avLst/>
          </a:prstGeom>
          <a:ln w="12700">
            <a:solidFill>
              <a:srgbClr val="168D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878531" y="1847088"/>
            <a:ext cx="2046427" cy="91440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제약 고르기 (보스만)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943246" y="2304288"/>
            <a:ext cx="109728" cy="0"/>
          </a:xfrm>
          <a:prstGeom prst="line">
            <a:avLst/>
          </a:prstGeom>
          <a:ln w="12700">
            <a:solidFill>
              <a:srgbClr val="168D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5071262" y="1847088"/>
            <a:ext cx="2046427" cy="91440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투척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135977" y="2304288"/>
            <a:ext cx="109728" cy="0"/>
          </a:xfrm>
          <a:prstGeom prst="line">
            <a:avLst/>
          </a:prstGeom>
          <a:ln w="12700">
            <a:solidFill>
              <a:srgbClr val="168D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263993" y="1847088"/>
            <a:ext cx="2046427" cy="91440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정산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328708" y="2304288"/>
            <a:ext cx="109728" cy="0"/>
          </a:xfrm>
          <a:prstGeom prst="line">
            <a:avLst/>
          </a:prstGeom>
          <a:ln w="12700">
            <a:solidFill>
              <a:srgbClr val="168D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456724" y="1847088"/>
            <a:ext cx="2046427" cy="91440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상점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3044952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런 시작값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685800" y="3374136"/>
          <a:ext cx="4320540" cy="1453896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시작 골드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 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 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스티커 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 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소비 아이템 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 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무료 리롤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방문당 1 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제약 선택지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 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5509260" y="3044952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런이 끝나는 곳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5509260" y="3374136"/>
          <a:ext cx="4320540" cy="121158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탈락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다트 소진 · 총점 &lt; 목표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완주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 24 클리어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완주 보상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다음 리그 · 다음 팩 해금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리그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8 단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스타트 팩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 종 (히든 1)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라운드  ·  판  ·  목표 점수  ·  리그  ·  스타트 팩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시스템 - 라운드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판 3개 묶음. 런에 8라운드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라운드가 쥐는 값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4320540" cy="1938528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작은 · 큰 · 보스 3판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 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진열대 스티커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 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진열대 개조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 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진열대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 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설비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라운드당 1 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딱지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라운드 시작에 2판분 굴림 (작은 판·큰 판만)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50926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라운드별 곡선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509260" y="2176272"/>
          <a:ext cx="4320539" cy="2212848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796695"/>
                <a:gridCol w="1021404"/>
                <a:gridCol w="1021404"/>
                <a:gridCol w="1481036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라운드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라운드 기본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curve_a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curve_b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1.00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1.00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58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1.10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1.25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129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1.25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1.55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4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276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1.45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1.85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569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1.60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2.30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6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1,132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1.75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2.80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7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2,169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1.90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3.40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8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4,000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2.00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4.00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4562855"/>
            <a:ext cx="1081735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라운드당 배율 2.31배 → 1.84배. 첫 판 25점 · 최종 8,000점 · 총 160배.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런 구조  ·  판  ·  목표 점수  ·  상점  ·  설비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시스템 - 판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작은 판 · 큰 판 · 보스 판. 런에 24판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판 3종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10817350" cy="1001268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613295"/>
                <a:gridCol w="2068327"/>
                <a:gridCol w="2068327"/>
                <a:gridCol w="2068327"/>
                <a:gridCol w="2999074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판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목표 배수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보상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건너뛰기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제약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작은 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×1.00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 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가능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없음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큰 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×1.50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 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가능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없음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보스 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×2.00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 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불가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12종 중 3장 → 1장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85800" y="3351275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건너뛰기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85800" y="3680459"/>
          <a:ext cx="4320540" cy="121158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대상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작은 판 · 큰 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받는 것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딱지 1 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딱지 굴림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라운드 시작에 2판분 (작은 판·큰 판만)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딱지 종류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10 종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안 받는 것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클리어 보상 골드와 상점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509260" y="3351275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리그가 미는 판 값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509260" y="3680459"/>
          <a:ext cx="4320540" cy="121158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초록 이후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작은 판 보상 0 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보라 이후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스티커 1장 봉인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붉은 이후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다트 5 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주황 이후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진열대 ×1.25 · 삭음 5판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검정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판마다 유지비 3 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라운드  ·  목표 점수  ·  보스 제약  ·  딱지  ·  골드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시스템 - 목표 점수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목표 = 라운드 기준값 × 판 배수. 8라운드에 160배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보스 판 목표 점수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685800" y="2176272"/>
          <a:ext cx="4320540" cy="3063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509260" y="1847088"/>
          <a:ext cx="4320540" cy="969264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판 배수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작은 판 ×1 · 큰 판 ×1.5 · 보스 판 ×2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첫 판 · 마지막 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25점 → 8,000점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리그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위 곡선 중 하나를 쓴다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라운드  ·  판  ·  리그  ·  점수 공식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시스템 - 투척 흐름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다트 선택 → 높이 → 좌우 → 발사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847088"/>
            <a:ext cx="2046427" cy="91440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다트 고르기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750515" y="2304288"/>
            <a:ext cx="109728" cy="0"/>
          </a:xfrm>
          <a:prstGeom prst="line">
            <a:avLst/>
          </a:prstGeom>
          <a:ln w="12700">
            <a:solidFill>
              <a:srgbClr val="168D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878531" y="1847088"/>
            <a:ext cx="2046427" cy="91440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높이 정하기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943246" y="2304288"/>
            <a:ext cx="109728" cy="0"/>
          </a:xfrm>
          <a:prstGeom prst="line">
            <a:avLst/>
          </a:prstGeom>
          <a:ln w="12700">
            <a:solidFill>
              <a:srgbClr val="168D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5071262" y="1847088"/>
            <a:ext cx="2046427" cy="91440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좌우 정하기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135977" y="2304288"/>
            <a:ext cx="109728" cy="0"/>
          </a:xfrm>
          <a:prstGeom prst="line">
            <a:avLst/>
          </a:prstGeom>
          <a:ln w="12700">
            <a:solidFill>
              <a:srgbClr val="168D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263993" y="1847088"/>
            <a:ext cx="2046427" cy="91440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던지기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328708" y="2304288"/>
            <a:ext cx="109728" cy="0"/>
          </a:xfrm>
          <a:prstGeom prst="line">
            <a:avLst/>
          </a:prstGeom>
          <a:ln w="12700">
            <a:solidFill>
              <a:srgbClr val="168D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456724" y="1847088"/>
            <a:ext cx="2046427" cy="91440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점수 정산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3044952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한 발이 지나는 길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685800" y="3374136"/>
          <a:ext cx="4320540" cy="121158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다트 고르기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다트 묶음에서 던질 자루를 고른다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높이 정하기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가로선이 위아래로 오간다. 눌러 멈춘다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좌우 정하기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세로선이 좌우로 오간다. 눌러 멈춘다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던지기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두 선이 만난 자리에 꽂힌다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점수 정산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꽂힌 자리와 스티커로 점수를 매긴다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5509260" y="3044952"/>
            <a:ext cx="43205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겨누기 시작하면 다트를 바꿀 수 없다.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다트  ·  조준  ·  조준 방식  ·  점수 공식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시스템 - 다트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5종. 라운드 기본 6발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5종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4320539" cy="2455164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043350"/>
                <a:gridCol w="1337628"/>
                <a:gridCol w="1939561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특성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가격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표준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특성 없음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무거운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게이지 ×0.55 · 배수 −1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가벼운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게이지 ×1.90 · 배수 +3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관통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1 고정 · 양옆 칸 ×0.5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자석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−1 · 중심 0.25 흡인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50926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다트 묶음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509260" y="2176272"/>
          <a:ext cx="4320540" cy="1453896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기본 발수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6발 (라운드 1~8 동일)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판 시작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다트 묶음을 그대로 복제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단벌 제약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다트 −1발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남은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1발당 골드 +1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갈아타기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첫 축 잠그기 전까지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소모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던지는 순간 벽에서 빠짐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4805171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상점에서 사는 법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85800" y="5134355"/>
          <a:ext cx="10817352" cy="726948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011680"/>
                <a:gridCol w="8805672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진열대 자리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라운드마다 다트 1자리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구매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표준 1발과 교체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못 사는 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다트 묶음에 표준 0발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조준  ·  조준 방식  ·  착탄 영역  ·  상점  ·  스타트 팩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시스템 - 조준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난수 없는 2단 게이지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847088"/>
            <a:ext cx="1680971" cy="91440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다트 선택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385059" y="2304288"/>
            <a:ext cx="109728" cy="0"/>
          </a:xfrm>
          <a:prstGeom prst="line">
            <a:avLst/>
          </a:prstGeom>
          <a:ln w="12700">
            <a:solidFill>
              <a:srgbClr val="168D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513075" y="1847088"/>
            <a:ext cx="1680971" cy="91440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높이 잠금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212335" y="2304288"/>
            <a:ext cx="109729" cy="0"/>
          </a:xfrm>
          <a:prstGeom prst="line">
            <a:avLst/>
          </a:prstGeom>
          <a:ln w="12700">
            <a:solidFill>
              <a:srgbClr val="168D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4340351" y="1847088"/>
            <a:ext cx="1680971" cy="91440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좌우 잠금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039611" y="2304288"/>
            <a:ext cx="109729" cy="0"/>
          </a:xfrm>
          <a:prstGeom prst="line">
            <a:avLst/>
          </a:prstGeom>
          <a:ln w="12700">
            <a:solidFill>
              <a:srgbClr val="168D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6167627" y="1847088"/>
            <a:ext cx="1680971" cy="91440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확인 0.45초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866887" y="2304288"/>
            <a:ext cx="109728" cy="0"/>
          </a:xfrm>
          <a:prstGeom prst="line">
            <a:avLst/>
          </a:prstGeom>
          <a:ln w="12700">
            <a:solidFill>
              <a:srgbClr val="168D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7994903" y="1847088"/>
            <a:ext cx="1680971" cy="91440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비행 0.2초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9694163" y="2304288"/>
            <a:ext cx="109729" cy="0"/>
          </a:xfrm>
          <a:prstGeom prst="line">
            <a:avLst/>
          </a:prstGeom>
          <a:ln w="12700">
            <a:solidFill>
              <a:srgbClr val="168D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9822179" y="1847088"/>
            <a:ext cx="1680971" cy="91440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정산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3044952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게이지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685800" y="3374136"/>
          <a:ext cx="4320540" cy="1696212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진폭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±110 px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판 반지름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98 px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진폭 ÷ 반지름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1.1224배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기본 속도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0.70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곱해지는 것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다트 게이지 · 제약 · 설비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역풍 제약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×2.00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조절 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[ ] 로 0.05씩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5509260" y="3044952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잠금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5509260" y="3374136"/>
          <a:ext cx="4320540" cy="1453896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유효 클릭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중심에서 R×1.22 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판 밖 클릭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안 잠김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확인 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0.45초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제약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확인 텀은 못 건드림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비행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0.20초 고정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안개 제약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조준선이 사라짐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21" name="TextBox 20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다트  ·  조준 방식  ·  투척 흐름  ·  빗나감  ·  조작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시스템 - 조준 방식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8종. 잠금 2회짜리와 1회짜리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8종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4320539" cy="2939796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043350"/>
                <a:gridCol w="1337628"/>
                <a:gridCol w="1939561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방식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손이 하는 일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잠금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기본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높이 → 좌우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원 크기 → 각도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2번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빗각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기운 축 → 직교축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겹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가로세로가 함께 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1번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흔들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커서 둘레를 떠도는 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놓기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누른 자리가 곧 착탄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1번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50926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어디서 오는가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509260" y="2176272"/>
          <a:ext cx="4320540" cy="1696212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기본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조준 스티커가 없을 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나머지 7종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조준 스티커 7장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등급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가격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11G · 판매 5G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해금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R10 부터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겹칠 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스티커 칸 앞자리 하나만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봉인되면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그 장은 건너뜀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조준  ·  다트  ·  스티커  ·  효과와 등급  ·  빗나감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시스템 - 조준 스티커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겨누는 법을 사서 바꾼다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얻는 길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10817352" cy="121158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011680"/>
                <a:gridCol w="8805672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상점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조준 스티커를 사면 그 방식으로 바뀐다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스티커 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다른 스티커와 같은 칸을 쓴다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되팔기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팔면 기본 조준으로 돌아온다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보스 제약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「역풍」은 겨누는 선을 두 배로 흔든다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설비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「조준 게이지 느리게」로 속도를 낮춘다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85800" y="3561588"/>
            <a:ext cx="1081735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조준 스티커는 점수를 올리지 않는다. 손이 하는 일을 바꾼다.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조준 방식  ·  조준  ·  스티커  ·  설비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시스템 - 착탄 영역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싱글 · 더블 · 트리플 · 불 · 판 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자리를 가르는 거리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4320539" cy="1970532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796695"/>
                <a:gridCol w="1021404"/>
                <a:gridCol w="1021404"/>
                <a:gridCol w="1481036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영역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반지름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점수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배수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이너 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 ~ 0.06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아우터 불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0.06 ~ 0.14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싱글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0.14 ~ 0.56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칸 숫자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트리플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0.56 ~ 0.66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칸 숫자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×3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50926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강화 트랙 — 레벨당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509260" y="2176272"/>
          <a:ext cx="4320539" cy="1728216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796695"/>
                <a:gridCol w="1021404"/>
                <a:gridCol w="1021404"/>
                <a:gridCol w="1481036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트랙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명중률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점수/Lv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배수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싱글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41.6%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+5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더블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11.8%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+8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1·3·5·7 Lv 에 +1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트리플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7.6%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+11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1·3·5·7 Lv 에 +1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불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1.22%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+40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매 Lv +1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보드 아웃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37.68%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+6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432054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판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85800" y="4649724"/>
          <a:ext cx="10817352" cy="121158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011680"/>
                <a:gridCol w="8805672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칸 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20칸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칸 배치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20·1·18·4·13·6 …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칸 값 상한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칸 색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크림(짝) · 먹(홀)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최대 레벨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8 Lv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점수 공식  ·  영역 강화  ·  빗나감  ·  개조  ·  보스 제약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시스템 - 빗나감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판 밖도 조건이 된다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판정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10817352" cy="484632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011680"/>
                <a:gridCol w="8805672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조건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중심 거리 &gt; 판 반지름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기본 점수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85800" y="283464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정산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163824"/>
            <a:ext cx="10817352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  <a:ea typeface="Paperlogy 7 Bold"/>
                <a:cs typeface="Paperlogy 7 Bold"/>
              </a:rPr>
              <a:t>01  </a:t>
            </a:r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빗나감 깃발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이번 판 · 직전 발에 표시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3730752"/>
            <a:ext cx="10817352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3803904"/>
            <a:ext cx="10817352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  <a:ea typeface="Paperlogy 7 Bold"/>
                <a:cs typeface="Paperlogy 7 Bold"/>
              </a:rPr>
              <a:t>02  </a:t>
            </a:r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트랙 점수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보드 아웃 Lv 당 +6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4370832"/>
            <a:ext cx="10817352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4599431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빗나감을 읽는 것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685800" y="4928616"/>
          <a:ext cx="10817350" cy="1001268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612239"/>
                <a:gridCol w="3349025"/>
                <a:gridCol w="4856086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효과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가격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빈손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빗나가면 점수 +30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빗나감 배수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빗나가면 배수 +2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연속 빗나감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직전이 빗나갔다면 배수 ×2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착탄 영역  ·  영역 강화  ·  조준  ·  조건  ·  개조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시스템 - 점수 공식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한 발 점수 = 칩 × 배수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두 값이 어디서 오는가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4320540" cy="1453896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칩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꽂힌 칸의 숫자에서 시작한다. 20번 칸이면 20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배수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꽂힌 자리가 정한다. 싱글 1 · 더블 2 · 트리플 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스티커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조건이 맞으면 칩이나 배수를 올린다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한 발 점수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마지막 칩 × 마지막 배수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50926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스티커가 하는 세 가지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509260" y="2176272"/>
          <a:ext cx="4320539" cy="1243584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864108"/>
                <a:gridCol w="2073859"/>
                <a:gridCol w="1382572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효과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하는 일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예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칩 +N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칩을 N만큼 더한다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칩 20 → 30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배수 +N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배수를 N만큼 더한다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3 → 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배수 ×N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지금까지 쌓인 배수를 N배 한다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5 → 10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3803903"/>
            <a:ext cx="1081735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트리플 20에 「칩 +10 · 배수 +2 · 배수 ×2」를 걸면 (20+10) × ((3+2)×2) = 300점이다.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칩  ·  배수  ·  스티커  ·  점수 정산 순서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시스템 - 점수 정산 순서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왼쪽부터. 순서가 점수를 바꾼다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정산이 도는 순서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76272"/>
            <a:ext cx="10817352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  <a:ea typeface="Paperlogy 7 Bold"/>
                <a:cs typeface="Paperlogy 7 Bold"/>
              </a:rPr>
              <a:t>01  </a:t>
            </a:r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빗나감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배수 0 이면 맨 앞에 선다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85800" y="2743200"/>
            <a:ext cx="10817352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85800" y="2816352"/>
            <a:ext cx="10817352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  <a:ea typeface="Paperlogy 7 Bold"/>
                <a:cs typeface="Paperlogy 7 Bold"/>
              </a:rPr>
              <a:t>02  </a:t>
            </a:r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칩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영역 기본 점수 + 트랙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3383280"/>
            <a:ext cx="10817352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3456432"/>
            <a:ext cx="10817352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  <a:ea typeface="Paperlogy 7 Bold"/>
                <a:cs typeface="Paperlogy 7 Bold"/>
              </a:rPr>
              <a:t>03  </a:t>
            </a:r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배수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영역 기본 배수 + 트랙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4023359"/>
            <a:ext cx="10817352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4251959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걸음이 하는 일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685800" y="4581144"/>
          <a:ext cx="4320539" cy="148590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043350"/>
                <a:gridCol w="1337628"/>
                <a:gridCol w="1939561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효과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걸음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장수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chip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칩 += v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30장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mult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+= v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35장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xmult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×= v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18장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mult_streak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+= v × 연속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1장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5509260" y="4251959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정산 밖의 것과 박자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5509260" y="4581144"/>
          <a:ext cx="4320540" cy="969264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봉인된 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건너뛴다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save 효과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 실패가 읽는다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즉시 골드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큐 밖 · 발동 즉시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걸음 간격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0.34 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점수 공식  ·  스티커  ·  조건  ·  효과와 등급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시스템 - 스티커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조건 하나 + 효과 하나. 99장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몇 장인가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10817352" cy="1696212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011680"/>
                <a:gridCol w="8805672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활성 스티커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99장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스티커 칸 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5칸 (넓은 스티커 칸 팩 6칸)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진열대 자리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4칸 = 스티커 2 · 개조 1 · 다트 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구성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조건 1 + 효과 1 (+보조 1)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보조 효과 있음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가격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 · 5 · 7 · 8 · 11 · 14 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판매가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구매가 ÷ 2 내림 · 최소 2 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85800" y="4046219"/>
            <a:ext cx="52029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칸과 값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85800" y="4375403"/>
          <a:ext cx="5202936" cy="1453896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3877056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기본 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넓은 스티커 칸 팩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6칸 · 다트 −1발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판매가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구매가 ÷ 2 (내림)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판매가 하한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파는 법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집어서 왼쪽 창구에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00216" y="4046219"/>
            <a:ext cx="52029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발동 순서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300216" y="4375403"/>
          <a:ext cx="5202936" cy="121158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3877056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차례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스티커 칸 앞칸부터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봉인된 스티커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건너뛴다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배수 +N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그 자리에서 더한다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배수 ×N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그때까지의 배수를 곱한다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(3+2)×2 = 10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조건  ·  효과와 등급  ·  스티커  ·  상점  ·  골드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시스템 - 조건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발동 여부를 가르는 술어 35가지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조건 갈래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4320540" cy="121158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영역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트리플·더블·띠·불·고난도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칸 위치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홀·짝·왼·오른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칸 크기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15 이상 · 6~14 · 5 이하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색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크림 · 먹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번호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sec — 지정 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50926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실측 발동률 — 기본 판 36만 발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509260" y="2176272"/>
          <a:ext cx="4320539" cy="1728216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043350"/>
                <a:gridCol w="1337628"/>
                <a:gridCol w="1939561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조건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뜻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발동률%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always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62.30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diff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직전과 다른 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60.75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miss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빗나가면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37.70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col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크림 또는 먹 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30.56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risk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더블·트리플·불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20.59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4078223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「맞힌 발부터」 서는 조건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85800" y="4407407"/>
          <a:ext cx="10817350" cy="1728216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612239"/>
                <a:gridCol w="3349025"/>
                <a:gridCol w="4856086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조건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선다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발동률%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pair 같은 수 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맞힌 발부터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7.67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trip 같은 수 3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맞힌 발부터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0.26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quad 같은 수 4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맞힌 발부터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0.01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pair2 두 쌍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맞힌 발부터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0.27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spread 세 곳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맞힌 발부터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26.51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zone3 한 영역 3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맞힌 발부터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15.37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스티커  ·  효과와 등급  ·  착탄 영역  ·  정산 순서  ·  빗나감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시스템 - 효과와 희귀도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효과 6갈래 · 희귀도 4단 · 골드 8갈래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효과 6갈래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4320539" cy="1970532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043350"/>
                <a:gridCol w="1337628"/>
                <a:gridCol w="1939561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kind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카드 문장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장수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chip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+v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30장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mult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+v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35장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xmult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×v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18장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mult_streak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+v (연속 1회마다)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1장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mult_rand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+0~v 무작위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50926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희귀도 4단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509260" y="2176272"/>
          <a:ext cx="4320539" cy="1243584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796695"/>
                <a:gridCol w="1021404"/>
                <a:gridCol w="1021404"/>
                <a:gridCol w="1481036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등급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가중치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해금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장수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1.00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R2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49장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0.55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R2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26장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0.22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R10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24장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전설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0.00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R24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0장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432054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즉시 골드 8갈래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85800" y="4649724"/>
          <a:ext cx="10817350" cy="148590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612239"/>
                <a:gridCol w="3349025"/>
                <a:gridCol w="4856086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gold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발동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장수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clear 클리어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클리어 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spare 잔탄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남은 다트 1개당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1장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clean 무실책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한 발도 안 빗나가면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blitz 속공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남은 다트 3 이상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1장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broke 빈털터리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보유 골드 6 이하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스티커  ·  조건  ·  상점  ·  골드  ·  점수 공식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시스템 - 개조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판의 기하를 런 내내 바꾼다. 8종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개조 8종 — 표 순서가 적용 순서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10817350" cy="1728216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613295"/>
                <a:gridCol w="2068327"/>
                <a:gridCol w="2068327"/>
                <a:gridCol w="2068327"/>
                <a:gridCol w="2999074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축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효과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가격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배타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속살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링 폭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트리플 +0.06 · 더블 −0.06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9G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겉살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겉살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링 폭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트리플 −0.06 · 더블 +0.06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속살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벼랑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띠 위치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더블 안 0.03 자리로 이동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아랫목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링 추가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안쪽 트리플 띠 0.38~0.46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9G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85800" y="4078223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진열대에 뜨는 조건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85800" y="4407407"/>
          <a:ext cx="10817352" cy="121158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011680"/>
                <a:gridCol w="8805672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진열대 개조 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상점마다 1자리 (라운드당 3자리)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이미 산 것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안 뜬다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배타 짝을 가졌다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안 뜬다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기하 순서 위반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안 뜬다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판이 안 바뀌면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안 뜬다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판  ·  착탄 영역  ·  빗나감  ·  상점  ·  보스 제약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시스템 - 영역 강화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영역별 시작 칩·배수를 올린다. 5트랙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트랙 5종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10817350" cy="758952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613295"/>
                <a:gridCol w="2068327"/>
                <a:gridCol w="2068327"/>
                <a:gridCol w="2068327"/>
                <a:gridCol w="2999074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트랙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명중률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점수/Lv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배수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Lv8 누적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싱글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41.6%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+5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+40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더블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11.8%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+8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홀수 Lv 마다 +1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+64 · 배수 +4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85800" y="310896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레벨을 올리는 길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85800" y="3438144"/>
          <a:ext cx="10817352" cy="484632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011680"/>
                <a:gridCol w="8805672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소비 아이템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5종 · 가격 미정(임시 4G)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딱지 영역 승급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무작위 트랙 +1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4096511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한 발에 얹히는 순서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425696"/>
            <a:ext cx="10817352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  <a:ea typeface="Paperlogy 7 Bold"/>
                <a:cs typeface="Paperlogy 7 Bold"/>
              </a:rPr>
              <a:t>01  </a:t>
            </a:r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칸 죽이기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번호 · 색 · 홀짝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4992624"/>
            <a:ext cx="10817352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5065776"/>
            <a:ext cx="10817352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  <a:ea typeface="Paperlogy 7 Bold"/>
                <a:cs typeface="Paperlogy 7 Bold"/>
              </a:rPr>
              <a:t>02  </a:t>
            </a:r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링 죽이기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배수만 1로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5632704"/>
            <a:ext cx="10817352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착탄 영역  ·  소비 아이템  ·  점수 공식  ·  다트  ·  딱지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시스템 - 보스 제약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28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보스 판 입장 전 3장 중 1장. 12종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깔리는 규칙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4320540" cy="121158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깔리는 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보스 판만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깔리는 장수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고르는 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1장 · 스킵 없음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가중치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12종 전부 1.00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같은 카드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한 화면에 하나뿐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50926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제약 12종 (1/2)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509260" y="2176272"/>
          <a:ext cx="4320539" cy="1728216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043350"/>
                <a:gridCol w="1337628"/>
                <a:gridCol w="1939561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축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효과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좁은 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band_mul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트리플·더블 링 폭 0.5배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역풍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gauge_mul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조준 게이지 2배 속도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안개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fog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조준선이 사라진다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단벌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darts_add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다트 −1발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금지 구역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sector_kill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20 칸 점수 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4078223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제약 12종 (2/2)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85800" y="4407407"/>
          <a:ext cx="10817350" cy="1728216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612239"/>
                <a:gridCol w="3349025"/>
                <a:gridCol w="4856086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축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효과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높은 목표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target_mul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목표 ×1.25 (임시값)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그늘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color_kill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먹색 칸 점수 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민짜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ring_kill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트리플 배수 1로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홀대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odd_mul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홀수 칸 값 0.5배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돌린 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spin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판이 7칸 돌아간다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빈손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reward_mul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클리어 보상만 0배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판  ·  목표 점수  ·  리그  ·  딱지  ·  런 구조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시스템 - 골드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29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런 시작 4G. 정산에서 들어오고 상점에서 나간다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52029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들어오는 곳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5202936" cy="1696212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3877056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런 시작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 · 선금 팩 14G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클리어 보상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작은 3 · 큰 4 · 보스 5G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남은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1발당 1G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보유 5G당 1G · 상한 5G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골드 스티커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9장 (정산 7 · 착탄 2)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스티커 판매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표 가격 ÷2 · 하한 2G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딱지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삯 6G · 두둑한 삯 12G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300216" y="1847088"/>
            <a:ext cx="52029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나가는 곳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300216" y="2176272"/>
          <a:ext cx="5202936" cy="969264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3877056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진열대 구매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스티커 · 개조 · 다트 · 소비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새로고침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무료 1회 뒤 2G부터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설비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7종 전부 10G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유지비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판마다 3G · 검정 리그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4046219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값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85800" y="4375403"/>
          <a:ext cx="10817352" cy="1453896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011680"/>
                <a:gridCol w="8805672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보유 N당 1G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N = 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기본 상한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상한에 닿는 잔고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25G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보는 잔고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정산 지급 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끄는 것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일당 팩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리그 보정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8단 전부 +0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이자  ·  상점  ·  딜러  ·  정산 순서  ·  리그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시스템 - 상점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판을 넘기면 열린다. 진열대 4칸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여는 규칙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10817352" cy="969264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011680"/>
                <a:gridCol w="8805672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여는 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 N 을 넘긴 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안 여는 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마지막 판(24) 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진열대 자리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4칸 고정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구성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스티커 2 · 개조 1 · 다트 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85800" y="3319272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가격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85800" y="3648456"/>
          <a:ext cx="4320539" cy="2455164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043350"/>
                <a:gridCol w="1337628"/>
                <a:gridCol w="1939561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매물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기본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주황 · 검정 리그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일반 스티커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희귀 스티커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9G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레어 스티커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11G · 14G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14G · 18G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가격 예외 5장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5G · 8G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 · 10G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개조 8종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6~12G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8~15G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509260" y="3319272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새로고침과 판매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509260" y="3648456"/>
          <a:ext cx="4320540" cy="148590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160270"/>
                <a:gridCol w="2160270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항목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값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무료 새로고침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유료 첫 값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누적 상승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+1G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실제 흐름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 · 2 · 3 · 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덤 새로고침 (설비)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무료 +1회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골드  ·  딜러  ·  설비  ·  스티커  ·  딱지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시스템 - 설비와 딱지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31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설비 7종 · 딱지 10종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설비 7종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10817350" cy="1970532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994689"/>
                <a:gridCol w="2557293"/>
                <a:gridCol w="2557293"/>
                <a:gridCol w="3708075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효과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최소 라운드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선행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진열대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진열대 칸 +1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긴 진열대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진열대 칸 +1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진열대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덤 새로고침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무료 새로고침 +1회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저금통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이자 상한 +5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침착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조준 게이지 ×0.85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더 침착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조준 게이지 ×0.85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침착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긴 다트 묶음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다트 +1발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85800" y="432054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어디서 나오는가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85800" y="4649724"/>
          <a:ext cx="10817352" cy="121158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011680"/>
                <a:gridCol w="8805672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건너뛸 수 있는 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작은 판 · 큰 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보스 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못 건너뛴다 = 딱지 없다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굴리는 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라운드에 들어설 때 한꺼번에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건너뛰면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0 · 골드 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칸이 꽉 차면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견본 · 보급은 안 들어온다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상점  ·  골드  ·  판  ·  리그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재미 요소 - 조준의 재미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32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같은 타이밍이면 같은 자리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한 발의 순서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76272"/>
            <a:ext cx="10817352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  <a:ea typeface="Paperlogy 7 Bold"/>
                <a:cs typeface="Paperlogy 7 Bold"/>
              </a:rPr>
              <a:t>01  </a:t>
            </a:r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다트 선택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벽의 자루 다섯 중 하나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85800" y="2743200"/>
            <a:ext cx="10817352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85800" y="2816352"/>
            <a:ext cx="10817352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  <a:ea typeface="Paperlogy 7 Bold"/>
                <a:cs typeface="Paperlogy 7 Bold"/>
              </a:rPr>
              <a:t>02  </a:t>
            </a:r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첫 클릭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높이(Y) 잠금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3383280"/>
            <a:ext cx="10817352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3456432"/>
            <a:ext cx="10817352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  <a:ea typeface="Paperlogy 7 Bold"/>
                <a:cs typeface="Paperlogy 7 Bold"/>
              </a:rPr>
              <a:t>03  </a:t>
            </a:r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둘째 클릭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좌우(X) 잠금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4023359"/>
            <a:ext cx="10817352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4251959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조준 게이지를 미는 것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685800" y="4581144"/>
          <a:ext cx="4320539" cy="1243584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043350"/>
                <a:gridCol w="1337628"/>
                <a:gridCol w="1939561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손댄 곳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조준 게이지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비고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기본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속도 0.7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진폭 110px · 판 98px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[ ] 키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0.15 ~ 4.0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게임 중 조절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무거운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×0.55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−1 · 5G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5509260" y="4251959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빗나감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5509260" y="4581144"/>
          <a:ext cx="4320540" cy="969264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기본 빗나감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37.68%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기본 명중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62.30%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자석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5.52%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판벌이(개조)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24.60%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조준  ·  조준 방식  ·  다트  ·  빗나감  ·  착탄 영역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재미 요소 - 조합의 재미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33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99장을 5칸에 넣는다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고를 수 있는 것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4320540" cy="121158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스티커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99장 (활성)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등급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 49 · 희귀 26 · 레어 24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조건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39가지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스티커 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개조 ·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8종 · 5종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50926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조건이 서는 빈도 — 36만 발 실측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509260" y="2176272"/>
          <a:ext cx="4320539" cy="1728216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043350"/>
                <a:gridCol w="1337628"/>
                <a:gridCol w="1939561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조건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발동률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보기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62.30%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기본기 점수 +25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직전과 다른 섹터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60.75%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변덕쟁이 점수 +22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빗나가면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37.70%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빈손 점수 +30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왼쪽 절반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31.08%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좌익수 배수 +2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먹 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30.58%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검은 쐐기 점수 +50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4078223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패턴 조건 — 「맞힌 발부터」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85800" y="4407407"/>
          <a:ext cx="10817350" cy="1728216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612239"/>
                <a:gridCol w="3349025"/>
                <a:gridCol w="4856086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조건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발동률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보기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다른 영역 2종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30.51%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이종 영역 관측 ×2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다른 숫자 세 곳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26.51%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분산의 질서 ×3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같은 영역 3회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15.37%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영역 부족 ×2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같은 숫자 2회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7.67%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두 발의 결속 ×2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같은 숫자 3회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0.26%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세 발의 결속 ×3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네 영역 모두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0.19%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네 영역 화분 ×3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스티커  ·  조건  ·  효과와 등급  ·  개조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재미 요소 - 발동 순서 설계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34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+N 과 ×N 의 순서가 점수를 가른다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정산 순서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76272"/>
            <a:ext cx="5202936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  <a:ea typeface="Paperlogy 7 Bold"/>
                <a:cs typeface="Paperlogy 7 Bold"/>
              </a:rPr>
              <a:t>01  </a:t>
            </a:r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칸 값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점수 = 칸 값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85800" y="2743200"/>
            <a:ext cx="5202936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85800" y="2816352"/>
            <a:ext cx="5202936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  <a:ea typeface="Paperlogy 7 Bold"/>
                <a:cs typeface="Paperlogy 7 Bold"/>
              </a:rPr>
              <a:t>02  </a:t>
            </a:r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영역 배수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배수 = 싱글1 더블2 트리플3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3383280"/>
            <a:ext cx="5202936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3456432"/>
            <a:ext cx="5202936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  <a:ea typeface="Paperlogy 7 Bold"/>
                <a:cs typeface="Paperlogy 7 Bold"/>
              </a:rPr>
              <a:t>03  </a:t>
            </a:r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스티커 칸 왼쪽부터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선 스티커를 차례로 낸다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4023359"/>
            <a:ext cx="5202936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300216" y="2176272"/>
            <a:ext cx="5202936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  <a:ea typeface="Paperlogy 7 Bold"/>
                <a:cs typeface="Paperlogy 7 Bold"/>
              </a:rPr>
              <a:t>04  </a:t>
            </a:r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점수 갈래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점수에 더한다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300216" y="2743200"/>
            <a:ext cx="5202936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300216" y="2816352"/>
            <a:ext cx="5202936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  <a:ea typeface="Paperlogy 7 Bold"/>
                <a:cs typeface="Paperlogy 7 Bold"/>
              </a:rPr>
              <a:t>05  </a:t>
            </a:r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배수 갈래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배수에 더한다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300216" y="3383280"/>
            <a:ext cx="5202936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85800" y="4251959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같은 장, 순서만 바꾼다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685800" y="4581144"/>
          <a:ext cx="10817350" cy="148590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994689"/>
                <a:gridCol w="2557293"/>
                <a:gridCol w="2557293"/>
                <a:gridCol w="3708075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착탄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스티커 칸 순서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배수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총점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더블 20 (40점)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가장자리 → 칼끝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(2+3)×2 = 10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400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더블 20 (40점)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칼끝 → 가장자리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2×2+3 = 7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280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트리플 20 (60점)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삼중고 → 증폭기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(3+4)×2 = 14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840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트리플 20 (60점)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증폭기 → 삼중고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3×2+4 = 10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600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트리플 20 (60점)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삼중고·기본 → 증폭기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(3+4+4)×2 = 22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1,320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점수 공식  ·  정산 순서  ·  스티커  ·  효과와 등급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보상 요소 - 판을 넘겼을 때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35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골드 · 남은 다트 · 이자, 그리고 진열대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판별 보상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4320539" cy="148590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796695"/>
                <a:gridCol w="1021404"/>
                <a:gridCol w="1021404"/>
                <a:gridCol w="1481036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판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목표 배수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클리어 골드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건너뛰기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작은 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가능 · 딱지를 받는다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큰 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×1.5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가능 · 딱지를 받는다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보스 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불가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50926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함께 들어오는 것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509260" y="2176272"/>
          <a:ext cx="4320540" cy="726948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남은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1발당 1G. 빨리 끝낼수록 이득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가진 골드 5당 1G · 최대 5G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상점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클리어한 판 뒤에만 열린다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골드  ·  상점  ·  딱지  ·  리그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보상 요소 - 스타트 팩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36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런 시작 조건을 정한다. 기본 5 · 히든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팩 6종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10817350" cy="1728216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613295"/>
                <a:gridCol w="2068327"/>
                <a:gridCol w="2068327"/>
                <a:gridCol w="2068327"/>
                <a:gridCol w="2999074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팩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다트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시작 골드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스티커 / 소비 칸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그 밖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기본 팩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 / 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여벌 팩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 / 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잔탄 골드 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넓은 스티커 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 / 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선금 팩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 / 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일당 팩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 / 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이자 없음 · 잔탄 2G/발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미정 (히든)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 / 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미정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85800" y="4078223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해금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85800" y="4407407"/>
          <a:ext cx="4320540" cy="1453896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여벌 팩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기본 팩으로 완주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넓은 스티커 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여벌 팩으로 완주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선금 팩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넓은 스티커 칸으로 완주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일당 팩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선금 팩으로 완주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히든 팩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불 명중 누적 50회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여는 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런이 끝날 때 · 새 런 화면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509260" y="4078223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지급 방식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509260" y="4407407"/>
          <a:ext cx="4320540" cy="969264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갈래 넷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개조 · 설비 · 소비 · 스티커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칸이 모자라면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안 담긴다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잔탄 골드 기본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남은 다트 1개당 1G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일당 팩 잔탄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남은 다트 1개당 2G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리그  ·  다트  ·  스티커  ·  골드  ·  이자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보상 요소 - 리그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37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난이도 8단. 완주하면 다음 단 해금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리그 8단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4320539" cy="1970532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796695"/>
                <a:gridCol w="1021404"/>
                <a:gridCol w="1021404"/>
                <a:gridCol w="1481036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단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리그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곡선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더해지는 것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흰 리그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base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초록 리그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base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작은 판 보상 3G → 0G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파랑 리그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curve_a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목표 곡선 상승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4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보라 리그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curve_a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매 판 스티커 1장 봉인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붉은 리그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curve_a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다트 6발 → 5발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50926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곡선 배수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509260" y="2176272"/>
          <a:ext cx="4320539" cy="1728216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043350"/>
                <a:gridCol w="1337628"/>
                <a:gridCol w="1939561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라운드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curve_a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curve_b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1.00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1.00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1.10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1.25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1.25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1.55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4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1.45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1.85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1.60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2.30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6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1.75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2.80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432054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규칙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85800" y="4649724"/>
          <a:ext cx="10817352" cy="1453896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011680"/>
                <a:gridCol w="8805672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해금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그 단을 완주하면 다음 단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갈림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팩마다 따로 뚫는다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봉인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무작위 1장 · 그 판만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삭음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산 판부터 5판 뒤 부서진다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진열대 값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올림 — 4G 가 5G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유지비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보유 0G 면 안 낸다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라운드  ·  목표 점수  ·  스타트 팩  ·  스티커  ·  골드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보상 요소 - 해금과 확장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38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완주가 다음을 연다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지금 열리는 것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4320540" cy="969264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팩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완주할 때마다 다음 팩 하나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리그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완주하면 다음 단. 흰 → 검정 8단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레어 스티커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라운드 4부터 진열대에 오른다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기록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완주한 팩과 리그를 저장한다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50926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자리를 비워 둔 것 (확장)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509260" y="2176272"/>
          <a:ext cx="4320540" cy="1453896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히든 팩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조준과 계산이 갈리는 팩. 통계 조건으로 연다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전설 스티커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진열대에 안 뜬다. 따로 얻는 길을 만든다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가공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스티커·다트에 덧붙이는 변형 8종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대기 스티커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조건은 정했고 아직 안 켠 86장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스타트 팩  ·  리그  ·  스티커  ·  효과와 희귀도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UI/UX - 레이아웃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39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640 × 360 px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상시 HUD 요소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4320540" cy="1696212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상단 띠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640 × 18 px · y0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자금판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72 × 34 px · x4 y20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소비 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68 × 44 px · 2칸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스티커 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322 × 44 px · 5칸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용량 표시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40 × 44 px · x490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다트 벽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x34 · 간격 31 px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점수 카드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244 × 96 px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50926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띠와 하단 줄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509260" y="2176272"/>
          <a:ext cx="4320539" cy="1970532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043350"/>
                <a:gridCol w="1337628"/>
                <a:gridCol w="1939561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자리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좌표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싣는 것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띠 1칸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x 0~100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R n / 8 · 라운드 눈금 8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띠 2칸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x 100~584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 이름 · 목표 게이지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띠 2칸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x 514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/ 목표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띠 3칸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x 584~640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이번 판 제약 아이콘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안내 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y 348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지금 할 일 · 12 pt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조절 값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y 356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디버그 빌드만 · 9 pt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432054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화면별 HUD 노출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85800" y="4649724"/>
          <a:ext cx="10817350" cy="148590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612239"/>
                <a:gridCol w="3349025"/>
                <a:gridCol w="4856086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화면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상단 띠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나머지 판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판 · 판 고르기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켠다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전부 그린다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제약 고르기 · 상점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끈다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16 px 올린다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정산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켠다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전부 끈다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제목 · 설정 · 컬렉션 · 새 런 · 종료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끈다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전부 끈다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조작  ·  화면 전이  ·  스티커  ·  상점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UI/UX - 조작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40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좌클릭 하나로 끝난다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상태별 입력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4320539" cy="1243584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043350"/>
                <a:gridCol w="1337628"/>
                <a:gridCol w="1939561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상태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좌클릭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스페이스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다트 고르기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벽의 자루 · 반경 18 px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0번 자루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높이 조준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 위(반경 119.6 px) 클릭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즉시 잠금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50926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키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509260" y="2176272"/>
          <a:ext cx="4320539" cy="1243584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043350"/>
                <a:gridCol w="1337628"/>
                <a:gridCol w="1939561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키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하는 일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범위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스페이스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진행 · 확정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ESC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일시정지 · 취소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F11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전체화면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3593592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상점 클릭 판정 순서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922776"/>
            <a:ext cx="10817352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  <a:ea typeface="Paperlogy 7 Bold"/>
                <a:cs typeface="Paperlogy 7 Bold"/>
              </a:rPr>
              <a:t>01  </a:t>
            </a:r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쓸기 중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클릭을 통째로 삼킨다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4489704"/>
            <a:ext cx="10817352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4562856"/>
            <a:ext cx="10817352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  <a:ea typeface="Paperlogy 7 Bold"/>
                <a:cs typeface="Paperlogy 7 Bold"/>
              </a:rPr>
              <a:t>02  </a:t>
            </a:r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선반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설비 구매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5129784"/>
            <a:ext cx="10817352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5202936"/>
            <a:ext cx="10817352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  <a:ea typeface="Paperlogy 7 Bold"/>
                <a:cs typeface="Paperlogy 7 Bold"/>
              </a:rPr>
              <a:t>03  </a:t>
            </a:r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좌우 창구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왼쪽 판매 · 오른쪽 구매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85800" y="5769864"/>
            <a:ext cx="10817352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조준  ·  조준 방식  ·  레이아웃  ·  상태별 처리  ·  상점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UI/UX - 화면 전이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41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상태 15개 · 화면 10개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847088"/>
            <a:ext cx="2046427" cy="91440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판 고르기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750515" y="2304288"/>
            <a:ext cx="109728" cy="0"/>
          </a:xfrm>
          <a:prstGeom prst="line">
            <a:avLst/>
          </a:prstGeom>
          <a:ln w="12700">
            <a:solidFill>
              <a:srgbClr val="168D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878531" y="1847088"/>
            <a:ext cx="2046427" cy="91440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제약 고르기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943246" y="2304288"/>
            <a:ext cx="109728" cy="0"/>
          </a:xfrm>
          <a:prstGeom prst="line">
            <a:avLst/>
          </a:prstGeom>
          <a:ln w="12700">
            <a:solidFill>
              <a:srgbClr val="168D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5071262" y="1847088"/>
            <a:ext cx="2046427" cy="91440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판 6상태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135977" y="2304288"/>
            <a:ext cx="109728" cy="0"/>
          </a:xfrm>
          <a:prstGeom prst="line">
            <a:avLst/>
          </a:prstGeom>
          <a:ln w="12700">
            <a:solidFill>
              <a:srgbClr val="168D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263993" y="1847088"/>
            <a:ext cx="2046427" cy="91440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정산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328708" y="2304288"/>
            <a:ext cx="109728" cy="0"/>
          </a:xfrm>
          <a:prstGeom prst="line">
            <a:avLst/>
          </a:prstGeom>
          <a:ln w="12700">
            <a:solidFill>
              <a:srgbClr val="168D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456724" y="1847088"/>
            <a:ext cx="2046427" cy="91440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상점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3044952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화면 사이 이동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685800" y="3374136"/>
          <a:ext cx="4320539" cy="2455164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043350"/>
                <a:gridCol w="1337628"/>
                <a:gridCol w="1939561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출발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조건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도착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부팅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제목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제목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시작 · 컬렉션 · 설정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새 런 · 컬렉션 · 설정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새 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스페이스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 고르기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판 고르기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「건너뛰기」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다음 판 · 딱지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정산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클릭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상점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상점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「다음」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 고르기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정산 시점 목표 미달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종료(실패)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5509260" y="3044952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판 갈이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5509260" y="3374136"/>
          <a:ext cx="4320540" cy="1696212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총 길이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0.36 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테이블 빠짐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0.15 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판이 뜨는 시각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0.13 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판이 서기까지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0.23 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돌아올 때 눕기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0.11 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도는 동안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입력 전부 삼킴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여는 자리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 시작 · 정산 클릭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런 구조  ·  판  ·  상점  ·  레이아웃  ·  딜러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데이터 - 스티커 1/4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42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335024"/>
          <a:ext cx="10817349" cy="5148072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984043"/>
                <a:gridCol w="1069658"/>
                <a:gridCol w="3536773"/>
                <a:gridCol w="3450511"/>
                <a:gridCol w="776364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희귀도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조건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효과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가격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4·10 무전기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4·10번 명중 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+10 · 배수 +4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가장자리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더블 명중 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+3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같은 숫자 보너스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같은 숫자 2회를 맞힌 발부터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+50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같은 숫자 한 쌍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같은 숫자 2회를 맞힌 발부터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+8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결벽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한 발도 안 빗나가면 골드 +2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과충전 증폭기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×3 · 판마다 0.1% 확률로 파괴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굳은살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 이하 섹터 명중 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+2 · 정산 때 보유 골드 6 이하면 +4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녹는 점수원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+100 에서 시작 · 던질 때마다 −5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대물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15 이상 섹터 명중 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+16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스티커 칸 집합체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보유 아이템 1개당 배수 +3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마지막 고도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 마지막 다트에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+15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명중 적립기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명중마다 배수 +1 · 빗나가면 −1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모험심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더블·트리플·불 명중 시 절반 확률로 골드 +2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무거운 대기열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무거운 다트 1개당 배수 +13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분산 관통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다른 숫자 세 곳을 맞힌 발부터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+100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분산 궤적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다른 숫자 세 곳을 맞힌 발부터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+12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분산 주자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다른 숫자 세 곳을 맞힌 발부터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발동할 때마다 점수 +15 누적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불 연구원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불 명중 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+20 · 배수 +4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불안정 증폭기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+15 · 판마다 1/6 확률로 파괴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빗나감 배수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빗나가면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삼중고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트리플 명중 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+4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세 발 증폭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같은 숫자 3회를 맞힌 발부터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+12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세 발 집중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같은 숫자 3회를 맞힌 발부터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+100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소모성 증폭기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+20 에서 시작 · 판마다 −4 · 0이면 파괴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소물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 이하 섹터 명중 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데이터 - 스티커 2/4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43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335024"/>
          <a:ext cx="10817349" cy="496062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984043"/>
                <a:gridCol w="1069658"/>
                <a:gridCol w="3536773"/>
                <a:gridCol w="3450511"/>
                <a:gridCol w="776364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희귀도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조건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효과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가격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소수 정예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이번 판 다트가 3개 이하면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+20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영역 집중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같은 영역 종류 3회를 맞힌 발부터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+80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예비 다트 홀더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 시작 다트 +1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오차 인쇄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+0~23 무작위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우익수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오른쪽 절반 명중 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이중 짝 증폭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다른 두 숫자를 각 2회 맞힌 발부터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+10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이중 짝맞춤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다른 두 숫자를 각 2회 맞힌 발부터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+80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잔여 깃발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남은 다트 1개당 점수 +30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정산 모듈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판마다 골드 +4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좌익수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왼쪽 절반 명중 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지정색 증폭기 A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크림 칸 명중 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지정색 증폭기 B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먹 칸 명중 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+3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진열 가치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다른 아이템 판매가 합계만큼 배수 추가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짝수 보정기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짝수 섹터 명중 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+4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짝수 애호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짝수 섹터 명중 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+14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착탄 이력계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이 영역의 런 누적 명중 1회당 배수 +1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첫 고난도 촬영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 첫 더블·트리플·불 명중 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×2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최저점 반격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 최저 명중 숫자 1당 배수 +2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한 영역 고집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같은 영역 종류 3회를 맞힌 발부터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+10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홀수 애호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홀수 섹터 명중 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+14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고난도 미소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더블·트리플·불 명중 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홀수 보정기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홀수 섹터 명중 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+31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고난도 표적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더블·트리플·불 명중 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+30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8G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기본 증폭기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+4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8G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거친 보석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크림 칸 명중 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발동할 때마다 골드 +1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데이터 - 스티커 3/4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44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335024"/>
          <a:ext cx="10817349" cy="496062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984043"/>
                <a:gridCol w="1069658"/>
                <a:gridCol w="3536773"/>
                <a:gridCol w="3450511"/>
                <a:gridCol w="776364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희귀도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조건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효과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가격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검은 쐐기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먹 칸 명중 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+50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네 영역 화분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네 영역을 모두 맞힌 발부터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×3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띠쟁이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트리플·더블 어디든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+20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막판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 마지막 다트에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×2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명중왕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불 명중 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+8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반복 궤도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이미 명중한 영역을 다시 맞히면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×3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비상 골격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실패 1회 방지 (총점이 목표의 25% 이상일 때)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빈 스티커 칸 형판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× 빈 아이템 칸 수 (최소 ×1)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새 자리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직전과 다른 섹터면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+12 · 한 발도 안 빗나가면 골드 +3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선취점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 첫 다트에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+26 · 남은 다트 1개당 골드 +1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손맛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이번 판에 트리플을 맞힌 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+30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쌍쌍 바지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다른 두 숫자를 각 2회 맞힌 발부터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발동할 때마다 배수 +2 누적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압축 투척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기본에서 줄어든 다트 1개당 배수 +4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여섯 번째 약속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매 6번째 투척에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×4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연속 빗나감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직전 투척이 빗나갔다면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×2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영역 승급기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발동 4회 중 1회, 맞은 영역 강화 +1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외골수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직전과 같은 섹터면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+4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이종 영역 관측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다른 영역 2종을 맞힌 발부터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×2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자금 과녁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보유 골드 1당 점수 +2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자금 증폭끈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보유 골드 5당 배수 +2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중량 다트 계수기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무거운 다트 1개당 점수 +25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첫 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 첫 다트에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+45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피보나치 과녁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1·2·3·5·8번 명중 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+8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흑색 마노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먹 칸 명중 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+7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마지막 곡예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 마지막 다트에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×3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8G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데이터 - 스티커 4/4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45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335024"/>
          <a:ext cx="10817349" cy="5148072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984043"/>
                <a:gridCol w="1069658"/>
                <a:gridCol w="3536773"/>
                <a:gridCol w="3450511"/>
                <a:gridCol w="776364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희귀도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조건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효과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가격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변덕쟁이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직전과 다른 섹터면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+22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빈손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빗나가면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+30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12·13 왕가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12·13번 명중 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×2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겹조준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가로세로 조준선이 함께 움직이며 한 번에 잠깁니다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곡예 다트맨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+250 · 판 시작 다트 -2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기본기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+25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네 발의 가족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같은 숫자 4회를 맞힌 발부터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×4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당김 조준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튕기는 속도와 방향으로 다트를 던집니다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두 발의 결속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같은 숫자 2회를 맞힌 발부터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×2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반동 조준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한 발이 작은 다트 5발이 되고 발마다 점수의 25%를 받으며, 쏠 때마다 조준이 밀립니다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분산의 질서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다른 숫자 세 곳을 맞힌 발부터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×3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빗각 조준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조준선이 다트마다 다른 각도로 기웁니다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세 발의 결속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같은 숫자 3회를 맞힌 발부터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×3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속사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트리플 명중 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+3 · 남은 다트 3개 이상이면 골드 +9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손 조준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조준점을 원하는 자리에 직접 놓습니다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영역 부족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같은 영역 종류 3회를 맞힌 발부터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×2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원 조준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원의 크기와 각도로 조준합니다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작은 2번 과녁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2번 명중 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발동할 때마다 점수 +8 누적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정밀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연속 명중 1회마다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칼끝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더블 명중 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×2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후원자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+16 · 클리어 시 골드 +4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흔들 조준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조준점이 커서 둘레를 제멋대로 떠돕니다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중물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6~14 섹터 명중 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+40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증폭기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×2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데이터 - 다트 · 개조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46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다트 — 표준 1발을 대체한다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1664207"/>
          <a:ext cx="10817351" cy="128016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802892"/>
                <a:gridCol w="1262024"/>
                <a:gridCol w="901446"/>
                <a:gridCol w="5769254"/>
                <a:gridCol w="1081735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게이지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배수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효과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가격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표준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특성 없음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기본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무거운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×0.55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-1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게이지 0.55배 · 배수 -1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가벼운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×1.9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게이지 1.9배 · 배수 +3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관통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양옆 칸 0.5배 · 배수 고정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자석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-1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중심으로 0.25 당김 · 배수 -1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3118103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개조 — 판의 기하를 바꾼다 · 런 동안 유지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85800" y="3447287"/>
          <a:ext cx="10817350" cy="1883664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802892"/>
                <a:gridCol w="1442313"/>
                <a:gridCol w="5048097"/>
                <a:gridCol w="1442313"/>
                <a:gridCol w="1081735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축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효과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배타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가격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속살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band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트리플 띠 +0.06 · 더블 띠 -0.06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guts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9G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겉살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band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트리플 띠 -0.06 · 더블 띠 +0.06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soks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벼랑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slide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트리플 띠가 더블 안쪽에서 0.03 띄운 자리로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아랫목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ring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안쪽에 트리플 띠 하나 더 (0.38~0.46)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9G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멍석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bull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한복판 0.04 · 불 0.2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8G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판벌이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out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판이 1.1배로 커진다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12G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판갈이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swap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가장 작은 3 칸이 20이 된다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9G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짝패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odd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칸마다 짝이 생긴다 · 짝수 칸 −1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데이터 - 보스 제약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47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335024"/>
          <a:ext cx="10817351" cy="2688336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966791"/>
                <a:gridCol w="2163470"/>
                <a:gridCol w="6687090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무엇을 건드리나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효과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좁은 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band_mul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트리플·더블 링 폭 0.5배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역풍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gauge_mul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조준 게이지 2배 속도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안개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fog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조준선이 판 위에서 사라진다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단벌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darts_add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다트 -1개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금지 구역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sector_kill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지정 칸 점수 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둔화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seal_items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스티커 1장 무작위 봉인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높은 목표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target_mul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목표 점수 1.25배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그늘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color_kill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먹색 칸 점수 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민짜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ring_kill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트리플 배수 무효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홀대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odd_mul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홀수 칸 값 0.5배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돌린 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spin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판이 7칸 돌아간다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빈손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reward_mul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이 판 보상 골드 0배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데이터 - 설비 · 딱지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48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설비 — 상점 왼쪽 벽, 라운드마다 하나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1664207"/>
          <a:ext cx="10817350" cy="1682496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087559"/>
                <a:gridCol w="4934230"/>
                <a:gridCol w="948890"/>
                <a:gridCol w="948890"/>
                <a:gridCol w="1897781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효과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가격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라운드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선행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진열대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진열대 칸 +1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10G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긴 진열대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진열대 칸 +1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10G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v_shelf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덤 새로고침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무료 새로고침 +1회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10G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저금통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이자 상한 +5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10G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침착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조준 게이지 속도 0.85배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10G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더 침착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조준 게이지 속도 0.85배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10G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v_aim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긴 다트 묶음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다트 +1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10G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352044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딱지 — 소판·대판을 건너뛸 때만 받는다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85800" y="3849624"/>
          <a:ext cx="10817350" cy="228600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203534"/>
                <a:gridCol w="5809318"/>
                <a:gridCol w="1802892"/>
                <a:gridCol w="1001606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효과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시점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라운드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삯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골드 +6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now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두둑한 삯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골드 +12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now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여벌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다트 +1개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round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영역 승급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무작위 영역 강화 +1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now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보급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소비 아이템 1장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now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견본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스티커 1장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now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무료 새로고침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무료 새로고침 +2회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shop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넓은 진열대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매물 +2칸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shop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여유로운 선택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제약 선택지 +1장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stage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외상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물건 1개가 공짜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shop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데이터 - 리그 · 스타트 팩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49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리그 — 앞 단을 완주하면 다음 단이 열린다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1664207"/>
          <a:ext cx="10817347" cy="1883664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025216"/>
                <a:gridCol w="1314380"/>
                <a:gridCol w="1314380"/>
                <a:gridCol w="1314380"/>
                <a:gridCol w="1314380"/>
                <a:gridCol w="1314380"/>
                <a:gridCol w="1314380"/>
                <a:gridCol w="1905851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리그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곡선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작은 판 골드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봉인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다트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진열대 가격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삭음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유지비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흰 리그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base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초록 리그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base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파랑 리그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curve_a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보라 리그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curve_a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붉은 리그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curve_a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-1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노랑 리그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curve_b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-1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주황 리그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curve_b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-1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×1.25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검정 리그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curve_b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-1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×1.25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3721608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스타트 팩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85800" y="4050792"/>
          <a:ext cx="10817349" cy="1481328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556453"/>
                <a:gridCol w="856049"/>
                <a:gridCol w="1089517"/>
                <a:gridCol w="1089517"/>
                <a:gridCol w="933872"/>
                <a:gridCol w="5291941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팩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다트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시작 골드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스티커 칸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소비 칸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대가와 변화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기본 팩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여벌 팩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추가 다트 1개로 시작하며, 남은 다트는 골드가 되지 않습니다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넓은 스티커 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-1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추가 스티커 칸 1칸, 다트 1개 감소된 채 시작합니다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선금 팩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추가 10골드, 소비 아이템 슬롯 1칸 감소된 채 시작합니다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일당 팩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이자를 받지 않으며, 남은 다트 1개당 2골드를 받습니다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미정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데이터 - 영역 강화 · 튜닝 상수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50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영역 강화 — 런 동안 유지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1664207"/>
          <a:ext cx="10817350" cy="1682496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994689"/>
                <a:gridCol w="2557293"/>
                <a:gridCol w="2557293"/>
                <a:gridCol w="3708075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트랙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레벨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레벨당 점수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레벨당 배수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싱글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8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 · 5 · 5 · 5 · 5 · 5 · 5 · 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 · — · — · — · — · — · — · 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더블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8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8 · 8 · 8 · 8 · 8 · 8 · 8 · 8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 · — · 1 · — · 1 · — · 1 · —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트리플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8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 · 11 · 11 · 11 · 11 · 11 · 11 · 11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 · — · 1 · — · 1 · — · 1 · 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불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8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40 · 40 · 40 · 40 · 40 · 40 · 40 · 40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 · 1 · 1 · 1 · 1 · 1 · 1 · 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보드 아웃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8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 · 6 · 6 · 6 · 6 · 6 · 6 · 6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 · — · — · — · — · — · — · 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352044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튜닝 상수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85800" y="3849624"/>
          <a:ext cx="10817350" cy="1883664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994689"/>
                <a:gridCol w="2557293"/>
                <a:gridCol w="2557293"/>
                <a:gridCol w="3708075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키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값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키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값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start_gold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clear_gold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gold_per_dart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interest_per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interest_max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sell_div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sell_min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free_rerolls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reroll_base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reroll_step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max_items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darts_base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cons_slots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curve_first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curve_last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4000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/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/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