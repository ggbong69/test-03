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흰 · 초록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50</c:v>
                </c:pt>
                <c:pt idx="1">
                  <c:v>116</c:v>
                </c:pt>
                <c:pt idx="2">
                  <c:v>257</c:v>
                </c:pt>
                <c:pt idx="3">
                  <c:v>552</c:v>
                </c:pt>
                <c:pt idx="4">
                  <c:v>1139</c:v>
                </c:pt>
                <c:pt idx="5">
                  <c:v>2265</c:v>
                </c:pt>
                <c:pt idx="6">
                  <c:v>4337</c:v>
                </c:pt>
                <c:pt idx="7">
                  <c:v>8000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파랑 · 보라 · 붉은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50</c:v>
                </c:pt>
                <c:pt idx="1">
                  <c:v>127</c:v>
                </c:pt>
                <c:pt idx="2">
                  <c:v>322</c:v>
                </c:pt>
                <c:pt idx="3">
                  <c:v>800</c:v>
                </c:pt>
                <c:pt idx="4">
                  <c:v>1822</c:v>
                </c:pt>
                <c:pt idx="5">
                  <c:v>3963</c:v>
                </c:pt>
                <c:pt idx="6">
                  <c:v>8240</c:v>
                </c:pt>
                <c:pt idx="7">
                  <c:v>16000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노랑 · 주황 · 검정</c:v>
                </c:pt>
              </c:strCache>
            </c:strRef>
          </c:tx>
          <c:cat>
            <c:strRef>
              <c:f>Sheet1!$A$2:$A$9</c:f>
              <c:strCache>
                <c:ptCount val="8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50</c:v>
                </c:pt>
                <c:pt idx="1">
                  <c:v>144</c:v>
                </c:pt>
                <c:pt idx="2">
                  <c:v>399</c:v>
                </c:pt>
                <c:pt idx="3">
                  <c:v>1020</c:v>
                </c:pt>
                <c:pt idx="4">
                  <c:v>2619</c:v>
                </c:pt>
                <c:pt idx="5">
                  <c:v>6341</c:v>
                </c:pt>
                <c:pt idx="6">
                  <c:v>14746</c:v>
                </c:pt>
                <c:pt idx="7">
                  <c:v>32000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Paperlogy 4 Regular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000">
              <a:latin typeface="Paperlogy 4 Regular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572768"/>
            <a:ext cx="1081735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45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HIGHTONE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761488"/>
            <a:ext cx="36576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325">
                <a:solidFill>
                  <a:srgbClr val="62666C"/>
                </a:solidFill>
                <a:latin typeface="Paperlogy 6 SemiBold"/>
                <a:ea typeface="Paperlogy 6 SemiBold"/>
                <a:cs typeface="Paperlogy 6 SemiBold"/>
              </a:rPr>
              <a:t>하이톤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493008"/>
            <a:ext cx="2093976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3840480"/>
            <a:ext cx="45720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게임 기획서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26864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다트 스코어어택 로그라이트 · PC</a:t>
            </a:r>
          </a:p>
          <a:p>
            <a:pPr algn="l">
              <a:lnSpc>
                <a:spcPct val="125000"/>
              </a:lnSpc>
            </a:pPr>
            <a:r>
              <a:rPr sz="13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기획 김건의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목차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512064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용어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03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점수와 판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04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모으는 것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05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런과 판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06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상점과 런 바깥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기획 의도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07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한 줄 정의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08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실력 × 빌드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09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타깃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시스템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10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런 구조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11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라운드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12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판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13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목표 점수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14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투척 흐름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15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다트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16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조준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17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조준 방식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18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조준 방식을 얻는 법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19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착탄 영역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20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빗나감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21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점수 공식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22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점수 정산 순서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23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스티커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335024"/>
            <a:ext cx="5120640" cy="4937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24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조건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25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효과와 희귀도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26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개조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27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영역 강화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28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보스 제약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29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골드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30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상점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31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설비와 딱지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재미 요소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32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손의 재미 · 조준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33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머리의 재미 · 조합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34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발동 순서 설계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보상 요소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35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판을 넘겼을 때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36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스타트 팩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37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리그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38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해금과 확장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UI/UX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39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레이아웃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40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조작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41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화면 전이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2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데이터</a:t>
            </a:r>
          </a:p>
          <a:p>
            <a:pPr>
              <a:lnSpc>
                <a:spcPct val="115000"/>
              </a:lnSpc>
            </a:pPr>
            <a:r>
              <a:rPr sz="120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42   </a:t>
            </a:r>
            <a:r>
              <a:rPr sz="1200">
                <a:solidFill>
                  <a:srgbClr val="171717"/>
                </a:solidFill>
                <a:latin typeface="Paperlogy 4 Regular"/>
                <a:ea typeface="Paperlogy 4 Regular"/>
                <a:cs typeface="Paperlogy 4 Regular"/>
              </a:rPr>
              <a:t>스티커 전종 · 다트 · 개조 · 제약 · 설비 · 리그 · 튜닝  (42–50)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점수와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칩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점수를 이루는 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점수의 앞자리. 꽂힌 칸의 값에서 시작한다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칩에 곱하는 수. 꽂힌 영역이 정한다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 +N · 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현재 값에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앞서 만든 배수를 곱한다. 순서가 값을 바꾼다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발의 점수를 정하는 일곱 걸음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판을 가리키는 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섹터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판을 20 등분한 부채꼴. 1~20 의 숫자를 가진다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 · 더블 · 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섹터 안의 세 구간. 배수 1 · 2 ·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한복판. 아우터 25 · 이너 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밖. 칩 0 · 배수 1 로 정산된다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보드 아웃에 꽂힌 것. 조건이 되는 결과다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큐  ·  착탄 영역  ·  빗나감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모으는 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· 다트 · 개조 · 강화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물건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218084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한 쌍. 스티커 칸에 꽂아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스티커를 꽂는 자리. 기본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스티커가 언제 걸리는지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걸렸을 때 무엇을 하는지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· 희귀 · 레어 · 전설 네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자루. 5종 · 다트 묶음에 기본 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던질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판과 값을 바꾸는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판의 기하를 바꾼다. 스티커 칸을 안 먹는다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강화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영역의 시작 칩·배수를 올린다. 5트랙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 쓰고 사라진다. 기본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스티커·다트에 덧붙이는 변형. 미구현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다트  ·  개조  ·  영역 강화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런과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= 라운드 8 × 판 3 =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진행 단위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번의 도전. 24판을 지나면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3개 묶음. 런에 8라운드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다트를 다 쓰거나 목표를 넘기면 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· 큰 ·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라운드를 이루는 판 셋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판을 넘기려면 필요한 누적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판에 걸리는 규칙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작은·큰 판을 안 하고 딱지를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 입장 전 3장 중 1장을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판 동안 스티커 한 장이 안 서는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방지. 그 스티커는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라운드  ·  판  ·  목표 점수  ·  보스 제약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용어 - 상점과 런 바깥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진열대 · 팩 · 리그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살 때 쓰는 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1. 상한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상점에 깔리는 물건 자리. 4칸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딜러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매물을 테이블에 던져 놓는 사람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진열대를 다시 깐다. 방문당 1회 무료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칸의 스티커를 되파는 것. 구매가 절반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바깥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런을 시작하는 조건 묶음. 6종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난이도 8단. 완주하면 다음 단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1개. 런 끝까지 유지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 판의 보상. 10종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완주로 열리는 다음 팩과 다음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딜러  ·  골드  ·  이자  ·  스타트 팩  ·  리그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한 줄 정의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다트판 위의 덱빌딩 스코어어택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제품 정의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싱글 로그라이트 · 스코어어택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 단독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점수의 두 축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정하는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손잡이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링 ·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빌드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둘 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59359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기본 규모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392277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509260" y="3593592"/>
            <a:ext cx="43205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스티커 칸 · 다트 수 · 진열대 칸은 설비와 팩으로 늘어난다.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런 구조  ·  투척 흐름  ·  스티커  ·  목표 점수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실력 × 빌드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손이 칩을, 빌드가 배수를 만든다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조준만 · 무장 없음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6발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360점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1 첫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4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552점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5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1139점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8 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칩 순서가 값을 바꾼다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슬롯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계산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 × 2 = 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 + 4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35907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실력이 닿는 확률 (36만 발)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165091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11.79%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빗나감 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큐  ·  스티커  ·  목표 점수  ·  라운드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기획 의도 - 타깃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스코어어택 · 덱빌딩 유저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타깃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 타깃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스코어어택 · 덱빌딩 선호 유저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15~29세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플랫폼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PC · 마우스만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1회 플레이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15~40분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레퍼런스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가져온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버린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726948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발라트로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+ 효과 · 슬롯 5칸 · 점수 ×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카드 뽑기 · 족보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실물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 · 띠 · 불 이중 구조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501 · 크리켓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플래시 게임 게이지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위아래 한 번 · 좌우 한 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착탄 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조준  ·  스티커  ·  리그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런 구조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1회 = 라운드 8 × 판 3 = 24판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 (보스만)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투척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 시작값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리롤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방문당 1 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선택지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런이 끝나는 곳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탈락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소진 · 총점 &lt;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24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완주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리그 · 다음 팩 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스타트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종 (히든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목표 점수  ·  리그  ·  스타트 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라운드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3개 묶음. 런에 8라운드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라운드가 쥐는 값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9385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· 큰 · 보스 3판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개조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라운드당 1 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굴림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라운드별 곡선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22128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 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276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1,132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2,169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3.40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4,000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56285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라운드당 배율 2.31배 → 1.84배. 첫 판 25점 · 최종 8,000점 · 총 160배.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목표 점수  ·  상점  ·  설비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작은 판 · 큰 판 · 보스 판. 런에 24판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3종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없음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중 3장 →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건너뛰기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딱지 1 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굴림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시작에 2판분 (작은 판·큰 판만)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종류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 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받는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 골드와 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51275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리그가 미는 판 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80459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0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5 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이후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×1.25 · 삭음 5판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유지비 3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보스 제약  ·  딱지  ·  골드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목표 점수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목표 = 라운드 기준값 × 판 배수. 8라운드에 160배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보스 판 목표 점수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176272"/>
          <a:ext cx="432054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509260" y="1847088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×1 · 큰 판 ×1.5 · 보스 판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판 · 마지막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25점 → 8,000점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위 곡선 중 하나를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판  ·  리그  ·  점수 공식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투척 흐름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고르고, 두 번 눌러 겨누고, 던진다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정하기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정하기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던지기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정산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발이 지나는 길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묶음에서 던질 자루를 고른다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가로선이 위아래로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좌우 정하기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세로선이 좌우로 오간다. 눌러 멈춘다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던지기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선이 만난 자리에 꽂힌다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자리와 스티커로 점수를 매긴다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겨누기 시작하면 다트를 바꿀 수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 ·  조준 방식  ·  점수 공식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다트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5종. 라운드 기본 6발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특성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×0.55 · 배수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×1.90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1 고정 · 양옆 칸 ×0.5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중심 0.25 흡인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묶음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발수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 (라운드 1~8 동일)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묶음을 그대로 복제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갈아타기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첫 축 잠그기 전까지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던지는 순간 벽에서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80517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보정과 상점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5134355"/>
          <a:ext cx="10817352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라운드마다 다트 1자리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표준 1발과 교체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못 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묶음에 표준 0발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착탄 영역  ·  상점  ·  스타트 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난수 없는 2단 게이지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85059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513075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높이 잠금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12335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40351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잠금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9611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167627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확인 0.45초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688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994903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비행 0.2초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94163" y="2304288"/>
            <a:ext cx="109729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822179" y="1847088"/>
            <a:ext cx="1680971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게이지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±110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진폭 ÷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1.1224배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속도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곱해지는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게이지 · 제약 · 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조절 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[ ] 로 0.05씩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잠금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509260" y="3374136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유효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중심에서 R×1.22 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밖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잠김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확인 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0.45초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확인 텀은 못 건드림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0.20초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다트  ·  조준 방식  ·  투척 흐름  ·  빗나감  ·  조작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8종. 잠금 2회짜리와 1회짜리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8종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29397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방식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손이 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잠금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높이 → 좌우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 크기 → 각도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기운 축 → 직교축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가로세로가 함께 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커서 둘레를 떠도는 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놓기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누른 자리가 곧 착탄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어디서 오는가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스티커가 없을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나머지 7종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 7장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판매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R10 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겹칠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 앞자리 하나만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장은 건너뜀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다트  ·  스티커  ·  효과와 등급  ·  빗나감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조준 방식을 얻는 법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조준 스티커가 겨누는 법을 바꾼다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얻는 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스티커를 사면 그 방식으로 바뀐다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스티커와 같은 칸을 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되팔기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팔면 기본 조준으로 돌아온다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제약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「역풍」은 겨누는 선을 두 배로 흔든다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「조준 게이지 느리게」로 속도를 낮춘다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56158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조준 스티커는 점수를 올리지 않는다. 손이 하는 일을 바꾼다.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방식  ·  조준  ·  스티커  ·  설비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착탄 영역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6종. 중심에서의 거리가 자리를 정한다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정규화 반지름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반지름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이너 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~ 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아우터 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0.06 ~ 0.14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0.14 ~ 0.56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0.56 ~ 0.66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 숫자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강화 트랙 — 레벨당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1·3·5·7 Lv 에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1.22%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Lv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배치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20·1·18·4·13·6 …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값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크림(짝) · 먹(홀)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최대 레벨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Lv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영역 강화  ·  빗나감  ·  개조  ·  보스 제약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빗나감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밖도 조건이 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판정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 거리 &gt; 판 반지름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28346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63824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 깃발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이번 판 · 직전 발에 표시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730752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03904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트랙 점수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보드 아웃 Lv 당 +6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370832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9943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빗나감을 읽는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928616"/>
          <a:ext cx="10817350" cy="100126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직전이 빗나갔다면 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영역 강화  ·  조준  ·  조건  ·  개조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공식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한 발 점수 = 칩 × 배수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두 값이 어디서 오는가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칸의 숫자에서 시작한다. 20번 칸이면 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꽂힌 자리가 정한다. 싱글 1 · 더블 2 · 트리플 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조건이 맞으면 칩이나 배수를 올린다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발 점수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칩 × 마지막 배수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스티커가 하는 세 가지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864108"/>
                <a:gridCol w="2073859"/>
                <a:gridCol w="138257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칩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칩을 N만큼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20 → 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배수를 N만큼 더한다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3 → 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지금까지 쌓인 배수를 N배 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5 →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803903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트리플 20에 「칩 +10 · 배수 +2 · 배수 ×2」를 걸면 (20+10) × ((3+2)×2) = 300점이다.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칩  ·  배수  ·  스티커  ·  점수 정산 순서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점수 정산 순서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왼쪽부터. 순서가 점수를 바꾼다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큐에 서는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0 이면 맨 앞에 선다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칩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점수 + 트랙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영역 기본 배수 + 트랙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걸음이 하는 일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칩 +=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×= 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+= v × 연속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큐 밖의 것과 박자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save 효과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실패가 읽는다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즉시 골드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큐 밖 · 발동 즉시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걸음 간격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0.34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스티커  ·  조건  ·  효과와 등급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스티커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조건 하나 + 효과 하나. 활성 99장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활성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 (넓은 스티커 칸 팩 6칸)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= 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 1 + 효과 1 (+보조 1)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보조 효과 있음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 · 5 · 7 · 8 · 11 · 14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내림 · 최소 2 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칸과 값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375403"/>
          <a:ext cx="5202936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6칸 · 다트 −1발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구매가 ÷ 2 (내림)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판매가 하한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파는 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집어서 왼쪽 창구에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00216" y="4046219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발동 순서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00216" y="4375403"/>
          <a:ext cx="5202936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차례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칸 앞칸부터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건너뛴다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+N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자리에서 더한다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 ×N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그때까지의 배수를 곱한다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(3+2)×2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조건  ·  효과와 등급  ·  스티커  ·  상점  ·  골드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조건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발동 여부를 가르는 술어 35가지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 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트리플·더블·띠·불·고난도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홀·짝·왼·오른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 크기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· 6~14 · 5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· 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번호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 — 지정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실측 발동률 — 기본 판 36만 발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뜻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always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diff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miss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col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또는 먹 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risk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20.59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「맞힌 발부터」 서는 조건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발동률%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 같은 수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trip 같은 수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quad 같은 수 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pair2 두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spread 세 곳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zone3 한 영역 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효과와 등급  ·  착탄 영역  ·  정산 큐  ·  빗나감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효과와 희귀도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효과 6갈래 · 희귀도 4단 · 골드 8갈래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효과 6갈래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kind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카드 문장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chip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+v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xmult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18장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mult_streak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+v (연속 1회마다)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mult_rand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+0~v 무작위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등급 4단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49장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R24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즉시 골드 8갈래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gold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장수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clear 클리어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spare 잔탄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clean 무실책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blitz 속공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3 이상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broke 빈털터리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6 이하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상점  ·  골드  ·  점수 공식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판의 기하를 런 내내 바꾼다. 8종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8종 — 표 순서가 적용 순서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+0.06 · 더블 −0.06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−0.06 · 더블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띠 위치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안 0.03 자리로 이동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링 추가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 트리플 띠 0.38~0.46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진열대에 뜨는 조건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개조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상점마다 1자리 (라운드당 3자리)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이미 산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 짝을 가졌다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기하 순서 위반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안 바뀌면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뜬다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착탄 영역  ·  빗나감  ·  상점  ·  보스 제약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영역 강화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영역별 시작 칩·배수를 올린다. 5트랙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트랙 5종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75895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점수/Lv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Lv8 누적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41.6%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11.8%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Lv 마다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+64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1089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레벨을 올리는 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438144"/>
          <a:ext cx="10817352" cy="4846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아이템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5종 · 가격 미정(임시 4G)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 영역 승급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트랙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96511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발에 얹히는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번호 · 색 · 홀짝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99262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06577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링 죽이기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배수만 1로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63270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착탄 영역  ·  소비 아이템  ·  점수 공식  ·  다트  ·  딱지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보스 판 입장 전 3장 중 1장. 12종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깔리는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보스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깔리는 장수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고르는 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1장 · 스킵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가중치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12종 전부 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화면에 하나뿐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(1/2)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−1발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20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제약 12종 (2/2)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×1.25 (임시값)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1로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 보상만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판  ·  목표 점수  ·  리그  ·  딱지  ·  런 구조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골드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4G. 정산에서 들어오고 상점에서 나간다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들어오는 곳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5202936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런 시작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 · 선금 팩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보상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3 · 큰 4 · 보스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5G당 1G · 상한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골드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9장 (정산 7 · 착탄 2)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판매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표 가격 ÷2 · 하한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딱지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삯 6G · 두둑한 삯 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00216" y="1847088"/>
            <a:ext cx="52029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나가는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00216" y="2176272"/>
          <a:ext cx="5202936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3877056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구매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· 개조 · 다트 · 소비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1회 뒤 2G부터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설비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7종 전부 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3G · 검정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4621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값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375403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보유 N당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 =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상한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상한에 닿는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보는 잔고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정산 지급 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끄는 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 보정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8단 전부 +0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이자  ·  상점  ·  딜러  ·  정산 큐  ·  리그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상점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판을 넘긴 뒤 열린다. 진열대 4칸 고정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여는 규칙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2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N 을 넘긴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 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마지막 판(24)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4칸 고정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구성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2 · 개조 1 · 다트 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31927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가격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3648456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매물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· 검정 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일반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 스티커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 · 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 · 18G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 예외 5장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 · 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 · 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8~15G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331927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새로고침과 판매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3648456"/>
          <a:ext cx="432054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160270"/>
                <a:gridCol w="216027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항목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유료 첫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누적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+1G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실제 흐름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 · 2 · 3 · 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 (설비)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딜러  ·  설비  ·  스티커  ·  딱지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시스템 - 설비와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벽에서 사는 것과 건너뛰고 받는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7종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최소 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×0.85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나오는 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649724"/>
          <a:ext cx="10817352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건너뛸 수 있는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· 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못 건너뛴다 = 딱지 없다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굴리는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라운드에 들어설 때 한꺼번에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0 · 골드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꽉 차면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견본 · 보급은 안 들어온다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상점  ·  골드  ·  판  ·  리그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손의 재미 · 조준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같은 타이밍이면 같은 자리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한 발의 순서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다트 선택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벽의 자루 다섯 중 하나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첫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높이(Y) 잠금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둘째 클릭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좌우(X) 잠금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조준 게이지를 미는 것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" y="4581144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손댄 곳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조준 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속도 0.7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진폭 110px · 판 98px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[ ] 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~ 4.0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게임 중 조절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−1 ·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509260" y="4251959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빗나감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509260" y="4581144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37.68%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명중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5.52%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판벌이(개조)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24.60%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다트  ·  빗나감  ·  착탄 영역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머리의 재미 · 조합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99장을 5칸에 넣는다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고를 수 있는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21158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99장 (활성)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등급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 49 · 희귀 26 · 레어 24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39가지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개조 ·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8종 · 5종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조건이 서는 빈도 — 36만 발 실측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62.30%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기본기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직전과 다른 섹터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60.75%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변덕쟁이 점수 +22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37.70%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빈손 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왼쪽 절반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31.08%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좌익수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먹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30.58%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검은 쐐기 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07822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패턴 조건 — 「맞힌 발부터」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407407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발동률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영역 2종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30.51%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이종 영역 관측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다른 숫자 세 곳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26.51%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분산의 질서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영역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15.37%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영역 부족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2회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7.67%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두 발의 결속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3회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0.26%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세 발의 결속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모두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0.19%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 화분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스티커  ·  조건  ·  효과와 등급  ·  개조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재미 요소 - 발동 순서 설계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+N 과 ×N 의 순서가 점수를 가른다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정산 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칸 값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 = 칸 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영역 배수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 = 싱글1 더블2 트리플3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5643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스티커 칸 왼쪽부터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선 스티커를 차례로 낸다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023359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300216" y="217627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04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점수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점수에 더한다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00216" y="274320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0216" y="2816352"/>
            <a:ext cx="5202936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05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배수 갈래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배수에 더한다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00216" y="3383280"/>
            <a:ext cx="5202936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251959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같은 장, 순서만 바꾼다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85800" y="458114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순서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가장자리 → 칼끝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(2+3)×2 = 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 20 (40점)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칼끝 → 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2×2+3 = 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(3+4)×2 = 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증폭기 → 삼중고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3×2+4 = 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 20 (60점)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삼중고·기본 →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(3+4+4)×2 = 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1,320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점수 공식  ·  정산 큐  ·  스티커  ·  효과와 등급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판을 넘겼을 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골드 · 남은 다트 · 이자, 그리고 진열대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판별 보상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목표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클리어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건너뛰기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딱지를 받는다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큰 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가능 · 딱지를 받는다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보스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함께 들어오는 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72694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남은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1발당 1G. 빨리 끝낼수록 이득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가진 골드 5당 1G · 최대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클리어한 판 뒤에만 열린다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골드  ·  상점  ·  딱지  ·  리그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런 시작 조건을 정한다. 기본 5 · 히든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팩 6종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10817350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613295"/>
                <a:gridCol w="2068327"/>
                <a:gridCol w="2068327"/>
                <a:gridCol w="2068327"/>
                <a:gridCol w="299907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/ 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 밖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잔탄 골드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없음 · 잔탄 2G/발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 (히든)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/ 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해금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4407407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여벌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넓은 스티커 칸으로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선금 팩으로 완주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누적 50회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런이 끝날 때 · 새 런 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509260" y="4078223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주는 방식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509260" y="4407407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갈래 넷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개조 · 설비 · 소비 ·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칸이 모자라면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 담긴다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잔탄 골드 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 잔탄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2G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리그  ·  다트  ·  스티커  ·  골드  ·  이자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리그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난이도 8단. 완주하면 다음 단 해금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8단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796695"/>
                <a:gridCol w="1021404"/>
                <a:gridCol w="1021404"/>
                <a:gridCol w="148103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더해지는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작은 판 보상 3G → 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곡선 상승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판 스티커 1장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6발 → 5발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곡선 배수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72821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1.55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1.85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1.60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1.75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2.80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규칙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2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11680"/>
                <a:gridCol w="8805672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해금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그 단을 완주하면 다음 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갈림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팩마다 따로 뚫는다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1장 · 그 판만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산 판부터 5판 뒤 부서진다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값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올림 — 4G 가 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0G 면 안 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라운드  ·  목표 점수  ·  스타트 팩  ·  스티커  ·  골드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보상 요소 - 해금과 확장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완주가 다음을 연다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지금 열리는 것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9692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완주할 때마다 다음 팩 하나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완주하면 다음 단. 흰 → 검정 8단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레어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라운드 4부터 진열대에 오른다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완주한 팩과 리그를 저장한다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자리를 비워 둔 것 (확장)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40" cy="14538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히든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조준과 계산이 갈리는 팩. 통계 조건으로 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전설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진열대에 안 뜬다. 따로 얻는 길을 만든다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스티커·다트에 덧붙이는 변형 8종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대기 스티커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조건은 정했고 아직 안 켠 86장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스타트 팩  ·  리그  ·  스티커  ·  효과와 희귀도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레이아웃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640 × 360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상시 HUD 요소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상단 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640 × 18 px · y0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72 × 34 px · x4 y20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68 × 44 px ·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322 × 44 px · 5칸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용량 표시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× 44 px · x490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x34 · 간격 31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점수 카드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244 × 96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띠와 하단 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97053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자리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싣는 것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1칸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0~100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 n / 8 · 라운드 눈금 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100~584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이름 · 목표 게이지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2칸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514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/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 3칸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x 584~640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제약 아이콘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안내 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y 348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지금 할 일 · 12 pt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조절 값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y 356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디버그 빌드만 · 9 pt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43205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화면별 HUD 노출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" y="4649724"/>
          <a:ext cx="10817350" cy="14859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612239"/>
                <a:gridCol w="3349025"/>
                <a:gridCol w="485608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화면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상단 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나머지 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· 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그린다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제약 고르기 · 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16 px 올린다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켠다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 · 설정 · 컬렉션 · 새 런 · 종료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전부 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조작  ·  화면 전이  ·  스티커  ·  상점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조작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좌클릭 하나로 끝난다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상태별 입력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좌클릭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벽의 자루 · 반경 18 px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0번 자루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높이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위(반경 119.6 px) 클릭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즉시 잠금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509260" y="1847088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509260" y="2176272"/>
          <a:ext cx="4320539" cy="124358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하는 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범위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진행 · 확정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ESC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일시정지 · 취소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F11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전체화면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85800" y="3593592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상점 클릭 판정 순서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92277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01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쓸기 중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클릭을 통째로 삼킨다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48970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6285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02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선반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설비 구매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512978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5202936"/>
            <a:ext cx="10817352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>
                <a:solidFill>
                  <a:srgbClr val="168DA8"/>
                </a:solidFill>
                <a:latin typeface="Paperlogy 7 Bold"/>
                <a:ea typeface="Paperlogy 7 Bold"/>
                <a:cs typeface="Paperlogy 7 Bold"/>
              </a:rPr>
              <a:t>03  </a:t>
            </a:r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좌우 창구</a:t>
            </a:r>
          </a:p>
          <a:p>
            <a:pPr>
              <a:lnSpc>
                <a:spcPct val="120000"/>
              </a:lnSpc>
            </a:pPr>
            <a:r>
              <a:rPr sz="11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왼쪽 판매 · 오른쪽 구매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5769864"/>
            <a:ext cx="10817352" cy="0"/>
          </a:xfrm>
          <a:prstGeom prst="line">
            <a:avLst/>
          </a:prstGeom>
          <a:ln w="9525">
            <a:solidFill>
              <a:srgbClr val="D8D8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조준  ·  조준 방식  ·  레이아웃  ·  상태별 처리  ·  상점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UI/UX - 화면 전이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상태 15개 · 화면 10개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고르기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750515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878531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제약 고르기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43246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1262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판 6상태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5977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263993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정산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28708" y="2304288"/>
            <a:ext cx="109728" cy="0"/>
          </a:xfrm>
          <a:prstGeom prst="line">
            <a:avLst/>
          </a:prstGeom>
          <a:ln w="12700">
            <a:solidFill>
              <a:srgbClr val="168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56724" y="1847088"/>
            <a:ext cx="2046427" cy="914400"/>
          </a:xfrm>
          <a:prstGeom prst="roundRect">
            <a:avLst/>
          </a:prstGeom>
          <a:noFill/>
          <a:ln w="9525">
            <a:solidFill>
              <a:srgbClr val="C9C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200">
                <a:solidFill>
                  <a:srgbClr val="171717"/>
                </a:solidFill>
                <a:latin typeface="Paperlogy 6 SemiBold"/>
                <a:ea typeface="Paperlogy 6 SemiBold"/>
                <a:cs typeface="Paperlogy 6 SemiBold"/>
              </a:rPr>
              <a:t>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화면 밖 전이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85800" y="3374136"/>
          <a:ext cx="4320539" cy="24551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43350"/>
                <a:gridCol w="1337628"/>
                <a:gridCol w="193956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출발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부팅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제목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시작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새 런 · 컬렉션 · 설정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스페이스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「건너뛰기」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다음 판 · 딱지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상점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「다음」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고르기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시점 목표 미달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종료(실패)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5509260" y="3044952"/>
            <a:ext cx="43205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판 갈이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509260" y="3374136"/>
          <a:ext cx="4320540" cy="169621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325880"/>
                <a:gridCol w="2994660"/>
              </a:tblGrid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총 길이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0.36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테이블 빠짐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0.15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뜨는 시각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판이 서기까지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0.23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돌아올 때 눕기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0.11 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도는 동안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입력 전부 삼킴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여는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· 정산 클릭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관련  런 구조  ·  판  ·  상점  ·  레이아웃  ·  딜러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1/4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4·10 무전기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4·10번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 ·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가장자리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보너스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같은 숫자 한 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결벽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발도 안 빗나가면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과충전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 · 판마다 0.1% 확률로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굳은살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 · 정산 때 보유 골드 6 이하면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녹는 점수원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 에서 시작 · 던질 때마다 −5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15 이상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 집합체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아이템 1개당 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고도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 적립기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명중마다 배수 +1 · 빗나가면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모험심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 절반 확률로 골드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 대기열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배수 +13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관통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궤적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 주자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+15 누적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 연구원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 · 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불안정 증폭기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+15 · 판마다 1/6 확률로 파괴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빗나감 배수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삼중고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 집중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+100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소모성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 에서 시작 · 판마다 −4 · 0이면 파괴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이하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2/4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소수 정예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 다트가 3개 이하면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집중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예비 다트 홀더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시작 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오차 인쇄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+0~23 무작위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우익수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오른쪽 절반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 증폭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이중 짝맞춤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+80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잔여 깃발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남은 다트 1개당 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정산 모듈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판마다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좌익수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왼쪽 절반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지정색 증폭기 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 가치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아이템 판매가 합계만큼 배수 추가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짝수 애호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짝수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착탄 이력계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영역의 런 누적 명중 1회당 배수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고난도 촬영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최저점 반격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최저 명중 숫자 1당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한 영역 고집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+10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애호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미소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홀수 보정기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섹터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고난도 표적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더블·트리플·불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일반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거친 보석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크림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골드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3/4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496062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검은 쐐기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+50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영역 화분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네 영역을 모두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띠쟁이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어디든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막판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명중왕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반복 궤도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이미 명중한 영역을 다시 맞히면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비상 골격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실패 1회 방지 (총점이 목표의 25% 이상일 때)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 스티커 칸 형판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 빈 아이템 칸 수 (최소 ×1)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새 자리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+12 · 한 발도 안 빗나가면 골드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선취점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+26 · 남은 다트 1개당 골드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손맛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이번 판에 트리플을 맞힌 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쌍쌍 바지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두 숫자를 각 2회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배수 +2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압축 투척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기본에서 줄어든 다트 1개당 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여섯 번째 약속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 6번째 투척에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연속 빗나감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 투척이 빗나갔다면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 4회 중 1회, 맞은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외골수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같은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이종 영역 관측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영역 2종을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1당 점수 +2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자금 증폭끈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보유 골드 5당 배수 +2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중량 다트 계수기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무거운 다트 1개당 점수 +25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첫 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첫 다트에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피보나치 과녁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1·2·3·5·8번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흑색 마노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 칸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+7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마지막 곡예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희귀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 마지막 다트에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스티커 4/4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49" cy="5148072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84043"/>
                <a:gridCol w="1069658"/>
                <a:gridCol w="3536773"/>
                <a:gridCol w="3450511"/>
                <a:gridCol w="776364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희귀도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조건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변덕쟁이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직전과 다른 섹터면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빗나가면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+30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12·13 왕가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12·13번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겹조준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가로세로 조준선이 함께 움직이며 한 번에 잠깁니다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곡예 다트맨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+250 · 판 시작 다트 -2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네 발의 가족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4회를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당김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튕기는 속도와 방향으로 다트를 던집니다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2회를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반동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 발이 작은 다트 5발이 되고 발마다 점수의 25%를 받으며, 쏠 때마다 조준이 밀립니다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분산의 질서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다른 숫자 세 곳을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빗각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다트마다 다른 각도로 기웁니다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세 발의 결속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숫자 3회를 맞힌 발부터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속사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 · 남은 다트 3개 이상이면 골드 +9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조준점을 원하는 자리에 직접 놓습니다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부족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같은 영역 종류 3회를 맞힌 발부터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원 조준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원의 크기와 각도로 조준합니다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2번 과녁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2번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발동할 때마다 점수 +8 누적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정밀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연속 명중 1회마다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칼끝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더블 명중 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후원자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+16 · 클리어 시 골드 +4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흔들 조준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조준점이 커서 둘레를 제멋대로 떠돕니다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중물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6~14 섹터 명중 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점수 +40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증폭기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레어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모든 다트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배수 ×2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14G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다트 · 개조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다트 — 표준 1발을 대체한다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1" cy="128016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262024"/>
                <a:gridCol w="901446"/>
                <a:gridCol w="5769254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게이지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표준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특성 없음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기본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무거운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×0.55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0.55배 · 배수 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가벼운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×1.9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게이지 1.9배 · 배수 +3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관통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양옆 칸 0.5배 · 배수 고정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자석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중심으로 0.25 당김 · 배수 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118103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개조 — 판의 기하를 바꾼다 · 런 동안 유지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447287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802892"/>
                <a:gridCol w="1442313"/>
                <a:gridCol w="5048097"/>
                <a:gridCol w="1442313"/>
                <a:gridCol w="108173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축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배타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속살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+0.06 · 더블 띠 -0.06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guts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겉살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 -0.06 · 더블 띠 +0.06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soks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벼랑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slide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띠가 더블 안쪽에서 0.03 띄운 자리로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7G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아랫목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안쪽에 트리플 띠 하나 더 (0.38~0.46)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멍석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bull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한복판 0.04 · 불 0.2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판벌이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out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1.1배로 커진다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12G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판갈이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swap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가장 작은 3 칸이 20이 된다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9G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짝패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칸마다 짝이 생긴다 · 짝수 칸 −1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보스 제약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335024"/>
          <a:ext cx="10817351" cy="268833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66791"/>
                <a:gridCol w="2163470"/>
                <a:gridCol w="668709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무엇을 건드리나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좁은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band_mul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트리플·더블 링 폭 0.5배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역풍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gauge_mul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2배 속도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안개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fog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조준선이 판 위에서 사라진다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단벌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darts_add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-1개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금지 구역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sector_kill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지정 칸 점수 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둔화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seal_items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 무작위 봉인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높은 목표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target_mul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목표 점수 1.25배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그늘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color_kill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먹색 칸 점수 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민짜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ring_kill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트리플 배수 무효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홀대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odd_mul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홀수 칸 값 0.5배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돌린 판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spin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판이 7칸 돌아간다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빈손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reward_mul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 판 보상 골드 0배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설비 · 딱지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설비 — 상점 왼쪽 벽, 라운드마다 하나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087559"/>
                <a:gridCol w="4934230"/>
                <a:gridCol w="948890"/>
                <a:gridCol w="948890"/>
                <a:gridCol w="189778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선행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진열대 칸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v_shelf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덤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+1회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저금통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 상한 +5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침착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 침착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조준 게이지 속도 0.85배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v_aim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긴 다트 묶음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10G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딱지 — 소판·대판을 건너뛸 때만 받는다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2286000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2203534"/>
                <a:gridCol w="5809318"/>
                <a:gridCol w="1802892"/>
                <a:gridCol w="1001606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이름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효과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시점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라운드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삯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두둑한 삯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골드 +12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다트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다트 +1개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round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영역 승급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무작위 영역 강화 +1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보급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소비 아이템 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견본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스티커 1장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now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무료 새로고침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무료 새로고침 +2회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진열대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매물 +2칸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여유로운 선택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제약 선택지 +1장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stage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외상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물건 1개가 공짜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shop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리그 · 스타트 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리그 — 앞 단을 완주하면 다음 단이 열린다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47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025216"/>
                <a:gridCol w="1314380"/>
                <a:gridCol w="1314380"/>
                <a:gridCol w="1314380"/>
                <a:gridCol w="1314380"/>
                <a:gridCol w="1314380"/>
                <a:gridCol w="1314380"/>
                <a:gridCol w="190585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리그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곡선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작은 판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봉인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진열대 가격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삭음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유지비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흰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초록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파랑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보라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붉은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curve_a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노랑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주황 리그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검정 리그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curve_b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×1.25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3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721608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스타트 팩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4050792"/>
          <a:ext cx="10817349" cy="1481328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556453"/>
                <a:gridCol w="856049"/>
                <a:gridCol w="1089517"/>
                <a:gridCol w="1089517"/>
                <a:gridCol w="933872"/>
                <a:gridCol w="529194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팩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다트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시작 골드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스티커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소비 칸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대가와 변화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기본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여벌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다트 1개로 시작하며, 남은 다트는 골드가 되지 않습니다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넓은 스티커 칸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-1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스티커 칸 1칸, 다트 1개 감소된 채 시작합니다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선금 팩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추가 10골드, 소비 아이템 슬롯 1칸 감소된 채 시작합니다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일당 팩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이자를 받지 않으며, 남은 다트 1개당 2골드를 받습니다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미정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02336"/>
            <a:ext cx="1081735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25">
                <a:solidFill>
                  <a:srgbClr val="171717"/>
                </a:solidFill>
                <a:latin typeface="Paperlogy 7 Bold"/>
                <a:ea typeface="Paperlogy 7 Bold"/>
                <a:cs typeface="Paperlogy 7 Bold"/>
              </a:rPr>
              <a:t>데이터 - 영역 강화 · 튜닝 상수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85800" y="1143000"/>
            <a:ext cx="10817352" cy="0"/>
          </a:xfrm>
          <a:prstGeom prst="line">
            <a:avLst/>
          </a:prstGeom>
          <a:ln w="12700">
            <a:solidFill>
              <a:srgbClr val="1717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881360" y="6419088"/>
            <a:ext cx="62179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>
                <a:solidFill>
                  <a:srgbClr val="62666C"/>
                </a:solidFill>
                <a:latin typeface="Paperlogy 4 Regular"/>
                <a:ea typeface="Paperlogy 4 Regular"/>
                <a:cs typeface="Paperlogy 4 Regular"/>
              </a:rPr>
              <a:t>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35024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영역 강화 — 런 동안 유지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64207"/>
          <a:ext cx="10817350" cy="1682496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트랙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점수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레벨당 배수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싱글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 · 5 · 5 · 5 · 5 · 5 · 5 · 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더블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 · 8 · 8 · 8 · 8 · 8 · 8 · 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트리플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11 · 11 · 11 · 11 · 11 · 11 · 11 · 11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— · 1 · — · 1 · — · 1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불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 · 40 · 40 · 40 · 40 · 40 · 40 · 40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 · 1 · 1 · 1 · 1 · 1 · 1 · 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보드 아웃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8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 · 6 · 6 · 6 · 6 · 6 · 6 · 6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— · — · — · — · — · — · — · —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52044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>
                <a:solidFill>
                  <a:srgbClr val="168DA8"/>
                </a:solidFill>
                <a:latin typeface="Paperlogy 6 SemiBold"/>
                <a:ea typeface="Paperlogy 6 SemiBold"/>
                <a:cs typeface="Paperlogy 6 SemiBold"/>
              </a:rPr>
              <a:t>튜닝 상수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3849624"/>
          <a:ext cx="10817350" cy="1883664"/>
        </p:xfrm>
        <a:graphic>
          <a:graphicData uri="http://schemas.openxmlformats.org/drawingml/2006/table">
            <a:tbl>
              <a:tblPr firstRow="0" bandRow="0" lastRow="0" firstCol="0" lastCol="0" bandCol="0">
                <a:tableStyleId>{2D5ABB26-0587-4C30-8999-92F81FD0307C}</a:tableStyleId>
              </a:tblPr>
              <a:tblGrid>
                <a:gridCol w="1994689"/>
                <a:gridCol w="2557293"/>
                <a:gridCol w="2557293"/>
                <a:gridCol w="3708075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키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FFFFFF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값</a:t>
                      </a:r>
                    </a:p>
                  </a:txBody>
                  <a:tcPr marL="91440" marR="73152" marT="18288" marB="18288" anchor="ctr">
                    <a:solidFill>
                      <a:srgbClr val="25282D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start_gold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clear_gold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gold_per_dart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interest_per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interest_max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sell_div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sell_min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free_rerolls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reroll_base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reroll_step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1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max_items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5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darts_base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6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cons_slots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curve_first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25</a:t>
                      </a:r>
                    </a:p>
                  </a:txBody>
                  <a:tcPr marL="91440" marR="73152" marT="18288" marB="18288" anchor="ctr">
                    <a:noFill/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171717"/>
                          </a:solidFill>
                          <a:latin typeface="Paperlogy 6 SemiBold"/>
                          <a:ea typeface="Paperlogy 6 SemiBold"/>
                          <a:cs typeface="Paperlogy 6 SemiBold"/>
                        </a:rPr>
                        <a:t>curve_last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>4000</a:t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62666C"/>
                          </a:solidFill>
                          <a:latin typeface="Paperlogy 4 Regular"/>
                          <a:ea typeface="Paperlogy 4 Regular"/>
                          <a:cs typeface="Paperlogy 4 Regular"/>
                        </a:rPr>
                        <a:t/>
                      </a:r>
                    </a:p>
                  </a:txBody>
                  <a:tcPr marL="91440" marR="73152" marT="18288" marB="18288" anchor="ctr"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