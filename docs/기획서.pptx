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304" r:id="rId55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305" r:id="rId56"/>
    <p:sldId id="299" r:id="rId50"/>
    <p:sldId id="300" r:id="rId51"/>
    <p:sldId id="301" r:id="rId52"/>
    <p:sldId id="302" r:id="rId53"/>
    <p:sldId id="303" r:id="rId5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26.xml"/><Relationship Id="rId56" Type="http://schemas.openxmlformats.org/officeDocument/2006/relationships/slide" Target="slides/slide4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0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13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-1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960120"/>
            <a:ext cx="4480560" cy="44805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5800" y="1234440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Malgun Gothic"/>
              </a:rPr>
              <a:t>게임 기획서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27632"/>
            <a:ext cx="640080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6200" b="1">
                <a:solidFill>
                  <a:srgbClr val="1A1822"/>
                </a:solidFill>
                <a:latin typeface="Malgun Gothic"/>
              </a:rPr>
              <a:t>칩과 다트판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3054096"/>
            <a:ext cx="5394960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3273552"/>
            <a:ext cx="60350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3D394A"/>
                </a:solidFill>
                <a:latin typeface="Malgun Gothic"/>
              </a:rPr>
              <a:t>다트를 던지는 손과 판을 읽는 머리가 곱해지는 로그라이트.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400" b="0">
                <a:solidFill>
                  <a:srgbClr val="3D394A"/>
                </a:solidFill>
                <a:latin typeface="Malgun Gothic"/>
              </a:rPr>
              <a:t>조준은 실시간 타이밍이고, 점수는 카지노 칩이 쌓아 올린다.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31596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Malgun Gothic"/>
              </a:rPr>
              <a:t>장르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4315968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D394A"/>
                </a:solidFill>
                <a:latin typeface="Malgun Gothic"/>
              </a:rPr>
              <a:t>싱글플레이 로그라이트 · 스코어어택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459028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Malgun Gothic"/>
              </a:rPr>
              <a:t>엔진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4590288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D394A"/>
                </a:solidFill>
                <a:latin typeface="Malgun Gothic"/>
              </a:rPr>
              <a:t>Godot 4.7 · GDScript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864607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Malgun Gothic"/>
              </a:rPr>
              <a:t>해상도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864607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D394A"/>
                </a:solidFill>
                <a:latin typeface="Malgun Gothic"/>
              </a:rPr>
              <a:t>640 × 360 · 최근접 필터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138927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Malgun Gothic"/>
              </a:rPr>
              <a:t>규모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5138927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3D394A"/>
                </a:solidFill>
                <a:latin typeface="Malgun Gothic"/>
              </a:rPr>
              <a:t>1인 개발 · 프로토타입 진행 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1447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2026 · 개인 포트폴리오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문서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이 문서를 읽는 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수치는 전부 현재 빌드에서 실제로 도는 값이다. 표에 적힌 숫자와 게임 안의 숫자가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다를 수 없도록, 이 문서의 데이터 표는 프로젝트의 데이터 파일에서 그대로 뽑았다.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810511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Malgun Gothic"/>
              </a:rPr>
              <a:t>구성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21408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Malgun Gothic"/>
              </a:rPr>
              <a:t>여섯 장(章)으로 나눈다. 컨셉 → 흐름 → 시스템 →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Malgun Gothic"/>
              </a:rPr>
              <a:t>밸런스 → 연출 → 개발. 앞장이 뒷장의 전제가 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36391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Malgun Gothic"/>
              </a:rPr>
              <a:t>수치의 출처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47287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Malgun Gothic"/>
              </a:rPr>
              <a:t>밸런스 상수는 scripts/data.gd, 아이템 표는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Malgun Gothic"/>
              </a:rPr>
              <a:t>data/items.csv 한 곳에만 있다. 코드에 복제본이 없다.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6227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Malgun Gothic"/>
              </a:rPr>
              <a:t>검증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773168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Malgun Gothic"/>
              </a:rPr>
              <a:t>발동률과 기여도는 실제 판정 함수로 36만 발을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Malgun Gothic"/>
              </a:rPr>
              <a:t>돌려 잰 값이다. 손으로 추정한 숫자가 아니다.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10511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Malgun Gothic"/>
              </a:rPr>
              <a:t>화면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121408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Malgun Gothic"/>
              </a:rPr>
              <a:t>모든 그림은 실행 중인 빌드를 그대로 찍은 것이다.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Malgun Gothic"/>
              </a:rPr>
              <a:t>목업이나 콘셉트 아트가 아니다.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136391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Malgun Gothic"/>
              </a:rPr>
              <a:t>미정 표시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447287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Malgun Gothic"/>
              </a:rPr>
              <a:t>아직 안 정한 것은 "미정"이라 적었다.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Malgun Gothic"/>
              </a:rPr>
              <a:t>정해진 척하는 칸을 만들지 않았다.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46227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Malgun Gothic"/>
              </a:rPr>
              <a:t>용어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773168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Malgun Gothic"/>
              </a:rPr>
              <a:t>칩 = 아이템, 개조 = 보드 변형, 탄창 = 다트 구성.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Malgun Gothic"/>
              </a:rPr>
              <a:t>게임 안에서 쓰는 말을 그대로 쓴다.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2 / 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문서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목차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060704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37160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1장  컨셉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37560" y="141732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04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85800" y="1719072"/>
            <a:ext cx="3291839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85800" y="184708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한 줄 요약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07111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핵심 구조 — 칩 × 배수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9514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핵심 재미 세 기둥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1917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왜 다트인가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74320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레퍼런스 분석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96722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차별점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19125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타깃 유저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37160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2장  게임 흐름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95160" y="141732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11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343400" y="1719072"/>
            <a:ext cx="3291840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343400" y="184708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런 구조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07111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라운드 루프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43400" y="229514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상태 흐름도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251917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조준 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74320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조준 파라미터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96722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판정 규칙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43400" y="319125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득점 공식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1371600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3장  시스템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52760" y="1417320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19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001000" y="1719072"/>
            <a:ext cx="3291840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001000" y="184708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성장 세 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01000" y="207111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칩 개요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01000" y="229514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칩 조건 19종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01000" y="251917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칩 데이터 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274320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골드 칩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01000" y="296722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표 검증 규칙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01000" y="319125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보드 개조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1000" y="341528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개조 제약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363931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다트와 탄창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386334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상점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408736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경제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376732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4장  밸런스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381304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35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85800" y="4114800"/>
            <a:ext cx="3291839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85800" y="424281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난이도 곡선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446684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목표 산출 근거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469087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스테이지 제약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491490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칩 기여도 측정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13892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빌드 아키타입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36295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알려진 문제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43400" y="376732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5장  연출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95160" y="381304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41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4343400" y="4114800"/>
            <a:ext cx="3291840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4343400" y="424281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아트 디렉션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343400" y="446684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팔레트와 해상도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43400" y="469087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화면 · 인게임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343400" y="491490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화면 · 상점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43400" y="5138928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득점 연출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536295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사운드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001000" y="3767328"/>
            <a:ext cx="2743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6장  개발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652760" y="3813048"/>
            <a:ext cx="6400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48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8001000" y="4114800"/>
            <a:ext cx="3291840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8001000" y="4242816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기술 구조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01000" y="446684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현황과 일정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001000" y="469087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확장 계획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3 / 50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01000" y="430682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아이템 설계 공간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43400" y="5586984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· 조명과 딜러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1장 · 컨셉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한 줄 요약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060704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335024"/>
            <a:ext cx="10817352" cy="1152144"/>
          </a:xfrm>
          <a:prstGeom prst="roundRect">
            <a:avLst>
              <a:gd name="adj" fmla="val 3000"/>
            </a:avLst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4592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3000" b="1">
                <a:solidFill>
                  <a:srgbClr val="1A1822"/>
                </a:solidFill>
                <a:latin typeface="Malgun Gothic"/>
              </a:rPr>
              <a:t>"다트판 위에서 조합을 굴리는 로그라이트."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798064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06E00"/>
                </a:solidFill>
                <a:latin typeface="Malgun Gothic"/>
              </a:rPr>
              <a:t>무엇을 하는가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2798064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D394A"/>
                </a:solidFill>
                <a:latin typeface="Malgun Gothic"/>
              </a:rPr>
              <a:t>2단 게이지로 다트를 조준해 던지고, 꽂힌 자리를 읽어 점수를 계산한다.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D394A"/>
                </a:solidFill>
                <a:latin typeface="Malgun Gothic"/>
              </a:rPr>
              <a:t>여덟 라운드 동안 목표 점수를 넘기면 이긴다.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85616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06E00"/>
                </a:solidFill>
                <a:latin typeface="Malgun Gothic"/>
              </a:rPr>
              <a:t>무엇을 모으는가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3785616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D394A"/>
                </a:solidFill>
                <a:latin typeface="Malgun Gothic"/>
              </a:rPr>
              <a:t>라운드를 넘길 때마다 상점에서 칩 · 보드 개조 · 다트를 산다.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D394A"/>
                </a:solidFill>
                <a:latin typeface="Malgun Gothic"/>
              </a:rPr>
              <a:t>칩은 조건과 효과의 짝이고, 다섯 칸까지만 들 수 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773168"/>
            <a:ext cx="2377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06E00"/>
                </a:solidFill>
                <a:latin typeface="Malgun Gothic"/>
              </a:rPr>
              <a:t>무엇이 재미인가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4773168"/>
            <a:ext cx="8138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D394A"/>
                </a:solidFill>
                <a:latin typeface="Malgun Gothic"/>
              </a:rPr>
              <a:t>조준 실력과 빌드가 더해지지 않고 곱해진다. 잘 맞히면 앞자리가 커지고,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50" b="0">
                <a:solidFill>
                  <a:srgbClr val="3D394A"/>
                </a:solidFill>
                <a:latin typeface="Malgun Gothic"/>
              </a:rPr>
              <a:t>잘 모으면 뒷자리가 커진다. 둘 중 하나만으로는 후반을 못 넘긴다.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6217920"/>
            <a:ext cx="9720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이 한 줄이 문서 전체의 전제다. 뒤에 나오는 모든 시스템은 "곱셈을 어떻게 만들 것인가"에 대한 답이다.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4 / 50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1장 · 컨셉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점수는 칩 × 배수다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다트 한 발이 만드는 점수는 두 개의 수로 나뉜다. 꽂힌 칸이 앞의 수를 정하고,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꽂힌 링과 들고 있는 칩이 뒤의 수를 정한다.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865376"/>
            <a:ext cx="2331720" cy="137160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121408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1F6FBF"/>
                </a:solidFill>
                <a:latin typeface="Arial"/>
              </a:rPr>
              <a:t>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52928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0" y="234086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>
                <a:solidFill>
                  <a:srgbClr val="9490A1"/>
                </a:solidFill>
                <a:latin typeface="Malgun Gothic"/>
              </a:rPr>
              <a:t>×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865376"/>
            <a:ext cx="2331720" cy="137160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49039" y="2121408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C0402A"/>
                </a:solidFill>
                <a:latin typeface="Arial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2852928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배수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80759" y="2340864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>
                <a:solidFill>
                  <a:srgbClr val="9490A1"/>
                </a:solidFill>
                <a:latin typeface="Malgun Gothic"/>
              </a:rPr>
              <a:t>=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12280" y="1865376"/>
            <a:ext cx="2331720" cy="137160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12280" y="2121408"/>
            <a:ext cx="2331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B06E00"/>
                </a:solidFill>
                <a:latin typeface="Arial"/>
              </a:rPr>
              <a:t>225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852928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점수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66960" y="1920240"/>
            <a:ext cx="15544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칸 20 · 트리플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→ 칩 20 · 배수 3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/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칩 "삼중고"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→ 배수 +4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566160"/>
            <a:ext cx="1081735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이 구조가 만드는 세 가지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986784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① 실력이 앞자리를 만든다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29768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어느 칸에 꽂혔는지는 순전히 조준의 결과다.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칩을 아무리 모아도 빗나가면 곱할 것이 없다.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43400" y="3986784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② 빌드가 뒷자리를 만든다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29768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배수는 칩이 얹는다. 조준이 완벽해도 빌드가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없으면 6라운드(목표 820)에서 벽에 부딪힌다.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3986784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③ 실패도 축이 된다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4297680"/>
            <a:ext cx="3383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조준 범위가 판보다 넓어 상당수가 빗나간다.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"빗나가면 점수 +30" 이 그 빈칸을 자산으로 바꾼다.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217920"/>
            <a:ext cx="9720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발라트로에서 배수는 숫자다. 다트에서 배수는 면적이다 — 이 차이가 다음 장의 주제다.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5 / 50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1장 · 컨셉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핵심 재미 세 기둥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무엇을 재미로 삼을지 먼저 정하고, 그 셋에 봉사하지 않는 기능은 넣지 않았다.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79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36775"/>
            <a:ext cx="3401568" cy="3529584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96696" y="1947672"/>
            <a:ext cx="237744" cy="237744"/>
          </a:xfrm>
          <a:prstGeom prst="ellipse">
            <a:avLst/>
          </a:prstGeom>
          <a:solidFill>
            <a:srgbClr val="1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44168" y="192938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822"/>
                </a:solidFill>
                <a:latin typeface="Malgun Gothic"/>
              </a:rPr>
              <a:t>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236829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BF"/>
                </a:solidFill>
                <a:latin typeface="Malgun Gothic"/>
              </a:rPr>
              <a:t>한 발마다 손이 떨린다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2788920"/>
            <a:ext cx="27980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· 게이지가 두 번 왕복한다 — 상하 한 번, 좌우 한 번.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" y="3502152"/>
            <a:ext cx="27980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· 멈추는 순간이 그대로 착탄점이다. 난수가 없다.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" y="4215384"/>
            <a:ext cx="27980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· 트리플 띠는 판 넓이의 약 12%다. 노려야 들어간다.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636775"/>
            <a:ext cx="3401568" cy="3529584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54296" y="1947672"/>
            <a:ext cx="237744" cy="237744"/>
          </a:xfrm>
          <a:prstGeom prst="ellipse">
            <a:avLst/>
          </a:prstGeom>
          <a:solidFill>
            <a:srgbClr val="B0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1768" y="192938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822"/>
                </a:solidFill>
                <a:latin typeface="Malgun Gothic"/>
              </a:rPr>
              <a:t>조합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54296" y="236829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Malgun Gothic"/>
              </a:rPr>
              <a:t>칩 다섯 장이 서로를 부른다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54296" y="2788920"/>
            <a:ext cx="27980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· 칩은 조건과 효과의 짝이다 — "트리플이면 배수 +4".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54296" y="3502152"/>
            <a:ext cx="27980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· 슬롯이 다섯뿐이라 넣는 것이 곧 빼는 것이다.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54296" y="4215384"/>
            <a:ext cx="27980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· 보드 개조가 조건의 성립 확률 자체를 바꾼다.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636775"/>
            <a:ext cx="3401568" cy="3529584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11896" y="1947672"/>
            <a:ext cx="237744" cy="237744"/>
          </a:xfrm>
          <a:prstGeom prst="ellipse">
            <a:avLst/>
          </a:prstGeom>
          <a:solidFill>
            <a:srgbClr val="C0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59368" y="1929384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822"/>
                </a:solidFill>
                <a:latin typeface="Malgun Gothic"/>
              </a:rPr>
              <a:t>정산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2368296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0402A"/>
                </a:solidFill>
                <a:latin typeface="Malgun Gothic"/>
              </a:rPr>
              <a:t>숫자가 한 장씩 쌓인다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1896" y="2788920"/>
            <a:ext cx="27980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· 점수와 배수가 따로 오르고, 발동한 칩만 이름을 띄운다.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11896" y="3502152"/>
            <a:ext cx="27980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· 소리는 한 단계마다 반음씩 올라간다.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11896" y="4215384"/>
            <a:ext cx="2798064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· 마지막에 두 수가 곱해지며 목표선을 넘는다.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217920"/>
            <a:ext cx="9720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세 기둥은 순서대로 한 발 안에서 일어난다 — 조준하고, 조건이 걸리고, 숫자가 쌓인다. 한 사이클이 약 6초다.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6 / 50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1장 · 컨셉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배수는 숫자가 아니라 면적이다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카드 게임에서 배수는 카드에 적힌 수다. 다트판에서 배수는 판 위의 띠이고,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띠는 넓이를 가진다. 이 차이가 이 게임이 다트 위에 서는 유일한 이유다.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-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01951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5230368"/>
            <a:ext cx="3200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기본 판 · 여섯 구간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1883663"/>
            <a:ext cx="7132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같은 "배수 3"이 두 게임에서 뜻하는 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2249424"/>
            <a:ext cx="3429000" cy="1298448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2468879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E5A6B"/>
                </a:solidFill>
                <a:latin typeface="Malgun Gothic"/>
              </a:rPr>
              <a:t>카드 게임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2761487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카드를 뽑으면 배수 3 이다.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뽑았는가 아닌가 뿐이고,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손이 개입할 자리가 없다.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2249424"/>
            <a:ext cx="3429000" cy="1298448"/>
          </a:xfrm>
          <a:prstGeom prst="roundRect">
            <a:avLst>
              <a:gd name="adj" fmla="val 3000"/>
            </a:avLst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1" y="2468879"/>
            <a:ext cx="2926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Malgun Gothic"/>
              </a:rPr>
              <a:t>다트판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1" y="2761487"/>
            <a:ext cx="29260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판 넓이의 12.20% 를 차지하는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띠다. 노려서 맞혀야 하고,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개조로 넓힐 수 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12463"/>
            <a:ext cx="713232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822"/>
                </a:solidFill>
                <a:latin typeface="Malgun Gothic"/>
              </a:rPr>
              <a:t>그래서 따라오는 것 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4023360"/>
            <a:ext cx="7132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Malgun Gothic"/>
              </a:rPr>
              <a:t>· 배수를 사는 것이 아니라 넓히는 것이 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4279392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"트리플 띠 +0.06" 이라는 개조가 성립한다. 칩을 한 장도 안 사고 배수의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기대값을 올리는 길이 열린다 — 카드 게임에는 이 축이 없다.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4882896"/>
            <a:ext cx="7132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Malgun Gothic"/>
              </a:rPr>
              <a:t>· 조준 실력이 배수에 직접 닿는다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53712" y="5138928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트리플 띠는 던진 것 중 7.60% 에만 걸린다. 같은 칩을 들어도 노리는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사람과 안 노리는 사람의 기대값이 다르다.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5742431"/>
            <a:ext cx="7132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Malgun Gothic"/>
              </a:rPr>
              <a:t>· 빗나감이 설계 재료가 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5998464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조준 범위가 판보다 넓어 37.68% 가 판 밖으로 나간다. 그 빈칸에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"빗나가면 점수 +30" 을 얹으면 실패가 빌드의 축이 된다.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6217920"/>
            <a:ext cx="9720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면적 수치는 기본 판 기준의 기하 계산이다. 개조와 제약이 이 값을 바꾸는 것이 3장의 주제다.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7 / 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1장 · 컨셉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무엇을 가져오고 무엇을 버렸는가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이 게임은 발라트로의 정산 구조를 명시적으로 참조한다. 감추는 것보다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무엇을 가져왔고 어디서 갈라지는지 적는 편이 설계를 설명하는 데 낫다.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828799"/>
            <a:ext cx="2286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Malgun Gothic"/>
              </a:rPr>
              <a:t>참조작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71800" y="1828799"/>
            <a:ext cx="42062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Malgun Gothic"/>
              </a:rPr>
              <a:t>가져온 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78040" y="1828799"/>
            <a:ext cx="4297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Malgun Gothic"/>
              </a:rPr>
              <a:t>버린 것 · 바꾼 것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85800" y="208483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85800" y="2249424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Malgun Gothic"/>
              </a:rPr>
              <a:t>발라트로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194560"/>
            <a:ext cx="40233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조건×효과 카드, 슬롯 5칸, 점수×배수의 순차 정산,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상점 리롤 계단, 라운드 목표 구조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78040" y="2194560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카드 뽑기를 통째로 뺐다. 무작위 손패가 없고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입력이 실시간 조준 하나다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999232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3182112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Malgun Gothic"/>
              </a:rPr>
              <a:t>페글린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71800" y="3127248"/>
            <a:ext cx="40233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물리로 결과가 정해지는 발사, 한 발마다 달라지는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판 위의 상황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127248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튕김 난수를 안 쓴다. 착탄점은 게이지를 멈춘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순간으로 완전히 결정된다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85800" y="3931920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" y="4114799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Malgun Gothic"/>
              </a:rPr>
              <a:t>럭 비 어 랜드로드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4059935"/>
            <a:ext cx="40233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조건과 효과를 짝지어 아이템을 정의하는 문법,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조건이 겹칠 때 생기는 시너지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78040" y="4059935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슬롯이 20칸이 아니라 5칸이다. 넣는 것이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곧 빼는 것이 되도록 좁혔다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85800" y="4864607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5047487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Malgun Gothic"/>
              </a:rPr>
              <a:t>실물 다트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4992623"/>
            <a:ext cx="402335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20칸 배치, 트리플·더블 띠, 불과 한복판의 이중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구조 — 판의 형태를 그대로 물려받았다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4992623"/>
            <a:ext cx="4297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501·크리켓 규칙을 안 쓴다. 불이 배수 25 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아니라 칩 25 · 배수 1 인 것이 그 결과다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5797295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6217920"/>
            <a:ext cx="9720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"조준 실력이 필요한 덱빌더" 는 두 유저층의 교집합이라 좁다. 그래서 조준은 난수가 없고 패턴이 읽히도록 설계했다 — 실력의 벽을 낮추는 유일한 손잡이다.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8 / 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1장 · 컨셉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이 게임만 가진 것 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레퍼런스와 갈라지는 지점을 시스템으로 적는다. 셋 다 뒷장에서 수치로 다시 나온다.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79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36775"/>
            <a:ext cx="10817352" cy="1389888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1856231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F6FB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46504" y="1874519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822"/>
                </a:solidFill>
                <a:latin typeface="Malgun Gothic"/>
              </a:rPr>
              <a:t>조준과 착탄에 난수가 0 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46504" y="2240279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게이지는 주기 1.0 의 삼각파이고, 멈춘 시점이 그대로 착탄점이다.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난수는 상점 매대 · 개조 풀 · 스테이지 후보 · 칩 봉인 · 연출에만 쓴다.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"운이 나빠서 빗나갔다" 가 성립하지 않는다 — 빗나감은 전부 내 탓이다.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09544"/>
            <a:ext cx="10817352" cy="1389888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" y="342900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B06E00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46504" y="3447287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822"/>
                </a:solidFill>
                <a:latin typeface="Malgun Gothic"/>
              </a:rPr>
              <a:t>밸런스 통화가 기하다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46504" y="3813048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판값(board_val)은 균등 조준 다트당 기대 점수를 면적 적분 하나로 낸다.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칩·개조·다트가 전부 "다트당 몇 점" 이라는 같은 자로 재진다.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기본 판 15.43 · 상한 23.15 — 이 한 수가 세 축을 같은 저울에 올린다.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782312"/>
            <a:ext cx="10817352" cy="1389888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" y="500176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C0402A"/>
                </a:solidFill>
                <a:latin typeface="Arial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46504" y="5020055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822"/>
                </a:solidFill>
                <a:latin typeface="Malgun Gothic"/>
              </a:rPr>
              <a:t>슬롯이 아니라 판값이 조합을 막는다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46504" y="5385816"/>
            <a:ext cx="9509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칩은 5칸 슬롯이 상한이지만 개조는 슬롯을 안 먹는다. 대신 판값이 기본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판의 1.50배를 넘기는 개조는 매대에 아예 안 뜬다.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"살 수 있는데 사면 안 되는 것" 을 만들지 않고 구조로 막았다.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6409943"/>
            <a:ext cx="108173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06E00"/>
                </a:solidFill>
                <a:latin typeface="Malgun Gothic"/>
              </a:rPr>
              <a:t>이름도 설계다 — 속살 · 겉살 · 벼랑 · 아랫목 · 멍석 · 판벌이 · 판갈이 · 짝패. 개조 여덟은 전부 순우리말이고, 판을 "고치는 손" 의 어휘로 묶었다.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9 / 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1장 · 컨셉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누구에게, 무엇을 느끼게 할 것인가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060704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335024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타깃 유저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00784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Malgun Gothic"/>
              </a:rPr>
              <a:t>주 타깃 — 발라트로를 끝까지 해 본 사람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75103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조건×효과와 곱셈 빌드의 문법을 이미 안다. 새로 배울 것은 조준 하나뿐이다.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542032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Malgun Gothic"/>
              </a:rPr>
              <a:t>부 타깃 — 플래시 게임 세대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816351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2단 게이지 조준은 설명이 필요 없는 조작이다. 빌드는 몰라도 첫 판은 넘긴다.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83279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Malgun Gothic"/>
              </a:rPr>
              <a:t>안 노리는 층 — 실물 다트 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57599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501 도 크리켓도 없다. 판만 빌렸을 뿐이라 다트 게임을 기대하면 어긋난다.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370832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전제하는 리스크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736592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조준 실력을 요구하는 덱빌더는 두 유저층의 교집합이라 좁다.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이 리스크를 줄이는 손잡이가 "난수 없는 조준" 이다 — 연습하면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반드시 나아지고, 나아진 만큼 점수가 오른다.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335024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플레이어 경험 목표와 그것을 만드는 장치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19072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"박자를 외워서 이기는 게 아니다"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993391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게이지 위상 gt 를 라운드 내내 초기화하지 않는다.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한 발마다 진자를 새로 읽어야 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88336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"빗나간 건 판 탓이 아니라 내 탓이다"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962656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조준·착탄 경로에 난수 호출이 하나도 없다.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같은 시점에 멈추면 같은 곳에 꽂힌다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657600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"정산을 앞질러 세어 본다"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9319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점수와 배수가 따로 오르고 한 단계마다 0.34초 쉰다.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소리가 반음씩 올라 다음 수를 예고한다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4626864"/>
            <a:ext cx="50292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"판을 내 것으로 고쳐 나간다"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4901184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개조 여덟은 슬롯을 안 먹는다. 산 것이 지워지지 않고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판의 모양으로 남아 런 끝까지 보인다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217920"/>
            <a:ext cx="9720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경험 목표를 먼저 적고, 그것을 만드는 장치를 옆에 적었다. 장치가 없는 목표는 목표가 아니라 바람이다.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10 / 50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2장 · 게임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한 런은 여덟 라운드다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한 판은 10~15분이다. 실패하면 아무것도 안 남고 처음부터 다시 한다 — 메타 진행이 없다.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79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3136391"/>
            <a:ext cx="1240155" cy="384048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3630168"/>
            <a:ext cx="12401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R1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12401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Arial"/>
              </a:rPr>
              <a:t>45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53970" y="2940449"/>
            <a:ext cx="1240155" cy="57999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53970" y="3630168"/>
            <a:ext cx="12401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R2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3970" y="2684417"/>
            <a:ext cx="12401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Arial"/>
              </a:rPr>
              <a:t>85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22141" y="2744506"/>
            <a:ext cx="1240155" cy="775933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22141" y="3630168"/>
            <a:ext cx="12401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R3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22141" y="2488474"/>
            <a:ext cx="12401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Arial"/>
              </a:rPr>
              <a:t>150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790313" y="2548563"/>
            <a:ext cx="1240155" cy="971876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0313" y="3630168"/>
            <a:ext cx="12401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R4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90313" y="2292531"/>
            <a:ext cx="12401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Arial"/>
              </a:rPr>
              <a:t>270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58483" y="2352620"/>
            <a:ext cx="1240155" cy="1167819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58483" y="3630168"/>
            <a:ext cx="12401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R5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58483" y="2096588"/>
            <a:ext cx="12401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Arial"/>
              </a:rPr>
              <a:t>470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26654" y="2156677"/>
            <a:ext cx="1240155" cy="1363762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26654" y="3630168"/>
            <a:ext cx="12401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R6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6654" y="1900645"/>
            <a:ext cx="12401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Arial"/>
              </a:rPr>
              <a:t>820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94826" y="1960734"/>
            <a:ext cx="1240155" cy="1559705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94826" y="3630168"/>
            <a:ext cx="12401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R7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94826" y="1704702"/>
            <a:ext cx="12401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Arial"/>
              </a:rPr>
              <a:t>1450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62997" y="1764791"/>
            <a:ext cx="1240155" cy="1755648"/>
          </a:xfrm>
          <a:prstGeom prst="roundRect">
            <a:avLst>
              <a:gd name="adj" fmla="val 3000"/>
            </a:avLst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262997" y="3630168"/>
            <a:ext cx="1240155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R8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62997" y="1508760"/>
            <a:ext cx="124015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B06E00"/>
                </a:solidFill>
                <a:latin typeface="Arial"/>
              </a:rPr>
              <a:t>2500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85800" y="3575303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685800" y="3904487"/>
            <a:ext cx="108173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90A1"/>
                </a:solidFill>
                <a:latin typeface="Malgun Gothic"/>
              </a:rPr>
              <a:t>목표 점수 — 라운드마다 기하평균 1.775배로 오른다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4343400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6FBF"/>
                </a:solidFill>
                <a:latin typeface="Malgun Gothic"/>
              </a:rPr>
              <a:t>상점은 일곱 번이다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4636008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라운드 N 을 클리어한 뒤 N+1 을 위해 열린다.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8라운드 뒤에는 상점이 없다 — 마지막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라운드는 보상 없이 끝난다.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4343400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B06E00"/>
                </a:solidFill>
                <a:latin typeface="Malgun Gothic"/>
              </a:rPr>
              <a:t>목표를 넘긴 순간 끝난다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343400" y="4636008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남은 다트는 골드가 된다. "안전하게 다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던지기" 와 "적은 발로 끝내기" 가 매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라운드 저울에 오른다.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4343400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C0402A"/>
                </a:solidFill>
                <a:latin typeface="Malgun Gothic"/>
              </a:rPr>
              <a:t>실패는 즉시 런 종료다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4636008"/>
            <a:ext cx="3383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여섯 발을 다 던지고도 목표에 못 미치면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그 자리에서 끝난다. 이어하기도, 다음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런으로 넘길 자원도 없다.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11 / 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2장 · 게임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한 라운드는 네 걸음이다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060704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389888"/>
            <a:ext cx="2487168" cy="228600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627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06E00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993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822"/>
                </a:solidFill>
                <a:latin typeface="Malgun Gothic"/>
              </a:rPr>
              <a:t>판 고르기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14015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제약 카드 셋 중 하나를 고른다.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스킵이 없어서 매 라운드 하나는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반드시 안고 던진다.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09544" y="2523744"/>
            <a:ext cx="201168" cy="0"/>
          </a:xfrm>
          <a:prstGeom prst="line">
            <a:avLst/>
          </a:prstGeom>
          <a:ln w="12700">
            <a:solidFill>
              <a:srgbClr val="9490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319272" y="2446020"/>
            <a:ext cx="182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1389888"/>
            <a:ext cx="2487168" cy="228600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03320" y="1627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06E00"/>
                </a:solidFill>
                <a:latin typeface="Arial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1993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822"/>
                </a:solidFill>
                <a:latin typeface="Malgun Gothic"/>
              </a:rPr>
              <a:t>던지기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414015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다트 여섯 발. 한 발마다 자루를 고르고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두 축을 조준해 던진다.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목표를 넘긴 순간 끝난다.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952744" y="2523744"/>
            <a:ext cx="201168" cy="0"/>
          </a:xfrm>
          <a:prstGeom prst="line">
            <a:avLst/>
          </a:prstGeom>
          <a:ln w="12700">
            <a:solidFill>
              <a:srgbClr val="9490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062472" y="2446020"/>
            <a:ext cx="182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389888"/>
            <a:ext cx="2487168" cy="228600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1627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06E00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1993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822"/>
                </a:solidFill>
                <a:latin typeface="Malgun Gothic"/>
              </a:rPr>
              <a:t>정산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2414015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클리어 4골드 · 남은 다트 1개당 1골드 ·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보유 5당 이자 1(상한 5) ·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골드 칩이 주는 몫.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695944" y="2523744"/>
            <a:ext cx="201168" cy="0"/>
          </a:xfrm>
          <a:prstGeom prst="line">
            <a:avLst/>
          </a:prstGeom>
          <a:ln w="12700">
            <a:solidFill>
              <a:srgbClr val="9490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8805672" y="2446020"/>
            <a:ext cx="182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1389888"/>
            <a:ext cx="2487168" cy="228600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89720" y="162763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06E00"/>
                </a:solidFill>
                <a:latin typeface="Arial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89720" y="1993392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822"/>
                </a:solidFill>
                <a:latin typeface="Malgun Gothic"/>
              </a:rPr>
              <a:t>상점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20" y="2414015"/>
            <a:ext cx="20116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칩 2 · 개조 1 · 다트 1 이 테이블 위로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떨어진다. 끌어 옮기고 오른쪽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창구로 밀어 넣어 산다.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950208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이 네 걸음이 만드는 저울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334256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B06E00"/>
                </a:solidFill>
                <a:latin typeface="Malgun Gothic"/>
              </a:rPr>
              <a:t>· 과잉 조준이 손해가 된다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0392" y="4608576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목표를 넘긴 순간 라운드가 끝나므로, 이미 이긴 판에서 남은 다트를 더 던지면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골드만 버린다. "충분히 이겼는가" 를 매 발마다 세게 된다.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5266944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B06E00"/>
                </a:solidFill>
                <a:latin typeface="Malgun Gothic"/>
              </a:rPr>
              <a:t>· 정산이 여덟 번이 아니라 일곱 번이다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0392" y="5541264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마지막 라운드 뒤에는 상점이 없다. 8라운드용 빌드는 7라운드 상점에서 완성돼야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하고, 그래서 마지막 상점의 선택이 런 전체에서 가장 무겁다.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12 / 50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2장 · 게임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한 발이 지나는 여섯 상태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게임 전체 상태는 열 개이고, 그중 여섯이 다트 한 자루의 사이클을 이룬다.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79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728216"/>
            <a:ext cx="1574292" cy="1225296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911095"/>
            <a:ext cx="15742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PICK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03703"/>
            <a:ext cx="15742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자루 고르기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78024"/>
            <a:ext cx="14279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벽에서 다트를 뽑는다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87524" y="2340863"/>
            <a:ext cx="219455" cy="0"/>
          </a:xfrm>
          <a:prstGeom prst="line">
            <a:avLst/>
          </a:prstGeom>
          <a:ln w="12700">
            <a:solidFill>
              <a:srgbClr val="9490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2415539" y="2263139"/>
            <a:ext cx="182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4412" y="1728216"/>
            <a:ext cx="1574292" cy="1225296"/>
          </a:xfrm>
          <a:prstGeom prst="roundRect">
            <a:avLst>
              <a:gd name="adj" fmla="val 3000"/>
            </a:avLst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4412" y="1911095"/>
            <a:ext cx="15742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AIM_V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4412" y="2203703"/>
            <a:ext cx="15742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높이 조준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7564" y="2478024"/>
            <a:ext cx="14279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가로선이 위아래로 훑는다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36136" y="2340863"/>
            <a:ext cx="219456" cy="0"/>
          </a:xfrm>
          <a:prstGeom prst="line">
            <a:avLst/>
          </a:prstGeom>
          <a:ln w="12700">
            <a:solidFill>
              <a:srgbClr val="9490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64152" y="2263139"/>
            <a:ext cx="182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3024" y="1728216"/>
            <a:ext cx="1574292" cy="1225296"/>
          </a:xfrm>
          <a:prstGeom prst="roundRect">
            <a:avLst>
              <a:gd name="adj" fmla="val 3000"/>
            </a:avLst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3024" y="1911095"/>
            <a:ext cx="15742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AIM_H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3024" y="2203703"/>
            <a:ext cx="15742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좌우 조준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56176" y="2478024"/>
            <a:ext cx="14279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세로선이 좌우로 훑는다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84748" y="2340863"/>
            <a:ext cx="219456" cy="0"/>
          </a:xfrm>
          <a:prstGeom prst="line">
            <a:avLst/>
          </a:prstGeom>
          <a:ln w="12700">
            <a:solidFill>
              <a:srgbClr val="9490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112764" y="2263139"/>
            <a:ext cx="182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1636" y="1728216"/>
            <a:ext cx="1574292" cy="1225296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1636" y="1911095"/>
            <a:ext cx="15742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CONFIRM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1636" y="2203703"/>
            <a:ext cx="15742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확인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4788" y="2478024"/>
            <a:ext cx="14279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착탄점 위로 원이 조인다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833359" y="2340863"/>
            <a:ext cx="219456" cy="0"/>
          </a:xfrm>
          <a:prstGeom prst="line">
            <a:avLst/>
          </a:prstGeom>
          <a:ln w="12700">
            <a:solidFill>
              <a:srgbClr val="9490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961375" y="2263139"/>
            <a:ext cx="182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0247" y="1728216"/>
            <a:ext cx="1574292" cy="1225296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80247" y="1911095"/>
            <a:ext cx="15742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FLY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80247" y="2203703"/>
            <a:ext cx="15742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비행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3399" y="2478024"/>
            <a:ext cx="14279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0.20초 고정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81972" y="2340863"/>
            <a:ext cx="219456" cy="0"/>
          </a:xfrm>
          <a:prstGeom prst="line">
            <a:avLst/>
          </a:prstGeom>
          <a:ln w="12700">
            <a:solidFill>
              <a:srgbClr val="9490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9809988" y="2263139"/>
            <a:ext cx="182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▸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928860" y="1728216"/>
            <a:ext cx="1574292" cy="1225296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928860" y="1911095"/>
            <a:ext cx="15742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RESOLVE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8860" y="2203703"/>
            <a:ext cx="157429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정산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002012" y="2478024"/>
            <a:ext cx="1427988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칩이 한 장씩 발동한다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" y="3081528"/>
            <a:ext cx="108173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Malgun Gothic"/>
              </a:rPr>
              <a:t>RESOLVE 가 끝나면 다시 PICK 으로 돌아간다. 다트가 떨어지면 라운드가 끝난다.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3557015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이 흐름에서 설계로 정한 것 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395935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PICK 은 건너뛸 수 있다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0392" y="4233672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남은 자루가 전부 같은 종류면 고를 것이 없다.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표준만 든 첫 런에서는 이 화면이 아예 안 뜨고,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초심자가 처음 만나는 것은 다섯 상태 사이클이다.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3959352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CONFIRM 은 무를 수 없다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82512" y="4233672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두 축을 잠근 뒤에는 되돌리는 입력이 없다.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확인 구간은 "고칠 시간" 이 아니라 "본 것을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확인할 시간" 이다.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184648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자루는 던져야 빠진다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" y="545896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고른 순간에는 뽑아 든 것으로만 표시하고,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벽에서 실제로 빠지는 것은 FLY 로 넘어가는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순간이다. 조준 중에도 갈아탈 수 있다.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5184648"/>
            <a:ext cx="51206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게이지 위상은 안 끊긴다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82512" y="5458968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높이를 잠근 뒤 좌우가, 발사한 뒤 다음 발의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높이가 같은 진자를 이어받는다. 고정 박자로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세어 맞히는 길이 막혀 있다.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13 / 50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2장 · 게임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두 번 멈추면 한 발이 정해진다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플래시 게임의 2단 게이지를 그대로 쓴다. 배우는 데 설명이 필요 없고,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난수가 없어 연습이 반드시 실력으로 쌓인다.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im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01951"/>
            <a:ext cx="5212080" cy="2931795"/>
          </a:xfrm>
          <a:prstGeom prst="rect">
            <a:avLst/>
          </a:prstGeom>
        </p:spPr>
      </p:pic>
      <p:pic>
        <p:nvPicPr>
          <p:cNvPr id="7" name="Picture 6" descr="aim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901951"/>
            <a:ext cx="5212080" cy="293179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" y="4873752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Malgun Gothic"/>
              </a:rPr>
              <a:t>① AIM_V — 가로선이 위아래로 훑는다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91072" y="4873752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Malgun Gothic"/>
              </a:rPr>
              <a:t>② AIM_H — 세로선이 좌우로 훑는다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212079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멈춘 높이가 착탄점의 y 다. 판 위를 눌렀을 때만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잠긴다 — 아무 데나 눌러도 되면 조준이 아니다.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5212079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멈춘 좌우가 착탄점의 x 다. 두 축이 잠기면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CONFIRM 이 시작되고 되돌릴 수 없다.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217920"/>
            <a:ext cx="9720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게이지 파형은 주기 1.0 의 삼각파다 — 기울기 절댓값이 일정해서, 균등한 시점에 멈춘다고 보면 착탄점이 조준 사각형 위에 균등분포한다. 모든 밸런스 수치가 이 가정 위에 서 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14 / 50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2장 · 게임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조준의 수치와 난수 감사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조준이 실력의 축이라고 주장하려면 난수가 없다는 것을 증명해야 한다.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79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600199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수치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65960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822"/>
                </a:solidFill>
                <a:latin typeface="Malgun Gothic"/>
              </a:rPr>
              <a:t>판 반지름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196596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Arial"/>
              </a:rPr>
              <a:t>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9659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Arial"/>
              </a:rPr>
              <a:t>106 px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96596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tuning.csv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24027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822"/>
                </a:solidFill>
                <a:latin typeface="Malgun Gothic"/>
              </a:rPr>
              <a:t>조준 진폭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2240279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Arial"/>
              </a:rPr>
              <a:t>SWING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3320" y="224027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Arial"/>
              </a:rPr>
              <a:t>119 px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240279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tuning.csv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1459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822"/>
                </a:solidFill>
                <a:latin typeface="Malgun Gothic"/>
              </a:rPr>
              <a:t>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2514599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Arial"/>
              </a:rPr>
              <a:t>SWING / 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03320" y="251459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Arial"/>
              </a:rPr>
              <a:t>1.1226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514599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이 비가 빗나감을 만든다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78891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822"/>
                </a:solidFill>
                <a:latin typeface="Malgun Gothic"/>
              </a:rPr>
              <a:t>게이지 속도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57400" y="2788919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Arial"/>
              </a:rPr>
              <a:t>gauge_speed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03320" y="278891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Arial"/>
              </a:rPr>
              <a:t>0.70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788919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"역풍" 이 2배로 만든다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06323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822"/>
                </a:solidFill>
                <a:latin typeface="Malgun Gothic"/>
              </a:rPr>
              <a:t>조준선 속력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7400" y="3063239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Arial"/>
              </a:rPr>
              <a:t>4 · SWING · 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03320" y="306323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Arial"/>
              </a:rPr>
              <a:t>333 px/s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3063239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60fps 에서 한 프레임 5.55px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33755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822"/>
                </a:solidFill>
                <a:latin typeface="Malgun Gothic"/>
              </a:rPr>
              <a:t>확인 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057400" y="3337559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Arial"/>
              </a:rPr>
              <a:t>confirm_hold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333755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Arial"/>
              </a:rPr>
              <a:t>0.45초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0" y="3337559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"안개" 가 0 으로 만든다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61187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822"/>
                </a:solidFill>
                <a:latin typeface="Malgun Gothic"/>
              </a:rPr>
              <a:t>비행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3611879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Arial"/>
              </a:rPr>
              <a:t>fly_time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03320" y="361187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Arial"/>
              </a:rPr>
              <a:t>0.20초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54880" y="3611879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게이지 속도와 무관한 고정값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88619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A1822"/>
                </a:solidFill>
                <a:latin typeface="Malgun Gothic"/>
              </a:rPr>
              <a:t>잠기는 반경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57400" y="3886199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Arial"/>
              </a:rPr>
              <a:t>R × 1.22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03320" y="388619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Arial"/>
              </a:rPr>
              <a:t>129 px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0" y="3886199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판 밖을 눌러도 안 잠긴다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1600199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난수 감사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09360" y="1947672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game.gd 전체에서 난수를 부르는 곳은 스물세 군데다.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조준값이나 착탄점을 정하는 것은 그중 하나도 없다.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09360" y="2514600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E5A6B"/>
                </a:solidFill>
                <a:latin typeface="Malgun Gothic"/>
              </a:rPr>
              <a:t>난수를 쓰는 곳 — 다섯 갈래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73952" y="27889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상점 매대 · 개조 풀 · 스테이지 후보 · 칩 봉인 ·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연출(화면 흔들림, 꽂힌 자루의 기울기)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429000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E7D3C"/>
                </a:solidFill>
                <a:latin typeface="Malgun Gothic"/>
              </a:rPr>
              <a:t>안 쓰는 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73952" y="37033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게이지 위상 · 착탄점 · 판정 · 정산 · 배수 계산.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같은 시점에 멈추면 같은 자리에 꽂힌다.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09360" y="4343400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Malgun Gothic"/>
              </a:rPr>
              <a:t>단 하나의 예외 — 검증 모드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73952" y="461772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헤드리스 자동 플레이에서만 착탄점을 판 안에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무작위로 다시 찍는다. 정상 실행에서는 안 돈다.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09360" y="5312664"/>
            <a:ext cx="5212080" cy="713232"/>
          </a:xfrm>
          <a:prstGeom prst="roundRect">
            <a:avLst>
              <a:gd name="adj" fmla="val 3000"/>
            </a:avLst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47104" y="5477256"/>
            <a:ext cx="4754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빗나감 = 1 − πR² / (2·SWING)² = 37.683%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측정값 37.76% (36만 발) — 기하 계산과 맞는다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15 / 50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2장 · 게임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꽂힌 자리를 읽는 다섯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hit_info() 는 착탄점 하나를 받아 칩 값과 배수를 돌려준다. 순서가 곧 규칙이다.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79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55063"/>
            <a:ext cx="10817352" cy="694944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37943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0402A"/>
                </a:solidFill>
                <a:latin typeface="Malgun Gothic"/>
              </a:rPr>
              <a:t>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847088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판 밖인가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1783079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중심에서의 거리가 판의 끝을 넘으면 빗나감이다.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칩 0 · 배수 0 · 칸 −1 을 돌려준다.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41448"/>
            <a:ext cx="10817352" cy="694944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2432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06E00"/>
                </a:solidFill>
                <a:latin typeface="Malgun Gothic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633472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한복판인가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86200" y="2569464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r ≤ 0.06 이면 칩 50 · 배수 1.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배수 50 이 아니라 칩 50 인 것이 이 판의 성격을 정한다.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27832"/>
            <a:ext cx="10817352" cy="694944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4107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06E00"/>
                </a:solidFill>
                <a:latin typeface="Malgun Gothic"/>
              </a:rPr>
              <a:t>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3419856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불인가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3355848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r ≤ 0.14 이면 칩 25 · 배수 1.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링이 아니므로 "트리플·더블 어디든" 조건에서 빠진다.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014215"/>
            <a:ext cx="10817352" cy="694944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9709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BF"/>
                </a:solidFill>
                <a:latin typeface="Malgun Gothic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08760" y="4206240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어느 칸인가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86200" y="4142231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각도를 20으로 나눠 칸을 정한다.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칸 값이 그대로 칩이 된다 (1~20).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800600"/>
            <a:ext cx="10817352" cy="694944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98348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0402A"/>
                </a:solidFill>
                <a:latin typeface="Malgun Gothic"/>
              </a:rPr>
              <a:t>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92624"/>
            <a:ext cx="21945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어느 띠인가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4928616"/>
            <a:ext cx="78638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반경으로 배수를 정한다. 더블 2 · 트리플 3 · 그 밖 1.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개조 "아랫목" 이 켜지면 안쪽 띠 하나를 더 본다.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85800" y="5641848"/>
            <a:ext cx="10817352" cy="731520"/>
          </a:xfrm>
          <a:prstGeom prst="roundRect">
            <a:avLst>
              <a:gd name="adj" fmla="val 3000"/>
            </a:avLst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5769864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반환 치역이 계약이다 — 배수 ∈ {0,1,2,3} · 칸 ∈ {−1} ∪ [1,20] ∪ {25,50}.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칩 조건 19종이 전부 이 치역 위에 서 있어서, 칸 값이 25 를 넘기면 칸이 불로 읽히고 "명중왕" 이 오발한다.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16 / 50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2장 · 게임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판을 면적으로 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"배수는 면적이다" 를 수치로 적은 표다. 개조와 제약이 바꾸는 것이 이 표의 오른쪽 두 열이다.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79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-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728216"/>
            <a:ext cx="301752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251960" y="1691639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Malgun Gothic"/>
              </a:rPr>
              <a:t>구간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2120" y="169163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Malgun Gothic"/>
              </a:rPr>
              <a:t>반경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03720" y="1691639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Malgun Gothic"/>
              </a:rPr>
              <a:t>칩 · 배수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691639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Malgun Gothic"/>
              </a:rPr>
              <a:t>판 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64040" y="1691639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Malgun Gothic"/>
              </a:rPr>
              <a:t>던진 것 중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51960" y="1929384"/>
            <a:ext cx="6400800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251960" y="203911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한복판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039112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0.00 – 0.06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039112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06E00"/>
                </a:solidFill>
                <a:latin typeface="Malgun Gothic"/>
              </a:rPr>
              <a:t>칩 50 · 배수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203911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0.36%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64040" y="203911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0.22%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51960" y="236829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2368296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0.06 – 0.14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368296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06E00"/>
                </a:solidFill>
                <a:latin typeface="Malgun Gothic"/>
              </a:rPr>
              <a:t>칩 25 · 배수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368296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1.60%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2368296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1.00%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51960" y="2697479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단타 안쪽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2697479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0.14 – 0.56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2697479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칸 값 · 배수 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2697479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29.40%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697479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18.32%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60" y="3026663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트리플 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32120" y="3026663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0.56 – 0.66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03720" y="3026663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0402A"/>
                </a:solidFill>
                <a:latin typeface="Malgun Gothic"/>
              </a:rPr>
              <a:t>칸 값 · 배수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58200" y="3026663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12.20%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3026663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7.60%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51960" y="3355847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단타 바깥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32120" y="3355847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0.66 – 0.90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03720" y="3355847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칸 값 · 배수 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58200" y="3355847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37.44%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64040" y="3355847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23.33%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51960" y="3685031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더블 띠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532120" y="3685031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0.90 – 1.00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20" y="3685031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0402A"/>
                </a:solidFill>
                <a:latin typeface="Malgun Gothic"/>
              </a:rPr>
              <a:t>칸 값 · 배수 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3685031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19.00%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64040" y="3685031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11.84%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51960" y="4014215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빗나감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532120" y="4014215"/>
            <a:ext cx="1371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1.00 초과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03720" y="4014215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90A1"/>
                </a:solidFill>
                <a:latin typeface="Malgun Gothic"/>
              </a:rPr>
              <a:t>—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58200" y="4014215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64040" y="4014215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37.68%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251960" y="4489704"/>
            <a:ext cx="6400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트리플 띠는 판의 12.20% 지만 던진 것 중 7.60% 에만 걸린다.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개조 "속살" 이 이 띠를 0.06 넓히면 그 한 장으로 배수 3 의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기대값이 절반 가까이 오른다 — 칩을 한 장도 안 사고서.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6217920"/>
            <a:ext cx="9720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"판 안" 은 판에 꽂힌 것 중의 비율, "던진 것 중" 은 빗나감을 포함한 전체 대비다. 밸런스 계산은 언제나 뒤쪽 열을 쓴다.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17 / 50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2장 · 게임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점수가 만들어지는 순서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한 발이 정산되는 동안 두 개의 수가 따로 자란다. 마지막에 한 번 곱한다.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79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resol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91639"/>
            <a:ext cx="5760720" cy="32404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946904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칩 17 × 배수 3 — 정산 카드는 화면 가장자리에서 튀어나온다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1655063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정산 순서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2020824"/>
            <a:ext cx="2926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223760" y="2020824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판정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2258568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꽂힌 칸이 칩의 시작값, 띠가 배수의 시작값이 된다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788920"/>
            <a:ext cx="2926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Arial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23760" y="2788920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다트 특성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026663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가벼운 다트는 배수 +3, 관통은 배수를 1로 못박는다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557015"/>
            <a:ext cx="2926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3557015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칩 다섯 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23760" y="3794759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슬롯 순서대로 조건을 검사하고, 걸린 것만 이름을 띄운다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4325112"/>
            <a:ext cx="29260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325112"/>
            <a:ext cx="42976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곱셈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4562855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칩 × 배수. 이 수가 라운드 합계에 더해진다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0" y="5074920"/>
            <a:ext cx="4663440" cy="1133856"/>
          </a:xfrm>
          <a:prstGeom prst="roundRect">
            <a:avLst>
              <a:gd name="adj" fmla="val 3000"/>
            </a:avLst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95744" y="5202936"/>
            <a:ext cx="42062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1A1822"/>
                </a:solidFill>
                <a:latin typeface="Malgun Gothic"/>
              </a:rPr>
              <a:t>효과 네 종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1A1822"/>
                </a:solidFill>
                <a:latin typeface="Malgun Gothic"/>
              </a:rPr>
              <a:t/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1A1822"/>
                </a:solidFill>
                <a:latin typeface="Malgun Gothic"/>
              </a:rPr>
              <a:t>점수 +N     칩에 더한다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1A1822"/>
                </a:solidFill>
                <a:latin typeface="Malgun Gothic"/>
              </a:rPr>
              <a:t>배수 +N     배수에 더한다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1A1822"/>
                </a:solidFill>
                <a:latin typeface="Malgun Gothic"/>
              </a:rPr>
              <a:t>배수 ×N     배수에 곱한다 — 두 번째 층</a:t>
            </a:r>
          </a:p>
          <a:p>
            <a:pPr algn="l">
              <a:lnSpc>
                <a:spcPct val="145000"/>
              </a:lnSpc>
              <a:spcAft>
                <a:spcPts val="0"/>
              </a:spcAft>
            </a:pPr>
            <a:r>
              <a:rPr sz="1050" b="0">
                <a:solidFill>
                  <a:srgbClr val="1A1822"/>
                </a:solidFill>
                <a:latin typeface="Malgun Gothic"/>
              </a:rPr>
              <a:t>배수 +N/연속  같은 칸을 이을수록 자란다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6217920"/>
            <a:ext cx="9720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"배수 ×N" 이 두 번째 곱셈 층이다. 곱셈이 두 겹이 되는 순간 후반 라운드의 목표가 넘어갈 수 있는 수가 된다 — 8라운드 목표 2500 은 다트당 417점이고, 무개조 기본값 9.59점의 43배다.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18 / 50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3장 ·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성장 축이 셋이고, 서로를 대체하지 않는다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보통 이 장르는 성장 축이 하나다. 여기는 셋이고 각자 다른 질문에 답한다.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79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55063"/>
            <a:ext cx="3401568" cy="3145536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78408" y="1929384"/>
            <a:ext cx="219456" cy="219456"/>
          </a:xfrm>
          <a:prstGeom prst="ellipse">
            <a:avLst/>
          </a:prstGeom>
          <a:solidFill>
            <a:srgbClr val="1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07592" y="1892807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822"/>
                </a:solidFill>
                <a:latin typeface="Malgun Gothic"/>
              </a:rPr>
              <a:t>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313432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26종 · 슬롯 5칸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262432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6FBF"/>
                </a:solidFill>
                <a:latin typeface="Malgun Gothic"/>
              </a:rPr>
              <a:t>어디를 노릴지를 바꾼다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026663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조건과 효과의 짝이다 — "트리플이면 배수 +4".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슬롯이 다섯뿐이라 넣는 것이 곧 빼는 것이다.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판이 뱉은 결과를 읽는다.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655063"/>
            <a:ext cx="3401568" cy="3145536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36008" y="1929384"/>
            <a:ext cx="219456" cy="219456"/>
          </a:xfrm>
          <a:prstGeom prst="ellipse">
            <a:avLst/>
          </a:prstGeom>
          <a:solidFill>
            <a:srgbClr val="B0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65192" y="1892807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822"/>
                </a:solidFill>
                <a:latin typeface="Malgun Gothic"/>
              </a:rPr>
              <a:t>보드 개조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313432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8종 · 슬롯 없음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262432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B06E00"/>
                </a:solidFill>
                <a:latin typeface="Malgun Gothic"/>
              </a:rPr>
              <a:t>얼마나 잘 맞출지를 바꾼다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3026663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띠를 넓히고, 옮기고, 하나 더 만들고, 판을 키운다.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한 종류는 런에 한 번만. 슬롯 대신 판값 상한이 막는다.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판이 읽는 값 자체를 바꾼다.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1000" y="1655063"/>
            <a:ext cx="3401568" cy="3145536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93608" y="1929384"/>
            <a:ext cx="219456" cy="219456"/>
          </a:xfrm>
          <a:prstGeom prst="ellipse">
            <a:avLst/>
          </a:prstGeom>
          <a:solidFill>
            <a:srgbClr val="2E7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22792" y="1892807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A1822"/>
                </a:solidFill>
                <a:latin typeface="Malgun Gothic"/>
              </a:rPr>
              <a:t>다트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8" y="2313432"/>
            <a:ext cx="2834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5종 · 탄창 6발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624328"/>
            <a:ext cx="2834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2E7D3C"/>
                </a:solidFill>
                <a:latin typeface="Malgun Gothic"/>
              </a:rPr>
              <a:t>던지는 감각을 바꾼다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3608" y="3026663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무거운 것은 게이지가 느린 대신 배수를 깎고,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자석은 중심으로 당겨 빗나감을 37.68%에서 5.52%로 줄인다.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한 발마다 다른 자루를 골라 쓴다.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001768"/>
            <a:ext cx="10817352" cy="859536"/>
          </a:xfrm>
          <a:prstGeom prst="roundRect">
            <a:avLst>
              <a:gd name="adj" fmla="val 3000"/>
            </a:avLst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184648"/>
            <a:ext cx="10241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세 축이 한 저울 위에 있다 — 판값(board_val)은 균등 조준 다트당 기대 점수를 면적 적분으로 낸다.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그래서 개조 하나를 사면 칩 26종의 값어치가 전부 조금씩 움직인다. 이것이 이 게임의 밸런스 통화다.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19 / 50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3장 ·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칩 — 조건과 효과의 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칩 한 장은 "언제 걸리는가" 와 "무엇을 하는가" 두 조각이다.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조건 19종 × 효과 4종의 격자 위에서 26장을 골라 놓았다.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865376"/>
            <a:ext cx="5120640" cy="1243584"/>
          </a:xfrm>
          <a:prstGeom prst="roundRect">
            <a:avLst>
              <a:gd name="adj" fmla="val 3000"/>
            </a:avLst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" y="2066543"/>
            <a:ext cx="4572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A1822"/>
                </a:solidFill>
                <a:latin typeface="Malgun Gothic"/>
              </a:rPr>
              <a:t>삼중고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" y="2414015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Malgun Gothic"/>
              </a:rPr>
              <a:t>트리플 명중 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2414015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0402A"/>
                </a:solidFill>
                <a:latin typeface="Malgun Gothic"/>
              </a:rPr>
              <a:t>배수 +4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" y="2724911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조건            효과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865376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한 장을 이루는 여섯 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31136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Malgun Gothic"/>
              </a:rPr>
              <a:t>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223113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세 글자. 한 번 정하면 안 바꾼다 — 등장 표·측정 시트·배타가 이걸로 붙는다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688336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Malgun Gothic"/>
              </a:rPr>
              <a:t>조건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68833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check() 가 아는 열아홉 중 하나. CSV 로는 새로 못 만든다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145536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Malgun Gothic"/>
              </a:rPr>
              <a:t>효과 · 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314553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점수 / 배수 / 배수× / 배수 연속 — 단위가 효과마다 다르다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602736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Malgun Gothic"/>
              </a:rPr>
              <a:t>가격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9520" y="360273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4 · 7 · 11 · 14 넷뿐. 판매가는 여기서 파생한다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4059935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Malgun Gothic"/>
              </a:rPr>
              <a:t>등급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4059935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흔함 · 보통 · 희귀. 등장 가중치와 칩 색이 여기서 나온다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517136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Malgun Gothic"/>
              </a:rPr>
              <a:t>골드 반쪽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517136"/>
            <a:ext cx="3931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다섯 장만 갖는다. 득점을 깎고 정산에서 골드로 돌려받는다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3456432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슬롯이 다섯이라는 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822191"/>
            <a:ext cx="512064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26장 중 다섯이다. 여섯 번째를 사려면 한 장을 팔아야 하고,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판매가는 구매가의 절반(내림)이라 평균 46% 만 돌아온다.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/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그래서 되팔기가 자유로운 실험이 아니라 손해를 감수하는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갈아타기가 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08406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Malgun Gothic"/>
              </a:rPr>
              <a:t>런 전반과 후반이 다른 싸움이다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394960"/>
            <a:ext cx="51206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한 런이 R7 까지 버는 자금은 누적 53골드 안팎이다.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전반은 자금 제약이고, 슬롯이 차는 후반에 와서야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"무엇을 뺄까" 가 문제가 된다.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6217920"/>
            <a:ext cx="9720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조건 열아홉을 새로 늘리려면 코드 세 곳이 같이 는다 — 판정(check) · 문장(cond_text) · 그림(_icon_cond). 표만으로 못 늘리는 유일한 칸이라 items.csv 의 조건 열에 그 사실을 못 박아 두었다.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20 / 50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3장 ·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조건 열아홉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판정 함수가 아는 술어 전부다. 오른쪽 수치는 기본 판에서 다트 한 발이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그 조건에 걸릴 확률 — 36만 발을 실제 판정 함수로 돌려 잰 값이다.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847087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Malgun Gothic"/>
              </a:rPr>
              <a:t>넓다 — 조건이 거의 없다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77639" y="1847087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무조건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77639" y="2066543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62.24%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05272" y="1847087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직전과 다른 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05272" y="2066543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60.66%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2904" y="1847087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빗나감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2904" y="2066543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37.76%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276856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2395727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Malgun Gothic"/>
              </a:rPr>
              <a:t>판을 반으로 가른다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395727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왼쪽 절반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77639" y="2615183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31.05%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05272" y="2395727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오른쪽 절반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05272" y="2615183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31.19%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2904" y="2395727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홀수 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2904" y="2615183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30.57%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0536" y="2395727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짝수 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0536" y="2615183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30.50%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2825496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294436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Malgun Gothic"/>
              </a:rPr>
              <a:t>칸 값으로 가른다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77639" y="294436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15 이상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3163824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18.32%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05272" y="294436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6~14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05272" y="3163824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27.42%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2904" y="294436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5 이하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3163824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15.32%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85800" y="3374136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" y="349300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Malgun Gothic"/>
              </a:rPr>
              <a:t>띠를 노린다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977639" y="34930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트리플·더블 어디든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77639" y="3712463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19.38%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05272" y="34930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더블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05272" y="3712463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11.77%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32904" y="34930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트리플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32904" y="3712463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7.61%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0536" y="349300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불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860536" y="3712463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1.18%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85800" y="3922776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685800" y="4041648"/>
            <a:ext cx="31089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Malgun Gothic"/>
              </a:rPr>
              <a:t>순번과 흐름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977639" y="404164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첫 발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7639" y="4261104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10.32%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05272" y="404164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막 발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05272" y="4261104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10.38%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32904" y="404164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트리플 뚫은 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32904" y="4261104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10.70%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60536" y="404164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직전과 같은 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860536" y="4261104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1.58%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488167" y="404164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연속 명중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488167" y="4261104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1.58%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85800" y="4471416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85800" y="4681727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표가 알려 준 것 셋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85800" y="5047488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22"/>
                </a:solidFill>
                <a:latin typeface="Malgun Gothic"/>
              </a:rPr>
              <a:t>· 왼쪽 31.05 + 오른쪽 31.19 = 62.24 — "무조건" 과 같은 값이다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" y="525780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두 장이 판을 완전분할하므로 같이 사면 조건이 사라진다. 검증기가 경고로 잡는다.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" y="555955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22"/>
                </a:solidFill>
                <a:latin typeface="Malgun Gothic"/>
              </a:rPr>
              <a:t>· "직전과 같은 칸" 과 "연속 명중" 은 같은 술어다 (둘 다 1.58%)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50392" y="5769864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별칭으로 둔 것은 효과가 달라서다 — 하나는 1회성, 하나는 연속마다 자란다.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85800" y="6071616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22"/>
                </a:solidFill>
                <a:latin typeface="Malgun Gothic"/>
              </a:rPr>
              <a:t>· 조건 열아홉 중 죽은 것이 없다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" y="6281928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안 쓰는 조건이 몇 개인지 검증기가 매 부팅마다 센다. 손으로 적은 숫자가 아니다.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21 / 50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3장 ·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칩 데이터 ① — 흔함 아홉, 보통 여덟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조건이 넓고 효과가 작은 쪽이다. 가격 4·7 이고 R2 상점부터 뜬다.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79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655063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655063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등급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1655063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조건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8144" y="1655063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3" y="1655063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655063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발동%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1807" y="1655063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기여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1874519"/>
            <a:ext cx="5212080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200253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대물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002536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흔함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6272" y="2002536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15 이상 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8144" y="2002536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6FBF"/>
                </a:solidFill>
                <a:latin typeface="Malgun Gothic"/>
              </a:rPr>
              <a:t>점수 +16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3" y="200253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200253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18.32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7" y="200253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4.23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3271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가장자리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2327148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흔함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2327148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더블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8144" y="2327148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0402A"/>
                </a:solidFill>
                <a:latin typeface="Malgun Gothic"/>
              </a:rPr>
              <a:t>배수 +3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3" y="2327148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232714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11.77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807" y="2327148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3.69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65176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짝수 애호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2651760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흔함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76272" y="2651760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짝수 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38144" y="26517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6FBF"/>
                </a:solidFill>
                <a:latin typeface="Malgun Gothic"/>
              </a:rPr>
              <a:t>점수 +14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3" y="2651760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8" y="265176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30.50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1807" y="2651760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6.15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297637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좌익수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2976372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흔함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76272" y="2976372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왼쪽 절반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38144" y="29763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0402A"/>
                </a:solidFill>
                <a:latin typeface="Malgun Gothic"/>
              </a:rPr>
              <a:t>배수 +2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3983" y="2976372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3168" y="297637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31.05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21807" y="2976372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7.21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330098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06E00"/>
                </a:solidFill>
                <a:latin typeface="Malgun Gothic"/>
              </a:rPr>
              <a:t>밑천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20" y="3300984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흔함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76272" y="3300984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5 이하 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38144" y="3300984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0402A"/>
                </a:solidFill>
                <a:latin typeface="Malgun Gothic"/>
              </a:rPr>
              <a:t>배수 +2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43983" y="3300984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73168" y="330098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15.32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21807" y="3300984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0.92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36255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홀수 애호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645920" y="3625596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흔함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176272" y="3625596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홀수 칸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38144" y="3625596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6FBF"/>
                </a:solidFill>
                <a:latin typeface="Malgun Gothic"/>
              </a:rPr>
              <a:t>점수 +14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443983" y="362559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73168" y="362559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30.57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321807" y="362559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6.18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395020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우익수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645920" y="3950208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흔함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76272" y="3950208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오른쪽 절반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438144" y="3950208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0402A"/>
                </a:solidFill>
                <a:latin typeface="Malgun Gothic"/>
              </a:rPr>
              <a:t>배수 +2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443983" y="3950208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73168" y="395020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31.19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321807" y="3950208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6.31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5800" y="427482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소물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645920" y="4274820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흔함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2176272" y="4274820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5 이하 칸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438144" y="42748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0402A"/>
                </a:solidFill>
                <a:latin typeface="Malgun Gothic"/>
              </a:rPr>
              <a:t>배수 +5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43983" y="4274820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773168" y="42748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15.32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321807" y="4274820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2.29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" y="4599431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삼중고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45920" y="4599431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흔함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176272" y="4599431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트리플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438144" y="4599431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0402A"/>
                </a:solidFill>
                <a:latin typeface="Malgun Gothic"/>
              </a:rPr>
              <a:t>배수 +4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443983" y="4599431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4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773168" y="4599431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7.61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321807" y="4599431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3.20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09360" y="1655063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칩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7269480" y="1655063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등급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799831" y="1655063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조건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061704" y="1655063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효과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067544" y="1655063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가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396728" y="1655063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발동%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45367" y="1655063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기여</a:t>
            </a:r>
          </a:p>
        </p:txBody>
      </p:sp>
      <p:cxnSp>
        <p:nvCxnSpPr>
          <p:cNvPr id="84" name="Connector 83"/>
          <p:cNvCxnSpPr/>
          <p:nvPr/>
        </p:nvCxnSpPr>
        <p:spPr>
          <a:xfrm>
            <a:off x="6309360" y="1874519"/>
            <a:ext cx="5212080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6309360" y="200253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06E00"/>
                </a:solidFill>
                <a:latin typeface="Malgun Gothic"/>
              </a:rPr>
              <a:t>본전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269480" y="2002536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보통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799831" y="2002536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직전과 다른 칸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061704" y="2002536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6FBF"/>
                </a:solidFill>
                <a:latin typeface="Malgun Gothic"/>
              </a:rPr>
              <a:t>점수 +12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67544" y="200253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7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396728" y="200253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60.66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945367" y="200253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10.43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6309360" y="23271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띠쟁이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269480" y="2327148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보통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99831" y="2327148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트리플·더블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61704" y="2327148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6FBF"/>
                </a:solidFill>
                <a:latin typeface="Malgun Gothic"/>
              </a:rPr>
              <a:t>점수 +20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10067544" y="2327148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7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396728" y="232714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19.38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945367" y="2327148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9.27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09360" y="265176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명중왕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269480" y="2651760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보통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799831" y="2651760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불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9061704" y="26517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0402A"/>
                </a:solidFill>
                <a:latin typeface="Malgun Gothic"/>
              </a:rPr>
              <a:t>배수 +8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10067544" y="2651760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10396728" y="265176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1.18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945367" y="2651760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2.81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6309360" y="297637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첫 발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269480" y="2976372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보통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799831" y="2976372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첫 발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061704" y="29763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6FBF"/>
                </a:solidFill>
                <a:latin typeface="Malgun Gothic"/>
              </a:rPr>
              <a:t>점수 +45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10067544" y="2976372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7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10396728" y="297637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10.32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10945367" y="2976372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6.65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309360" y="330098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막판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7269480" y="3300984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보통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799831" y="3300984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막 발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9061704" y="3300984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0402A"/>
                </a:solidFill>
                <a:latin typeface="Malgun Gothic"/>
              </a:rPr>
              <a:t>배수 ×2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067544" y="3300984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7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10396728" y="330098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10.38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0945367" y="3300984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1.60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6309360" y="36255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06E00"/>
                </a:solidFill>
                <a:latin typeface="Malgun Gothic"/>
              </a:rPr>
              <a:t>판돈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269480" y="3625596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보통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799831" y="3625596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첫 발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9061704" y="3625596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6FBF"/>
                </a:solidFill>
                <a:latin typeface="Malgun Gothic"/>
              </a:rPr>
              <a:t>점수 +26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067544" y="362559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7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0396728" y="362559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10.32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945367" y="362559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3.84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6309360" y="395020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외골수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7269480" y="3950208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보통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7799831" y="3950208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직전과 같은 칸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9061704" y="3950208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0402A"/>
                </a:solidFill>
                <a:latin typeface="Malgun Gothic"/>
              </a:rPr>
              <a:t>배수 +4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067544" y="3950208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7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396728" y="395020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1.58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945367" y="3950208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0.67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309360" y="427482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손맛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269480" y="4274820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보통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7799831" y="4274820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트리플 뚫은 뒤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9061704" y="427482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6FBF"/>
                </a:solidFill>
                <a:latin typeface="Malgun Gothic"/>
              </a:rPr>
              <a:t>점수 +30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067544" y="4274820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7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396728" y="42748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10.70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945367" y="4274820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4.60</a:t>
            </a:r>
          </a:p>
        </p:txBody>
      </p:sp>
      <p:cxnSp>
        <p:nvCxnSpPr>
          <p:cNvPr id="141" name="Connector 140"/>
          <p:cNvCxnSpPr/>
          <p:nvPr/>
        </p:nvCxnSpPr>
        <p:spPr>
          <a:xfrm>
            <a:off x="685800" y="5742432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2" name="TextBox 141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이 묶음  </a:t>
            </a:r>
            <a:r>
              <a:rPr sz="1200" b="1">
                <a:solidFill>
                  <a:srgbClr val="1A1822"/>
                </a:solidFill>
                <a:latin typeface="Arial"/>
              </a:rPr>
              <a:t>17장</a:t>
            </a:r>
            <a:r>
              <a:rPr sz="1050" b="0">
                <a:solidFill>
                  <a:srgbClr val="5E5A6B"/>
                </a:solidFill>
                <a:latin typeface="Malgun Gothic"/>
              </a:rPr>
              <a:t>     평균 가격  </a:t>
            </a:r>
            <a:r>
              <a:rPr sz="1200" b="1">
                <a:solidFill>
                  <a:srgbClr val="1A1822"/>
                </a:solidFill>
                <a:latin typeface="Arial"/>
              </a:rPr>
              <a:t>5.4</a:t>
            </a:r>
            <a:r>
              <a:rPr sz="1050" b="0">
                <a:solidFill>
                  <a:srgbClr val="5E5A6B"/>
                </a:solidFill>
                <a:latin typeface="Malgun Gothic"/>
              </a:rPr>
              <a:t>     평균 발동률  </a:t>
            </a:r>
            <a:r>
              <a:rPr sz="1200" b="1">
                <a:solidFill>
                  <a:srgbClr val="1A1822"/>
                </a:solidFill>
                <a:latin typeface="Arial"/>
              </a:rPr>
              <a:t>18.60%</a:t>
            </a:r>
            <a:r>
              <a:rPr sz="1050" b="0">
                <a:solidFill>
                  <a:srgbClr val="5E5A6B"/>
                </a:solidFill>
                <a:latin typeface="Malgun Gothic"/>
              </a:rPr>
              <a:t>     평균 다트 기여  </a:t>
            </a:r>
            <a:r>
              <a:rPr sz="1200" b="1">
                <a:solidFill>
                  <a:srgbClr val="B06E00"/>
                </a:solidFill>
                <a:latin typeface="Arial"/>
              </a:rPr>
              <a:t>4.71</a:t>
            </a:r>
            <a:r>
              <a:rPr sz="1050" b="0">
                <a:solidFill>
                  <a:srgbClr val="5E5A6B"/>
                </a:solidFill>
                <a:latin typeface="Malgun Gothic"/>
              </a:rPr>
              <a:t>     평균 골드당 기여  </a:t>
            </a:r>
            <a:r>
              <a:rPr sz="1200" b="1">
                <a:solidFill>
                  <a:srgbClr val="B06E00"/>
                </a:solidFill>
                <a:latin typeface="Arial"/>
              </a:rPr>
              <a:t>0.93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685800" y="6217920"/>
            <a:ext cx="9720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"발동%" 는 다트 한 발에서 조건이 걸릴 확률, "다트 기여" 는 그 칩 한 장만 들었을 때 다트당 늘어나는 점수다. 둘 다 36만 발 측정값이고 기본 판 · 균등 조준 가정이다.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22 / 50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3장 ·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칩 데이터 ② — 희귀 아홉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빌드의 축이 되는 쪽이다. 아홉 장 중 다섯이 골드 칩(주황 이름)이고,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그 다섯은 득점 반쪽이 같은 조건의 다른 칩보다 낮은 대신 정산에서 골드를 돌려준다.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8653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65376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등급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76272" y="1865376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조건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38144" y="1865376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효과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43983" y="186537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73168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발동%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1807" y="1865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기여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084831"/>
            <a:ext cx="5212080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22128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변덕쟁이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2212848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희귀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76272" y="2212848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직전과 다른 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38144" y="2212848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6FBF"/>
                </a:solidFill>
                <a:latin typeface="Malgun Gothic"/>
              </a:rPr>
              <a:t>점수 +22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43983" y="2212848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221284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60.66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7" y="2212848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19.13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53746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빈손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45920" y="2537460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희귀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2537460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빗나감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38144" y="25374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6FBF"/>
                </a:solidFill>
                <a:latin typeface="Malgun Gothic"/>
              </a:rPr>
              <a:t>점수 +30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43983" y="2537460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73168" y="253746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37.76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21807" y="2537460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11.33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86207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기본기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20" y="2862072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희귀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76272" y="2862072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모든 다트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38144" y="28620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6FBF"/>
                </a:solidFill>
                <a:latin typeface="Malgun Gothic"/>
              </a:rPr>
              <a:t>점수 +25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3983" y="2862072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73168" y="286207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62.24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321807" y="2862072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22.31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18668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칼끝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45920" y="3186684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희귀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76272" y="3186684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더블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438144" y="3186684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0402A"/>
                </a:solidFill>
                <a:latin typeface="Malgun Gothic"/>
              </a:rPr>
              <a:t>배수 ×2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43983" y="3186684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73168" y="318668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11.77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21807" y="3186684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2.46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351129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06E00"/>
                </a:solidFill>
                <a:latin typeface="Malgun Gothic"/>
              </a:rPr>
              <a:t>큰손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45920" y="3511296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희귀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76272" y="3511296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트리플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438144" y="3511296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0402A"/>
                </a:solidFill>
                <a:latin typeface="Malgun Gothic"/>
              </a:rPr>
              <a:t>배수 +3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43983" y="351129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73168" y="351129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7.61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21807" y="351129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2.40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186537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칩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1865376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등급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99831" y="1865376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조건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061704" y="1865376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효과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067544" y="1865376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396728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발동%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945367" y="1865376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기여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309360" y="2084831"/>
            <a:ext cx="5212080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309360" y="221284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B06E00"/>
                </a:solidFill>
                <a:latin typeface="Malgun Gothic"/>
              </a:rPr>
              <a:t>물주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69480" y="2212848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희귀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799831" y="2212848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모든 다트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061704" y="2212848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6FBF"/>
                </a:solidFill>
                <a:latin typeface="Malgun Gothic"/>
              </a:rPr>
              <a:t>점수 +16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067544" y="2212848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11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396728" y="221284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62.24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945367" y="2212848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14.28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253746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정밀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269480" y="2537460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희귀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99831" y="2537460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연속 명중 1회마다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61704" y="2537460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0402A"/>
                </a:solidFill>
                <a:latin typeface="Malgun Gothic"/>
              </a:rPr>
              <a:t>배수 +3/연속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067544" y="2537460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11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396728" y="253746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1.58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945367" y="2537460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0.52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309360" y="286207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증폭기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269480" y="2862072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희귀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799831" y="2862072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모든 다트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061704" y="286207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C0402A"/>
                </a:solidFill>
                <a:latin typeface="Malgun Gothic"/>
              </a:rPr>
              <a:t>배수 ×2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067544" y="2862072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14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96728" y="286207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62.24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945367" y="2862072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9.59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309360" y="318668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중물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7269480" y="3186684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희귀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799831" y="3186684"/>
            <a:ext cx="12618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6~14 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9061704" y="3186684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F6FBF"/>
                </a:solidFill>
                <a:latin typeface="Malgun Gothic"/>
              </a:rPr>
              <a:t>점수 +40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0067544" y="3186684"/>
            <a:ext cx="32918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14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396728" y="318668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27.42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945367" y="3186684"/>
            <a:ext cx="57607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Arial"/>
              </a:rPr>
              <a:t>15.82</a:t>
            </a:r>
          </a:p>
        </p:txBody>
      </p:sp>
      <p:cxnSp>
        <p:nvCxnSpPr>
          <p:cNvPr id="85" name="Connector 84"/>
          <p:cNvCxnSpPr/>
          <p:nvPr/>
        </p:nvCxnSpPr>
        <p:spPr>
          <a:xfrm>
            <a:off x="685800" y="5742432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6" name="TextBox 85"/>
          <p:cNvSpPr txBox="1"/>
          <p:nvPr/>
        </p:nvSpPr>
        <p:spPr>
          <a:xfrm>
            <a:off x="685800" y="5852160"/>
            <a:ext cx="10817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이 묶음  </a:t>
            </a:r>
            <a:r>
              <a:rPr sz="1200" b="1">
                <a:solidFill>
                  <a:srgbClr val="1A1822"/>
                </a:solidFill>
                <a:latin typeface="Arial"/>
              </a:rPr>
              <a:t>9장</a:t>
            </a:r>
            <a:r>
              <a:rPr sz="1050" b="0">
                <a:solidFill>
                  <a:srgbClr val="5E5A6B"/>
                </a:solidFill>
                <a:latin typeface="Malgun Gothic"/>
              </a:rPr>
              <a:t>     평균 가격  </a:t>
            </a:r>
            <a:r>
              <a:rPr sz="1200" b="1">
                <a:solidFill>
                  <a:srgbClr val="1A1822"/>
                </a:solidFill>
                <a:latin typeface="Arial"/>
              </a:rPr>
              <a:t>10.8</a:t>
            </a:r>
            <a:r>
              <a:rPr sz="1050" b="0">
                <a:solidFill>
                  <a:srgbClr val="5E5A6B"/>
                </a:solidFill>
                <a:latin typeface="Malgun Gothic"/>
              </a:rPr>
              <a:t>     평균 발동률  </a:t>
            </a:r>
            <a:r>
              <a:rPr sz="1200" b="1">
                <a:solidFill>
                  <a:srgbClr val="1A1822"/>
                </a:solidFill>
                <a:latin typeface="Arial"/>
              </a:rPr>
              <a:t>37.06%</a:t>
            </a:r>
            <a:r>
              <a:rPr sz="1050" b="0">
                <a:solidFill>
                  <a:srgbClr val="5E5A6B"/>
                </a:solidFill>
                <a:latin typeface="Malgun Gothic"/>
              </a:rPr>
              <a:t>     평균 다트 기여  </a:t>
            </a:r>
            <a:r>
              <a:rPr sz="1200" b="1">
                <a:solidFill>
                  <a:srgbClr val="B06E00"/>
                </a:solidFill>
                <a:latin typeface="Arial"/>
              </a:rPr>
              <a:t>10.87</a:t>
            </a:r>
            <a:r>
              <a:rPr sz="1050" b="0">
                <a:solidFill>
                  <a:srgbClr val="5E5A6B"/>
                </a:solidFill>
                <a:latin typeface="Malgun Gothic"/>
              </a:rPr>
              <a:t>     평균 골드당 기여  </a:t>
            </a:r>
            <a:r>
              <a:rPr sz="1200" b="1">
                <a:solidFill>
                  <a:srgbClr val="B06E00"/>
                </a:solidFill>
                <a:latin typeface="Arial"/>
              </a:rPr>
              <a:t>1.11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85800" y="6217920"/>
            <a:ext cx="9720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변덕쟁이(19.13)와 빈손(11.33)은 가격이 7 인데 기여가 희귀급이다. 값을 내리는 대신 등급만 올려 등장으로 잡았고, 그 예외는 표의 비고 칸에 "등급 예외" 로 적혀 있어야 검증기를 통과한다.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85800" y="3877056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822"/>
                </a:solidFill>
                <a:latin typeface="Malgun Gothic"/>
              </a:rPr>
              <a:t>희귀 아홉이 각각 여는 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5800" y="427939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B06E00"/>
                </a:solidFill>
                <a:latin typeface="Malgun Gothic"/>
              </a:rPr>
              <a:t>기본기 · 증폭기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685800" y="4507992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조건 없는 점수와 곱셈. 모든 빌드의 바닥을 올린다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4343400" y="427939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B06E00"/>
                </a:solidFill>
                <a:latin typeface="Malgun Gothic"/>
              </a:rPr>
              <a:t>변덕쟁이 · 빈손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43400" y="4507992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가격은 보통인데 기여가 희귀급. 등장으로 잡았다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001000" y="427939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B06E00"/>
                </a:solidFill>
                <a:latin typeface="Malgun Gothic"/>
              </a:rPr>
              <a:t>중물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001000" y="4507992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가운데 아홉 칸. 조준점을 옮기는 유일한 칩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85800" y="491947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B06E00"/>
                </a:solidFill>
                <a:latin typeface="Malgun Gothic"/>
              </a:rPr>
              <a:t>칼끝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685800" y="5148072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두 번째 곱셈 층. "좁은 판" 에 정면으로 맞는다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43400" y="491947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B06E00"/>
                </a:solidFill>
                <a:latin typeface="Malgun Gothic"/>
              </a:rPr>
              <a:t>정밀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343400" y="5148072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연속마다 자란다. 균등 조준에서 거의 안 걸린다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8001000" y="4919472"/>
            <a:ext cx="3383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B06E00"/>
                </a:solidFill>
                <a:latin typeface="Malgun Gothic"/>
              </a:rPr>
              <a:t>물주 · 큰손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8001000" y="5148072"/>
            <a:ext cx="33832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슬롯 하나를 수입에 건다. 득점을 깎고 골드를 받는다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23 / 50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3장 ·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골드 칩 다섯 — 슬롯 하나를 수입에 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득점 반쪽을 깎고 정산에서 골드를 받는다. 다섯 장 모두 같은 조건의 다른 칩보다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득점이 낮고, 그 차액이 골드의 가격이다.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86537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6537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조건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1865376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득점 반쪽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26280" y="1865376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골드 반쪽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66760" y="186537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가격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06840" y="186537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스프레드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21240" y="186537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1회 지급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85800" y="2103120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5800" y="223113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06E00"/>
                </a:solidFill>
                <a:latin typeface="Malgun Gothic"/>
              </a:rPr>
              <a:t>밑천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2231136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5 이하 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37560" y="2231136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0402A"/>
                </a:solidFill>
                <a:latin typeface="Malgun Gothic"/>
              </a:rPr>
              <a:t>배수 +2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2231136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정산 때 보유 골드 6 이하면 +4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23113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E5A6B"/>
                </a:solidFill>
                <a:latin typeface="Arial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40" y="223113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E5A6B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921240" y="223113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0402A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26151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06E00"/>
                </a:solidFill>
                <a:latin typeface="Malgun Gothic"/>
              </a:rPr>
              <a:t>판돈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2615184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첫 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2615184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F6FBF"/>
                </a:solidFill>
                <a:latin typeface="Malgun Gothic"/>
              </a:rPr>
              <a:t>점수 +26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2615184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남은 다트 1개당 골드 +1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2615184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26151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26151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29992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06E00"/>
                </a:solidFill>
                <a:latin typeface="Malgun Gothic"/>
              </a:rPr>
              <a:t>본전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299923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직전과 다른 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299923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F6FBF"/>
                </a:solidFill>
                <a:latin typeface="Malgun Gothic"/>
              </a:rPr>
              <a:t>점수 +12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2999232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한 발도 안 빗나가면 골드 +3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299923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29992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21240" y="29992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338327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06E00"/>
                </a:solidFill>
                <a:latin typeface="Malgun Gothic"/>
              </a:rPr>
              <a:t>큰손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3383279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트리플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337560" y="3383279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C0402A"/>
                </a:solidFill>
                <a:latin typeface="Malgun Gothic"/>
              </a:rPr>
              <a:t>배수 +3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3383279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남은 다트 3개 이상이면 골드 +9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3383279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E5A6B"/>
                </a:solidFill>
                <a:latin typeface="Arial"/>
              </a:rP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06840" y="338327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5E5A6B"/>
                </a:solidFill>
                <a:latin typeface="Arial"/>
              </a:rPr>
              <a:t>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921240" y="338327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C0402A"/>
                </a:solidFill>
                <a:latin typeface="Arial"/>
              </a:rP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85800" y="37673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B06E00"/>
                </a:solidFill>
                <a:latin typeface="Malgun Gothic"/>
              </a:rPr>
              <a:t>물주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600200" y="376732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무조건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37560" y="376732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F6FBF"/>
                </a:solidFill>
                <a:latin typeface="Malgun Gothic"/>
              </a:rPr>
              <a:t>점수 +16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26280" y="3767328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클리어 시 골드 +4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60" y="376732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11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006840" y="37673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921240" y="376732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424281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스프레드가 손익선이다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4608576"/>
            <a:ext cx="512064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스프레드 = 구매가 − 판매가. 한 정산만 빌려 쓰고 되파는 것이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이득이 되려면 1회 지급이 이 선을 넘어야 한다.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/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지금 넘는 것은 밑천(4 vs 2)과 큰손(9 vs 6) 둘이다.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둘 다 계속 들고 있는 쪽이 낫도록 조건을 좁혀 두었다.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09360" y="4242816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회수율은 단조가 아니라 V 자다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4608576"/>
            <a:ext cx="5212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판매가 = 구매가 ÷ 2 (내림) 이라 가격대마다 회수율이 다르다.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309360" y="4992624"/>
            <a:ext cx="1152144" cy="82296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09360" y="5120640"/>
            <a:ext cx="11521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B06E00"/>
                </a:solidFill>
                <a:latin typeface="Arial"/>
              </a:rPr>
              <a:t>50%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548640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4 → 2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607808" y="4992624"/>
            <a:ext cx="1152144" cy="82296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607808" y="5120640"/>
            <a:ext cx="11521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Arial"/>
              </a:rPr>
              <a:t>43%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607808" y="548640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7 → 3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906256" y="4992624"/>
            <a:ext cx="1152144" cy="82296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906256" y="5120640"/>
            <a:ext cx="11521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Arial"/>
              </a:rPr>
              <a:t>46%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906256" y="548640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11 → 5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10204704" y="4992624"/>
            <a:ext cx="1152144" cy="82296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204704" y="5120640"/>
            <a:ext cx="11521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B06E00"/>
                </a:solidFill>
                <a:latin typeface="Arial"/>
              </a:rPr>
              <a:t>50%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204704" y="5486400"/>
            <a:ext cx="115214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Arial"/>
              </a:rPr>
              <a:t>14 → 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09360" y="5943600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전체 평균 46.0%. "비쌀수록 팔면 손해" 가 최상위에서 끊긴다 —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정확히는 "되팔기를 전략에서 배제하는 수준" 이다.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24 / 50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3장 ·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수치는 재서 넣었다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조건이 넓고 값이 작은 칩과 좁고 큰 칩을 같은 자로 재기 위해,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실제 판정 함수에 36만 발을 통과시켜 칩마다 두 수를 뽑았다.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847087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B06E00"/>
                </a:solidFill>
                <a:latin typeface="Malgun Gothic"/>
              </a:rPr>
              <a:t>무엇을 쟀는가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21407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발동률 — 다트 한 발에서 그 칩의 조건이 걸릴 확률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다트당 기여 — 그 칩 한 장만 들었을 때 늘어나는 점수의 기대값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88335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B06E00"/>
                </a:solidFill>
                <a:latin typeface="Malgun Gothic"/>
              </a:rPr>
              <a:t>전제 셋 — 이게 바뀌면 표의 모든 수가 통째로 무의미해진다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962655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① 개조 없는 기본 판  ② 칩은 한 장만 든다(다른 칩과의 곱은 안 본다)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③ 조준은 게이지가 훑는 사각형 위 균등분포다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529583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B06E00"/>
                </a:solidFill>
                <a:latin typeface="Malgun Gothic"/>
              </a:rPr>
              <a:t>그래서 이 표는 상한도 하한도 아닌 기준선이다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803903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실제 사람은 가운데를 노린다. 중앙 조건(불 · 6~14)은 여기 값보다 더 자주 걸리고,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가장자리 조건(더블 · 링)은 덜 걸린다. 조준 모형을 표에 같이 적어 둔 이유다.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425695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가장 많이 버는 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773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22"/>
                </a:solidFill>
                <a:latin typeface="Malgun Gothic"/>
              </a:rPr>
              <a:t>기본기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77316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무조건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477316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점수 +25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7731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Arial"/>
              </a:rPr>
              <a:t>62.2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477316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22.31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12064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22"/>
                </a:solidFill>
                <a:latin typeface="Malgun Gothic"/>
              </a:rPr>
              <a:t>변덕쟁이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12064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직전과 다른 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80" y="512064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점수 +22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512064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Arial"/>
              </a:rPr>
              <a:t>60.7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49240" y="512064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19.13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4681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22"/>
                </a:solidFill>
                <a:latin typeface="Malgun Gothic"/>
              </a:rPr>
              <a:t>중물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0" y="546811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6~14 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546811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점수 +40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546811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Arial"/>
              </a:rPr>
              <a:t>27.4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49240" y="546811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15.82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4462271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Malgun Gothic"/>
              </a:rPr>
              <a:t>가장 적게 버는 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47731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22"/>
                </a:solidFill>
                <a:latin typeface="Malgun Gothic"/>
              </a:rPr>
              <a:t>막판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2360" y="4773168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막 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4773168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배수 ×2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424160" y="4773168"/>
            <a:ext cx="502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Arial"/>
              </a:rPr>
              <a:t>10.4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477316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1.60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120640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22"/>
                </a:solidFill>
                <a:latin typeface="Malgun Gothic"/>
              </a:rPr>
              <a:t>외골수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52360" y="512064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직전과 같은 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35440" y="5120640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배수 +4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5120640"/>
            <a:ext cx="502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Arial"/>
              </a:rPr>
              <a:t>1.6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512064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0.67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09360" y="546811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22"/>
                </a:solidFill>
                <a:latin typeface="Malgun Gothic"/>
              </a:rPr>
              <a:t>정밀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52360" y="5468112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연속 명중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35440" y="5468112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배수 +3/연속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24160" y="5468112"/>
            <a:ext cx="502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Arial"/>
              </a:rPr>
              <a:t>1.6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46811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0.52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925312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Malgun Gothic"/>
              </a:rPr>
              <a:t>정밀(0.52)과 기본기(22.31)는 43배 차이다. 이것은 밸런스가 깨진 것이 아니라 측정 모형의 한계다 — "연속 명중" 은 균등 조준이 같은 칸을 연달아 못 맞히기 때문에 거의 안 걸린다.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Malgun Gothic"/>
              </a:rPr>
              <a:t>한 섹터를 겨냥하는 실제 플레이에서는 값이 완전히 달라진다. 이 한계를 표 안에 적어 두고 조준 모형 열을 만들었다.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25 / 50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3장 ·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아이템 설계 공간 — 격자의 28% 만 찼다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조건 19 × 효과 4 = 76칸 중 21칸이 찼다. 어디가 비었는지 적어 두면 칩이 빈칸에서 나온다.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79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36775"/>
            <a:ext cx="10817352" cy="118872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7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822"/>
                </a:solidFill>
                <a:latin typeface="Malgun Gothic"/>
              </a:rPr>
              <a:t>곱셈 층이 세 장뿐이다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819655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0402A"/>
                </a:solidFill>
                <a:latin typeface="Malgun Gothic"/>
              </a:rPr>
              <a:t>높음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3055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chip 13 · mult 9 · xmult 3 · mult_streak 1. 빌드가 커지는 힘은 곱셈에서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나오는데 ×2 짜리 세 장(막판 · 칼끝 · 증폭기)이 전부다.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30552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3D394A"/>
                </a:solidFill>
                <a:latin typeface="Malgun Gothic"/>
              </a:rPr>
              <a:t>→ 조건 19종 중 곱셈이 붙은 것은 셋뿐이다. 좁은 조건에 곱셈을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3D394A"/>
                </a:solidFill>
                <a:latin typeface="Malgun Gothic"/>
              </a:rPr>
              <a:t>얹으면 조준의 정확도가 그대로 배율이 된다.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53511"/>
            <a:ext cx="10817352" cy="118872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18103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822"/>
                </a:solidFill>
                <a:latin typeface="Malgun Gothic"/>
              </a:rPr>
              <a:t>영구 성장이 하나도 없다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136391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0402A"/>
                </a:solidFill>
                <a:latin typeface="Malgun Gothic"/>
              </a:rPr>
              <a:t>높음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47287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라운드를 넘겨 누적되는 값이 없다. 정밀만 라운드 안에서 자랐다 꺼진다.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목표는 라운드마다 1.775배로 오르는데 칩 값은 여덟 판 내내 상수다.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47287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3D394A"/>
                </a:solidFill>
                <a:latin typeface="Malgun Gothic"/>
              </a:rPr>
              <a:t>→ 성장이 전부 "더 좋은 칩으로 갈아타기" 뿐이라 상점이 매번 독립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3D394A"/>
                </a:solidFill>
                <a:latin typeface="Malgun Gothic"/>
              </a:rPr>
              <a:t>구매가 된다. 누적 효과를 하나 만들면 "일찍 사서 굴린다" 가 생긴다.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70248"/>
            <a:ext cx="10817352" cy="118872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34840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822"/>
                </a:solidFill>
                <a:latin typeface="Malgun Gothic"/>
              </a:rPr>
              <a:t>안 읽는 입력이 여덟이다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45312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중간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764024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다트 종류 5 · 보드 개조 8 · 스테이지 제약 6 · 보유 골드 · 보유 칩 수 ·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라운드 번호 · 특정 칸 번호 — 전부 있는데 칩이 하나도 안 읽는다.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76402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3D394A"/>
                </a:solidFill>
                <a:latin typeface="Malgun Gothic"/>
              </a:rPr>
              <a:t>→ 어느 자루로 맞혔는지가 점수에 영향이 없다. 골드는 쓰는 것 말곤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3D394A"/>
                </a:solidFill>
                <a:latin typeface="Malgun Gothic"/>
              </a:rPr>
              <a:t>쓸모가 없어, 이자 상한(5)에 걸리면 남는 돈이 죽은 자원이 된다.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586983"/>
            <a:ext cx="10817352" cy="118872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751575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822"/>
                </a:solidFill>
                <a:latin typeface="Malgun Gothic"/>
              </a:rPr>
              <a:t>같은 값에 58배가 벌어져 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7698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0402A"/>
                </a:solidFill>
                <a:latin typeface="Malgun Gothic"/>
              </a:rPr>
              <a:t>높음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6080759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가격당 기여가 변덕쟁이 2.733 · 정밀 0.047 이다. 조건 19종 중 15종이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딱 한 장씩이라, 축이 있는 것이 아니라 표본이 하나씩 있는 셈이다.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6080759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3D394A"/>
                </a:solidFill>
                <a:latin typeface="Malgun Gothic"/>
              </a:rPr>
              <a:t>→ 죽은 축(같은 칸 · 연속)을 살리든 걷어내든 정해야 한다. 지금은 사면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3D394A"/>
                </a:solidFill>
                <a:latin typeface="Malgun Gothic"/>
              </a:rPr>
              <a:t>손해인 칩이 매대 넷 중 한 자리를 차지한다.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26 / 50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3장 ·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표가 스스로 잡는 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CSV 에는 컴파일이 없다. 오타 하나가 8라운드 중반의 조용한 미발동으로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나타나면 추적에 몇 시간이 든다. 그래서 부팅할 때 표 전체를 한 번 검사한다.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85800" y="1911095"/>
            <a:ext cx="146304" cy="146304"/>
          </a:xfrm>
          <a:prstGeom prst="ellipse">
            <a:avLst/>
          </a:prstGeom>
          <a:solidFill>
            <a:srgbClr val="C0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65376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Malgun Gothic"/>
              </a:rPr>
              <a:t>상위호환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157984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같은 효과인데 조건이 상대를 담고 값이 크고 가격이 싸면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그 상대는 영원히 안 팔린다. 포함관계를 전이폐포로 닫은 뒤 검사한다.</a:t>
            </a:r>
          </a:p>
        </p:txBody>
      </p:sp>
      <p:sp>
        <p:nvSpPr>
          <p:cNvPr id="9" name="Oval 8"/>
          <p:cNvSpPr/>
          <p:nvPr/>
        </p:nvSpPr>
        <p:spPr>
          <a:xfrm>
            <a:off x="6309360" y="1911095"/>
            <a:ext cx="146304" cy="146304"/>
          </a:xfrm>
          <a:prstGeom prst="ellipse">
            <a:avLst/>
          </a:prstGeom>
          <a:solidFill>
            <a:srgbClr val="B0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65376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Malgun Gothic"/>
              </a:rPr>
              <a:t>완전분할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57984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왼쪽·오른쪽처럼 판을 나누는 짝을 한 효과로 다 덮으면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조건이 사라진다. 두 장을 같이 사면 조건 없는 카드가 된다.</a:t>
            </a:r>
          </a:p>
        </p:txBody>
      </p:sp>
      <p:sp>
        <p:nvSpPr>
          <p:cNvPr id="12" name="Oval 11"/>
          <p:cNvSpPr/>
          <p:nvPr/>
        </p:nvSpPr>
        <p:spPr>
          <a:xfrm>
            <a:off x="685800" y="3063239"/>
            <a:ext cx="146304" cy="146304"/>
          </a:xfrm>
          <a:prstGeom prst="ellipse">
            <a:avLst/>
          </a:prstGeom>
          <a:solidFill>
            <a:srgbClr val="1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01752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Malgun Gothic"/>
              </a:rPr>
              <a:t>죽은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310127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어떤 칩도 안 쓰는 조건이 몇 개인지 센다.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손으로 적은 숫자는 커밋 한 번에 낡는다.</a:t>
            </a:r>
          </a:p>
        </p:txBody>
      </p:sp>
      <p:sp>
        <p:nvSpPr>
          <p:cNvPr id="15" name="Oval 14"/>
          <p:cNvSpPr/>
          <p:nvPr/>
        </p:nvSpPr>
        <p:spPr>
          <a:xfrm>
            <a:off x="6309360" y="3063239"/>
            <a:ext cx="146304" cy="146304"/>
          </a:xfrm>
          <a:prstGeom prst="ellipse">
            <a:avLst/>
          </a:prstGeom>
          <a:solidFill>
            <a:srgbClr val="2E7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017520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Malgun Gothic"/>
              </a:rPr>
              <a:t>참조 무결성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310127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등장 표의 칩 id, 개조의 배타 짝, 스테이지 id 가 실재하는가.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배타는 대칭이어야 한다 — 한쪽만 적으면 사는 순서가 결과를 바꾼다.</a:t>
            </a:r>
          </a:p>
        </p:txBody>
      </p:sp>
      <p:sp>
        <p:nvSpPr>
          <p:cNvPr id="18" name="Oval 17"/>
          <p:cNvSpPr/>
          <p:nvPr/>
        </p:nvSpPr>
        <p:spPr>
          <a:xfrm>
            <a:off x="685800" y="4215384"/>
            <a:ext cx="146304" cy="146304"/>
          </a:xfrm>
          <a:prstGeom prst="ellipse">
            <a:avLst/>
          </a:prstGeom>
          <a:solidFill>
            <a:srgbClr val="5E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69664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Malgun Gothic"/>
              </a:rPr>
              <a:t>범위와 형식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46227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값이 0 이하인가, 참거짓 칸에 1/0 이 아닌 것이 들었는가,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"3.5" 를 정수로 읽어 3 이 되지 않는가.</a:t>
            </a:r>
          </a:p>
        </p:txBody>
      </p:sp>
      <p:sp>
        <p:nvSpPr>
          <p:cNvPr id="21" name="Oval 20"/>
          <p:cNvSpPr/>
          <p:nvPr/>
        </p:nvSpPr>
        <p:spPr>
          <a:xfrm>
            <a:off x="6309360" y="4215384"/>
            <a:ext cx="146304" cy="146304"/>
          </a:xfrm>
          <a:prstGeom prst="ellipse">
            <a:avLst/>
          </a:prstGeom>
          <a:solidFill>
            <a:srgbClr val="5E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169664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Malgun Gothic"/>
              </a:rPr>
              <a:t>표시 문장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462272"/>
            <a:ext cx="4937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desc 의 중괄호가 실제 열 이름과 맞는가.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안 맞으면 화면에 중괄호가 그대로 나간다.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5431536"/>
            <a:ext cx="10817352" cy="932688"/>
          </a:xfrm>
          <a:prstGeom prst="roundRect">
            <a:avLst>
              <a:gd name="adj" fmla="val 3000"/>
            </a:avLst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8408" y="5614416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검증은 첫 오류에서 안 멈춘다. 전부 모아 한 번에 뱉는다 — 한 줄 고치고 다시 켜는 것보다 빠르다.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검사만 하는 진입점이 따로 있어 오류 개수를 종료 코드로 낸다. 지금은 오류 0, 경고 2(둘 다 의도된 완전분할 짝).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27 / 50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3장 ·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희귀가 뜻을 갖게 하는 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전에는 매대가 균등 추첨이라 14골드 희귀가 4골드 흔함과 같은 확률로 떴다.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"희귀" 라는 말이 게임 안에서 아무 뜻이 없었다는 뜻이다.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865376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Malgun Gothic"/>
              </a:rPr>
              <a:t>등급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86537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Malgun Gothic"/>
              </a:rPr>
              <a:t>가중치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186537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Malgun Gothic"/>
              </a:rPr>
              <a:t>해금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2103120"/>
            <a:ext cx="3017520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2231136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E5A6B"/>
                </a:solidFill>
                <a:latin typeface="Malgun Gothic"/>
              </a:rPr>
              <a:t>흔함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223113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1.00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223113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R2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2596896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BF"/>
                </a:solidFill>
                <a:latin typeface="Malgun Gothic"/>
              </a:rPr>
              <a:t>보통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59689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0.55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259689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R2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2962656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Malgun Gothic"/>
              </a:rPr>
              <a:t>희귀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74519" y="296265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0.22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88920" y="296265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R4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511296"/>
            <a:ext cx="48463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가중치는 상대값이다. 합으로 나눠 확률이 된다.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해금은 그 라운드 상점부터 후보가 된다는 뜻이고,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최소가 R2 인 것은 R1 앞에 상점이 없기 때문이다.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1865376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이 표가 만드는 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2231136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값비싼 물건이 귀해진다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73952" y="2523744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희귀 가중치 0.22 는 흔함의 1/4.5 다. 매대에 희귀가 둘 같이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뜨는 일이 드물어져 "무엇을 포기할까" 가 성립한다.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200400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초반에 판이 끝나지 않는다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3952" y="3493008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증폭기(배수 ×2 · 14골드)는 R5 해금이다. R2 에 뜨면 앞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네 라운드가 통째로 무의미해지기 때문이다.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169664"/>
            <a:ext cx="52120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매대가 마르지 않는다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4462272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라운드마다 뜰 수 있는 칩 수가 매대 폭 + 슬롯보다 넉넉한지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검증기가 센다. 마르면 리롤이 같은 물건을 다시 뱉는다.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6217920"/>
            <a:ext cx="9720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가중치의 출처는 등급 표 한 장뿐이다. 칩마다 개별 가중치를 적을 칸도 있지만 비워 두는 것이 기본이고, 지금은 한 장도 안 쓴다 — 예외가 늘면 등급이 다시 뜻을 잃는다.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28 / 50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3장 ·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개조 — 판이 읽는 값을 바꾼다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칩이 판정 결과를 읽는다면, 개조는 판정이 읽는 값 자체를 바꾼다.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그래서 개조 하나를 사면 칩 26종의 값어치가 전부 조금씩 움직인다.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847087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06E00"/>
                </a:solidFill>
                <a:latin typeface="Malgun Gothic"/>
              </a:rPr>
              <a:t>슬롯을 안 먹는다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39695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칩과 달리 소지 한도가 없다. 대신 판값이 기본 판의 1.50배를 넘기는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개조는 매대에 아예 안 뜬다 — 슬롯 자리를 판값 상한이 대신한다.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16351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06E00"/>
                </a:solidFill>
                <a:latin typeface="Malgun Gothic"/>
              </a:rPr>
              <a:t>한 종류는 런에 한 번만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108959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누적 구매가 없으므로 누적 상한도 없다. 예전에 있던 띠 폭 상한 세 개를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지운 것이 그래서다 — 잡을 것이 없는 상한은 다음 사람에게 거짓 전제를 준다.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85615"/>
            <a:ext cx="1060704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06E00"/>
                </a:solidFill>
                <a:latin typeface="Malgun Gothic"/>
              </a:rPr>
              <a:t>판은 저장하지 않는다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078224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살 때마다 기본 판에서 표 순서대로 다시 굽는다. 그래서 "사는 순서가 판을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바꾸는가" 라는 물음이 성립하지 않는다. 증명이 아니라 구성이다.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09743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효과 축 일곱 — 표를 늘려도 코드가 안 느는 단위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5193792"/>
            <a:ext cx="1417320" cy="786384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5321807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Arial"/>
              </a:rPr>
              <a:t>band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" y="557784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링 폭 주고받기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5193792"/>
            <a:ext cx="1417320" cy="786384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40280" y="5321807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Arial"/>
              </a:rPr>
              <a:t>slide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95144" y="557784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트리플 띠 이동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94760" y="5193792"/>
            <a:ext cx="1417320" cy="786384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94760" y="5321807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Arial"/>
              </a:rPr>
              <a:t>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9624" y="557784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트리플 띠 추가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349240" y="5193792"/>
            <a:ext cx="1417320" cy="786384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349240" y="5321807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Arial"/>
              </a:rPr>
              <a:t>bull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04103" y="557784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불 이중 구조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03720" y="5193792"/>
            <a:ext cx="1417320" cy="786384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03720" y="5321807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Arial"/>
              </a:rPr>
              <a:t>out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58583" y="557784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판 바깥 경계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458200" y="5193792"/>
            <a:ext cx="1417320" cy="786384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5321807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Arial"/>
              </a:rPr>
              <a:t>swap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13064" y="557784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작은 칸 올리기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012680" y="5193792"/>
            <a:ext cx="1417320" cy="786384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12680" y="5321807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Arial"/>
              </a:rPr>
              <a:t>odd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067544" y="5577840"/>
            <a:ext cx="130759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짝수 칸 내리기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6144767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Malgun Gothic"/>
              </a:rPr>
              <a:t>축 하나가 판정 코드의 분기 하나와 1:1 로 대응한다. 같은 축을 쓰는 행을 늘리면 코드가 0줄 늘고,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Malgun Gothic"/>
              </a:rPr>
              <a:t>새 축을 만들면 표 한 줄과 코드 한 가지가 같이 는다. 그 둘이 데이터와 로직이 닿는 접점 전부다.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29 / 50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3장 ·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보드 개조 여덟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060704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37160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개조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37160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14600" y="1371600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효과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137160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가격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79" y="1371600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배타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78040" y="1371600"/>
            <a:ext cx="4297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왜 이 값인가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85800" y="1591056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85800" y="1719072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22"/>
                </a:solidFill>
                <a:latin typeface="Malgun Gothic"/>
              </a:rPr>
              <a:t>속살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171907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90A1"/>
                </a:solidFill>
                <a:latin typeface="Arial"/>
              </a:rPr>
              <a:t>band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171907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트리플 띠 +0.06 · 더블 띠 −0.06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06440" y="171907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79" y="17190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겉살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78040" y="1700784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합이 0 이라 판값이 거의 안 움직인다 — 값이 아니라 취향을 파는 카드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85800" y="2121408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85800" y="2267712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22"/>
                </a:solidFill>
                <a:latin typeface="Malgun Gothic"/>
              </a:rPr>
              <a:t>겉살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226771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90A1"/>
                </a:solidFill>
                <a:latin typeface="Arial"/>
              </a:rPr>
              <a:t>band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4600" y="226771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트리플 띠 −0.06 · 더블 띠 +0.06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226771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79" y="226771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속살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249424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속살의 정확한 역방향이라 배타로 묶었다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685800" y="2670048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85800" y="2816352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22"/>
                </a:solidFill>
                <a:latin typeface="Malgun Gothic"/>
              </a:rPr>
              <a:t>벼랑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281635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90A1"/>
                </a:solidFill>
                <a:latin typeface="Arial"/>
              </a:rPr>
              <a:t>slide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14600" y="281635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트리플 띠가 더블 안쪽 0.03 자리로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281635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55079" y="281635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78040" y="2798064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절대 좌표가 아니라 간격이다. 트리플과 더블을 한 조준선에 올린다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85800" y="3218688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85800" y="3364992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22"/>
                </a:solidFill>
                <a:latin typeface="Malgun Gothic"/>
              </a:rPr>
              <a:t>아랫목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37360" y="336499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90A1"/>
                </a:solidFill>
                <a:latin typeface="Arial"/>
              </a:rPr>
              <a:t>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514600" y="336499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안쪽에 트리플 띠 하나 더 (0.38~0.46)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806440" y="336499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79" y="336499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178040" y="3346704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판정의 죽은 땅에만 얹혀 기존 네 조건식을 한 글자도 안 건드린다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685800" y="3767328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85800" y="3913632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22"/>
                </a:solidFill>
                <a:latin typeface="Malgun Gothic"/>
              </a:rPr>
              <a:t>멍석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737360" y="391363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90A1"/>
                </a:solidFill>
                <a:latin typeface="Arial"/>
              </a:rPr>
              <a:t>bull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514600" y="391363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한복판 0.04 · 불 0.20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6440" y="391363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79" y="391363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78040" y="3895344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한복판을 줄이고 불을 넓힌다. "명중왕" 의 조건이 여섯 배로 넓어진다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85800" y="4315968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85800" y="4462272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22"/>
                </a:solidFill>
                <a:latin typeface="Malgun Gothic"/>
              </a:rPr>
              <a:t>판벌이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737360" y="446227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90A1"/>
                </a:solidFill>
                <a:latin typeface="Arial"/>
              </a:rPr>
              <a:t>out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14600" y="446227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판이 1.10배로 커진다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806440" y="446227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12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5079" y="446227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4443984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빗나감 37.68% → 24.60%. "빈손" 과 정면으로 부딪히는 유일한 개조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685800" y="4864607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685800" y="5010912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22"/>
                </a:solidFill>
                <a:latin typeface="Malgun Gothic"/>
              </a:rPr>
              <a:t>판갈이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737360" y="501091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90A1"/>
                </a:solidFill>
                <a:latin typeface="Arial"/>
              </a:rPr>
              <a:t>swap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14600" y="5010912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가장 작은 세 칸이 20이 된다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806440" y="501091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55079" y="5010912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—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178040" y="4992624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판벌이와 함께 사면 판값 상한에 걸려 매대에 안 뜬다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685800" y="5413247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685800" y="5559551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22"/>
                </a:solidFill>
                <a:latin typeface="Malgun Gothic"/>
              </a:rPr>
              <a:t>짝패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737360" y="5559551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90A1"/>
                </a:solidFill>
                <a:latin typeface="Arial"/>
              </a:rPr>
              <a:t>odd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514600" y="5559551"/>
            <a:ext cx="3291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칸마다 짝이 생긴다 · 짝수 칸 −1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06440" y="5559551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6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355079" y="5559551"/>
            <a:ext cx="685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—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78040" y="5541264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홀수 애호와 짝수 애호의 값 차이를 벌린다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85800" y="5961887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85800" y="6217920"/>
            <a:ext cx="9720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효과 문장은 표에 수치를 박지 않고 자리표시자로만 담는다. 값을 고치면 문장이 따라 바뀌므로 표가 거짓말을 할 수 없다.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30 / 50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3장 ·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판이 성립하기 위한 조건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개조가 자유롭게 판을 바꾸면 판정의 if 사슬이 전제하는 순서가 깨진다.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그 순서 자체가 규칙이고, 판을 굽는 매 단계마다 검사한다.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865376"/>
            <a:ext cx="10817352" cy="877824"/>
          </a:xfrm>
          <a:prstGeom prst="roundRect">
            <a:avLst>
              <a:gd name="adj" fmla="val 3000"/>
            </a:avLst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084831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A1822"/>
                </a:solidFill>
                <a:latin typeface="Malgun Gothic"/>
              </a:rPr>
              <a:t>한복판 ≤ 불 &lt; 둘째 트리플 안 &lt; 둘째 트리플 밖 &lt; 트리플 안 &lt; 트리플 밖 &lt; 더블 안 &lt; 판의 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14015"/>
            <a:ext cx="10817352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이 부등식을 통과해야 칩 50 · 칩 25 · 배수 3 · 배수 2 판정이 안 깨진다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962656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최소 폭 여섯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46703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한복판 최소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0" y="3346703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0.02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3346703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657599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불 띠 최소 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657599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0.02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657599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0 이면 25칸이 사라진다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968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불 최소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3968496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0.08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39684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27939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트리플 안쪽 최소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80360" y="4279392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0.30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4279392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>띠가 한복판까지 기어들지 않게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459028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링 최소 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80360" y="4590288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0.02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459028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901183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Malgun Gothic"/>
              </a:rPr>
              <a:t>띠 사이 단색 최소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80360" y="4901183"/>
            <a:ext cx="6400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0.03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0" y="4901183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5E5A6B"/>
                </a:solidFill>
                <a:latin typeface="Malgun Gothic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2962656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판값 상한 — 슬롯을 대신하는 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346703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4747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A1822"/>
                </a:solidFill>
                <a:latin typeface="Arial"/>
              </a:rPr>
              <a:t>15.43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3877056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기본 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06840" y="3346703"/>
            <a:ext cx="2468880" cy="82296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06840" y="34747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B06E00"/>
                </a:solidFill>
                <a:latin typeface="Arial"/>
              </a:rPr>
              <a:t>23.15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3877056"/>
            <a:ext cx="2468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상한 (×1.50)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352544"/>
            <a:ext cx="521208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판값은 균등 조준 다트당 기대 점수를 면적 적분으로 낸 수다.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개조 여덟 중 두 장 조합 스물여덟 가지(배타 짝 포함) 가운데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상한에 걸려 막히는 것은 판벌이 + 판갈이 하나뿐이다.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266944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Malgun Gothic"/>
              </a:rPr>
              <a:t>둘 다 빌드를 안 가리는 카드라 함께 사면 "무엇을 들었든 좋은 판" 이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Malgun Gothic"/>
              </a:rPr>
              <a:t>된다. 조합을 막는 규칙이 정확히 그 한 자리에서만 보인다.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6217920"/>
            <a:ext cx="9720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칸 값은 20을 절대 못 넘긴다. 판정이 25 이상을 불로 읽기 때문에, 25짜리 칸이 생기면 그냥 칸이 불로 판정되고 "명중왕" 과 홀짝 조건이 한꺼번에 죽는다.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31 / 50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3장 ·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다트 다섯 — 던지는 감각을 바꾼다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탄창 여섯 발을 어떤 자루로 채울지가 세 번째 성장 축이다.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한 발마다 어느 자루를 쓸지 고르므로, 구성 자체가 순서 설계가 된다.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865376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다트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86537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게이지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865376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배수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1865376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특성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186537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가격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865376"/>
            <a:ext cx="5303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설계 의도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5800" y="208483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85800" y="2231136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5E5A6B"/>
                </a:solidFill>
                <a:latin typeface="Malgun Gothic"/>
              </a:rPr>
              <a:t>표준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2231136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Arial"/>
              </a:rPr>
              <a:t>1.00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14600" y="2231136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231136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231136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Arial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212848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기준선. 상점에 안 뜬다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85800" y="2651760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85800" y="2798064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1F6FBF"/>
                </a:solidFill>
                <a:latin typeface="Malgun Gothic"/>
              </a:rPr>
              <a:t>무거운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279806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Arial"/>
              </a:rPr>
              <a:t>0.55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2798064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배수 −1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2798064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49240" y="2798064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Arial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2779776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조준선이 0.55배로 느려진다. 맞히기 쉬운 대가로 배수를 깎으므로 점수형 칩과 짝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85800" y="3218688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85800" y="3364992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C0402A"/>
                </a:solidFill>
                <a:latin typeface="Malgun Gothic"/>
              </a:rPr>
              <a:t>가벼운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37360" y="3364992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Arial"/>
              </a:rPr>
              <a:t>1.90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3364992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배수 +3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0" y="3364992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49240" y="3364992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Arial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346704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맞히기 어려운 대신 배수가 셋 는다. 자석과 같이 들면 위험이 사라진다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85800" y="3785615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5800" y="3931920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B06E00"/>
                </a:solidFill>
                <a:latin typeface="Malgun Gothic"/>
              </a:rPr>
              <a:t>관통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3931920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Arial"/>
              </a:rPr>
              <a:t>1.00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14600" y="3931920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배수 고정 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0" y="3931920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양옆 칸 0.5배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3931920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Arial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3913632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배수를 1로 못박아 트리플·더블·링 조건 칩이 전부 죽는다. 칸 값 빌드 전용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85800" y="4352544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85800" y="4498848"/>
            <a:ext cx="1051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2E7D3C"/>
                </a:solidFill>
                <a:latin typeface="Malgun Gothic"/>
              </a:rPr>
              <a:t>자석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737360" y="4498848"/>
            <a:ext cx="7772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Arial"/>
              </a:rPr>
              <a:t>1.00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514600" y="4498848"/>
            <a:ext cx="11430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배수 −1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4498848"/>
            <a:ext cx="1691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중심으로 0.25 당김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49240" y="4498848"/>
            <a:ext cx="548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50" b="0">
                <a:solidFill>
                  <a:srgbClr val="5E5A6B"/>
                </a:solidFill>
                <a:latin typeface="Arial"/>
              </a:rPr>
              <a:t>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72200" y="4480560"/>
            <a:ext cx="5303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유효 명중 반지름이 넓어져 빗나감이 37.68% → 5.52% 가 된다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85800" y="4919472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685800" y="5193792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822"/>
                </a:solidFill>
                <a:latin typeface="Malgun Gothic"/>
              </a:rPr>
              <a:t>무겁고 가벼움이 만드는 저울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" y="5522976"/>
            <a:ext cx="10817352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무거운 다트는 게이지 속도를 0.55배로 낮춘다 — 조준선이 초당 333px 에서 183px 로 느려져 트리플 띠(폭 10.6px)에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걸기가 훨씬 쉬워진다. 대신 배수가 하나 깎이므로 트리플에 넣어도 3 이 아니라 2 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가벼운 다트는 정확히 반대다 — 초당 633px 로 훑는 대신 트리플에 걸면 배수가 6 이 된다.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32 / 50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3장 ·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탄창 — 벽에 꽂힌 여섯 자루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남은 다트를 목록이 아니라 물건으로 보여준다. 라운드가 시작되면 오른쪽에서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날아와 벽에 꽂히고, 던진 것만 사라진다.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01951"/>
            <a:ext cx="6766560" cy="380619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863840" y="1901951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자루마다 각도가 다르다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0144" y="2176271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수평을 0도로 두고 ±5도 안에서 흔들고, 꽂힌 깊이와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위아래 어긋남도 자루마다 다르다. 값은 칸 번호로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고정돼 있어 프레임마다 떨리지 않는다.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0" y="2834639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줄어들 때 미끄러지지 않는다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10144" y="3108959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자루가 빠져도 남은 것이 자리를 다시 맞추지 않는다.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가운데로 모이면 벽에 꽂힌 것으로 안 보이기 때문이다 —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한 칸이 비는 것이 맞다.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767327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고른 뒤에도 바꿀 수 있다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10144" y="4041647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고르는 순간에는 뽑아 든 것으로만 표시하고, 벽에서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실제로 빠지는 것은 던지는 순간이다. 조준 중에도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다른 자루로 갈아탈 수 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4700015"/>
            <a:ext cx="40233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전부 같은 종류면 건너뛴다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0144" y="4974335"/>
            <a:ext cx="3931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고를 것이 없으면 고르는 단계가 아예 안 뜬다.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표준만 든 첫 런에서는 이 화면을 한 번도 못 본다.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17920"/>
            <a:ext cx="9720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처음에는 손이 부채처럼 다트를 펼쳐 드는 안을 만들었다가 버렸다. 640×360 에서 손은 어떤 각도로 그려도 살구색 덩어리로 읽혔고, 그림이 안 되는 것을 설명으로 메우는 것은 UI 가 아니다.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33 / 50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3장 · 시스템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매 라운드 제약 하나를 안고 던진다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셋 중 하나를 반드시 고른다. 스킵이 없어서 여덟 번의 선택이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그 런의 성격이 된다.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t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01951"/>
            <a:ext cx="4846320" cy="272605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85800" y="4700016"/>
            <a:ext cx="48463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라운드마다 제약 카드 셋 중 하나 — 스킵은 없다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7880" y="1901952"/>
            <a:ext cx="57607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제약 여섯 — 조준을 때리는 것과 빌드를 때리는 것이 반씩이다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97880" y="223113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제약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23113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대상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79792" y="223113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효과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97112" y="223113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B06E00"/>
                </a:solidFill>
                <a:latin typeface="Malgun Gothic"/>
              </a:rPr>
              <a:t>설계 의도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897880" y="2432304"/>
            <a:ext cx="5760720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897880" y="254203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0402A"/>
                </a:solidFill>
                <a:latin typeface="Malgun Gothic"/>
              </a:rPr>
              <a:t>좁은 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2542032"/>
            <a:ext cx="6217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빌드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79792" y="254203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링 폭 절반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97112" y="254203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링 조건 넉 장을 한꺼번에 반토막 낸다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897880" y="2848356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BF"/>
                </a:solidFill>
                <a:latin typeface="Malgun Gothic"/>
              </a:rPr>
              <a:t>역풍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2848356"/>
            <a:ext cx="6217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조준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79792" y="284835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게이지 2배 속도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97112" y="2848356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무거운 다트가 정확히 이것을 되돌린다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97880" y="3154680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BF"/>
                </a:solidFill>
                <a:latin typeface="Malgun Gothic"/>
              </a:rPr>
              <a:t>안개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0" y="3154680"/>
            <a:ext cx="6217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조준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79792" y="315468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확인 구간 없음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7112" y="3154680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두 축을 잠근 뒤 바로 날아간다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897880" y="3461004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Malgun Gothic"/>
              </a:rPr>
              <a:t>단벌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3461004"/>
            <a:ext cx="6217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둘 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79792" y="3461004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다트 1개 감소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7112" y="3461004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남은 다트로 골드를 버는 칩과 부딪친다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7880" y="3767328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0402A"/>
                </a:solidFill>
                <a:latin typeface="Malgun Gothic"/>
              </a:rPr>
              <a:t>금지 구역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858000" y="3767328"/>
            <a:ext cx="6217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빌드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479792" y="3767328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지정 칸 점수 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7112" y="3767328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판에서 가장 큰 칸이 죽는다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897880" y="407365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C0402A"/>
                </a:solidFill>
                <a:latin typeface="Malgun Gothic"/>
              </a:rPr>
              <a:t>둔화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58000" y="4073652"/>
            <a:ext cx="6217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빌드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479792" y="4073652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칩 1장 봉인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97112" y="4073652"/>
            <a:ext cx="27432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가진 칩이 없으면 공짜다 — R1~R2 의 구멍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85800" y="4846320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같은 축의 제약이 둘 걸리면 하나가 조용히 묻힌다.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지금은 라운드마다 하나만 걸리므로 그 일이 없다 —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둘 이상을 걸게 되면 축 열로 뽑기를 막아야 한다.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34 / 50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4장 · 밸런스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상점 — 자리가 정확히 넷이다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라운드를 클리어하면 매물 넷이 테이블 위로 떨어진다.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칩 둘 · 개조 하나 · 다트 하나이고, 이 합이 4가 아니게 되면 배치가 깨진다.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sho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01951"/>
            <a:ext cx="6583680" cy="3703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80960" y="1901951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무엇이 뜨는가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27264" y="2176271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칩 2 · 개조 1 · 다트 1. 개조가 동나거나 판이 더는 못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받으면 그 자리를 칩으로 메운다 — 자리는 늘 넷이다.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798063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무효 구매를 뺀다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3072383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판이 못 받는 개조와 이미 산 개조는 매대에 아예 안 뜬다.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"살 수 있는데 사면 안 되는 것" 을 만들지 않는다.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0" y="3694175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리롤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27264" y="3968495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방문마다 한 번은 무료다. 그 뒤로 2골드에서 시작해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쓸 때마다 1씩 오른다. 리롤은 배치까지 다시 던진다.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0" y="4590288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A1822"/>
                </a:solidFill>
                <a:latin typeface="Malgun Gothic"/>
              </a:rPr>
              <a:t>되팔기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27264" y="4864607"/>
            <a:ext cx="374903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랙의 칩을 왼쪽 창구로 밀면 판다. 구매가 절반(내림)이라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평균 46% 만 돌아온다.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6217920"/>
            <a:ext cx="9720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매물이 고정 진열대에 놓이지 않는다. 먼 레일 뒤에서 던져져 펠트에 튕기고 서로 부딪히며 매번 다른 자리에 정착한다 — 진열대가 아니라 물건이 놓인 판이다.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35 / 50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4장 · 밸런스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끌어서 옮기고, 밀어서 산다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창구가 좌우로 둘이다. 왼쪽 끝에 밀면 판매, 오른쪽 끝에 밀면 구매 —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방향이 곧 뜻이라 라벨을 안 읽어도 된다.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865376"/>
            <a:ext cx="10817352" cy="109728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029968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06E00"/>
                </a:solidFill>
                <a:latin typeface="Malgun Gothic"/>
              </a:rPr>
              <a:t>물리로 굴러 들어가는 것이 불가능하다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340864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창구는 펠트 사다리꼴의 좌우 빗변 바깥이다. 물리 트레이가 닿을 수 있는 자리와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빗변 사이에 최소 120px 의 여백이 있어(2000롤 실측), 손으로 밀어 넣지 않는 한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어떤 물건도 거기 도달하지 못한다. 실수 매매가 부등식으로 불가능하다.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90672"/>
            <a:ext cx="10817352" cy="109728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3255264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BF"/>
                </a:solidFill>
                <a:latin typeface="Malgun Gothic"/>
              </a:rPr>
              <a:t>못 사는 이유를 누르기 전에 말한다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56616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골드 부족 · 랙 만석 · 바꿀 표준 다트 없음. 툴팁이 먼저 알려 주므로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헛클릭이 사라진다. 거절은 소리와 섬광이 같은 박자로 돌아온다.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315968"/>
            <a:ext cx="10817352" cy="109728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4480559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3C"/>
                </a:solidFill>
                <a:latin typeface="Malgun Gothic"/>
              </a:rPr>
              <a:t>던지면 관성으로 미끄러진다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4791456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살며시 놓으면 그 자리에 서고, 후려치면 42px 를 0.4초에 걸쳐 미끄러져 멈춘다.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가는 길에 다른 물건을 밀치면 그쪽도 밀린다. 물건을 다루는 손맛이 배치를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고르는 일에 붙어 있어야 테이블이 진열대로 안 읽힌다.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596127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Malgun Gothic"/>
              </a:rPr>
              <a:t>두 갈래 구매가 한 점에서 만난다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907024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드래그로도 사고 두 번 클릭으로도 산다. 두 경로가 마지막 한 함수에서 만나므로 "끌어서 산 것" 과 "눌러서 산 것" 이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다르게 처리될 길이 없다. 마우스를 못 쓰는 상황을 위해 클릭 경로를 남겨 둔 것이지 두 벌의 규칙이 있는 것이 아니다.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36 / 50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4장 · 밸런스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골드는 네 갈래로 들어오고, 전부 유인이 붙어 있다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060704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85800" y="1371600"/>
            <a:ext cx="10817352" cy="603504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96696" y="154533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클리어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563624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BF"/>
                </a:solidFill>
                <a:latin typeface="Arial"/>
              </a:rPr>
              <a:t>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1572768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기본 보상 — 넘기기만 하면 받는다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48256"/>
            <a:ext cx="10817352" cy="603504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6696" y="22219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남은 다트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240280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Arial"/>
              </a:rPr>
              <a:t>1 / 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51960" y="2249424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적은 발로 끝내라. 넘긴 순간 라운드가 끝나므로 과잉 조준이 손해가 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2724912"/>
            <a:ext cx="10817352" cy="603504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96696" y="289864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이자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2916936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E7D3C"/>
                </a:solidFill>
                <a:latin typeface="Arial"/>
              </a:rPr>
              <a:t>보유 5당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51960" y="2926080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모아 둬라. 상한 5 — 저축과 즉시 구매가 저울에 오른다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401568"/>
            <a:ext cx="10817352" cy="603504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96696" y="357530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골드 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3593592"/>
            <a:ext cx="137160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0402A"/>
                </a:solidFill>
                <a:latin typeface="Arial"/>
              </a:rPr>
              <a:t>정산 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51960" y="3602736"/>
            <a:ext cx="7498079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슬롯 하나를 수입에 걸어라. 다섯 종이고 골드는 정산에서만 나온다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169664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822"/>
                </a:solidFill>
                <a:latin typeface="Malgun Gothic"/>
              </a:rPr>
              <a:t>한 런이 버는 자금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107527"/>
            <a:ext cx="530352" cy="159416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5312664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E5A6B"/>
                </a:solidFill>
                <a:latin typeface="Malgun Gothic"/>
              </a:rPr>
              <a:t>시작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4906359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822"/>
                </a:solidFill>
                <a:latin typeface="Arial"/>
              </a:rP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25880" y="5057839"/>
            <a:ext cx="530352" cy="209104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25880" y="5312664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E5A6B"/>
                </a:solidFill>
                <a:latin typeface="Malgun Gothic"/>
              </a:rPr>
              <a:t>R1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4856671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822"/>
                </a:solidFill>
                <a:latin typeface="Arial"/>
              </a:rPr>
              <a:t>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965960" y="4995729"/>
            <a:ext cx="530352" cy="271214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65960" y="5312664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E5A6B"/>
                </a:solidFill>
                <a:latin typeface="Malgun Gothic"/>
              </a:rPr>
              <a:t>R2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965960" y="4794561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822"/>
                </a:solidFill>
                <a:latin typeface="Arial"/>
              </a:rPr>
              <a:t>13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606039" y="4921197"/>
            <a:ext cx="530352" cy="345746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606039" y="5312664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E5A6B"/>
                </a:solidFill>
                <a:latin typeface="Malgun Gothic"/>
              </a:rPr>
              <a:t>R3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39" y="4720029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822"/>
                </a:solidFill>
                <a:latin typeface="Arial"/>
              </a:rPr>
              <a:t>19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246120" y="4834243"/>
            <a:ext cx="530352" cy="43270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46120" y="5312664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E5A6B"/>
                </a:solidFill>
                <a:latin typeface="Malgun Gothic"/>
              </a:rPr>
              <a:t>R4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246120" y="4633075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822"/>
                </a:solidFill>
                <a:latin typeface="Arial"/>
              </a:rPr>
              <a:t>26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886200" y="4722444"/>
            <a:ext cx="530352" cy="544499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886200" y="5312664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E5A6B"/>
                </a:solidFill>
                <a:latin typeface="Malgun Gothic"/>
              </a:rPr>
              <a:t>R5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6200" y="4521276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822"/>
                </a:solidFill>
                <a:latin typeface="Arial"/>
              </a:rPr>
              <a:t>35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26279" y="4610646"/>
            <a:ext cx="530352" cy="656297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26279" y="5312664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E5A6B"/>
                </a:solidFill>
                <a:latin typeface="Malgun Gothic"/>
              </a:rPr>
              <a:t>R6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6279" y="4409478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1A1822"/>
                </a:solidFill>
                <a:latin typeface="Arial"/>
              </a:rPr>
              <a:t>44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66359" y="4498848"/>
            <a:ext cx="530352" cy="768096"/>
          </a:xfrm>
          <a:prstGeom prst="roundRect">
            <a:avLst>
              <a:gd name="adj" fmla="val 3000"/>
            </a:avLst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66359" y="5312664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E5A6B"/>
                </a:solidFill>
                <a:latin typeface="Malgun Gothic"/>
              </a:rPr>
              <a:t>R7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66359" y="4297680"/>
            <a:ext cx="53035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B06E00"/>
                </a:solidFill>
                <a:latin typeface="Arial"/>
              </a:rPr>
              <a:t>53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555955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누적 53골드 안팎이다. 11골드 희귀를 넉 장 사면 끝나는 액수이고,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골드 칩을 한 장 넣으면 그 위에 라운드당 4가 더 붙는다.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4169664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822"/>
                </a:solidFill>
                <a:latin typeface="Malgun Gothic"/>
              </a:rPr>
              <a:t>이 곡선이 만드는 것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4498848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B06E00"/>
                </a:solidFill>
                <a:latin typeface="Malgun Gothic"/>
              </a:rPr>
              <a:t>전반은 자금 싸움이다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55664" y="4736592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R3 까지 누적 19골드다. 슬롯 다섯을 채울 돈이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없어서 무엇을 뺄지 고민할 일이 아직 없다.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09360" y="5157216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B06E00"/>
                </a:solidFill>
                <a:latin typeface="Malgun Gothic"/>
              </a:rPr>
              <a:t>후반이 슬롯 싸움이다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55664" y="5394960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R5 를 넘기면 살 수는 있는데 자리가 없다.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되팔기 회수율 46% 가 이때부터 아프다.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5815584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B06E00"/>
                </a:solidFill>
                <a:latin typeface="Malgun Gothic"/>
              </a:rPr>
              <a:t>이자가 초반을 늦춘다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55664" y="6053328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보유 5당 1 이라 R1 에 4골드로는 이자가 0 이다.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첫 상점에서 다 쓸지 아낄지가 첫 저울이다.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37 / 50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4장 · 밸런스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목표는 라운드마다 1.775배로 오른다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무개조 판의 다트당 기대 점수는 9.59점이다. 아래 오른쪽 열은 그 기준선의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몇 배를 만들어야 하는가 — 빌드가 지수적으로 자라야만 따라잡을 수 있다.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86537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라운드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865376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목표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186537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다트당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186537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기준선 대비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084831"/>
            <a:ext cx="4297680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21284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R1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2212848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21284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7.5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221284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×0.8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254203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R2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254203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06040" y="254203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14.2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03320" y="254203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×1.5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2871215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R3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2871215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150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06040" y="2871215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25.0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03320" y="2871215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×2.6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200399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R4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3200399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270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06040" y="3200399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45.0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03320" y="3200399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×4.7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529583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R5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3529583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470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06040" y="3529583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78.3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3320" y="3529583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×8.1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" y="3858768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R6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3858768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820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06040" y="3858768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136.7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385876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×14.2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" y="418795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R7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4187952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1450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606040" y="4187952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241.7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03320" y="4187952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×25.1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451713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R8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00200" y="4517136"/>
            <a:ext cx="10058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1A1822"/>
                </a:solidFill>
                <a:latin typeface="Arial"/>
              </a:rPr>
              <a:t>2500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4517136"/>
            <a:ext cx="10972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Arial"/>
              </a:rPr>
              <a:t>416.7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03320" y="451713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Arial"/>
              </a:rPr>
              <a:t>×43.3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1865376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이 곡선을 정한 근거 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623560" y="2231136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R1 을 45 로 둔 것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88152" y="2505456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무개조 6발의 기대값이 약 58점이다. 아이템 없이도 넘도록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두어, 첫 라운드가 학습 구간이 되게 했다.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23560" y="3163824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R6 이 첫 번째 벽이다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88152" y="3438144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조준만으로는 여기서 막힌다. 목표 820 은 다트당 137점이고,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기준선의 14배다 — 곱셈 층이 두 겹은 있어야 넘는다.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23560" y="4096512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배율을 1.775 로 고정한 것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88152" y="4370832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라운드마다 같은 비율로 올려야 "한 라운드만큼 자랐는가" 를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플레이어가 셀 수 있다. 전체로는 45 → 2500 · 55.6배다.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23560" y="5029200"/>
            <a:ext cx="5852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제약은 목표를 안 올린다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88152" y="5303520"/>
            <a:ext cx="56692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난이도는 목표가 아니라 제약이 만든다. 목표는 표에 적힌 값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그대로이고, 제약이 같은 값을 상대적으로 무겁게 만든다.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6217920"/>
            <a:ext cx="9720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이 표의 "기준선" 은 균등 조준 가정이다. 가운데를 노리는 실제 플레이는 이보다 높으므로 필요한 배수는 조금 낮아진다. 사람 플레이 데이터로 이 열을 보정하는 것이 다음 작업이다.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38 / 50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4장 · 밸런스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성립하는 빌드 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칩에 태그를 붙여 두면 축마다 몇 장이 있는지 셀 수 있다.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아래 셋은 지금 표에서 실제로 성립하는 축이고, 각각 다른 조준을 요구한다.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865376"/>
            <a:ext cx="3401568" cy="356616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084831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가운데를 노린다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32303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BF"/>
                </a:solidFill>
                <a:latin typeface="Malgun Gothic"/>
              </a:rPr>
              <a:t>중앙 · 무조건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761487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3D394A"/>
                </a:solidFill>
                <a:latin typeface="Malgun Gothic"/>
              </a:rPr>
              <a:t>· 중물 — 6~14 칸, 점수 +40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218687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3D394A"/>
                </a:solidFill>
                <a:latin typeface="Malgun Gothic"/>
              </a:rPr>
              <a:t>· 명중왕 — 불, 배수 +8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675887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3D394A"/>
                </a:solidFill>
                <a:latin typeface="Malgun Gothic"/>
              </a:rPr>
              <a:t>· 기본기 — 무조건, 점수 +25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297679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개조 "멍석" 이 불을 넓히고 "판갈이" 가 작은 칸을 20으로 올린다.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조준이 쉬운 대신 배수 층이 얕아 후반에 곱셈이 모자란다.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65376"/>
            <a:ext cx="3401568" cy="356616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084831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띠를 뚫는다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432303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0402A"/>
                </a:solidFill>
                <a:latin typeface="Malgun Gothic"/>
              </a:rPr>
              <a:t>링 · 트리플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761487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3D394A"/>
                </a:solidFill>
                <a:latin typeface="Malgun Gothic"/>
              </a:rPr>
              <a:t>· 삼중고 — 트리플, 배수 +4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3218687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3D394A"/>
                </a:solidFill>
                <a:latin typeface="Malgun Gothic"/>
              </a:rPr>
              <a:t>· 띠쟁이 — 링 어디든, 점수 +20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7720" y="3675887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3D394A"/>
                </a:solidFill>
                <a:latin typeface="Malgun Gothic"/>
              </a:rPr>
              <a:t>· 칼끝 — 더블, 배수 ×2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20" y="4297679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개조 "속살" 이 트리플 띠를 넓히고 "벼랑" 이 두 띠를 한 조준선에 올린다.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조준 실력이 그대로 점수가 되지만 "좁은 판" 제약에 정면으로 맞는다.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01000" y="1865376"/>
            <a:ext cx="3401568" cy="356616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084831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빗나감을 판다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432303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실패 · 골드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761487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3D394A"/>
                </a:solidFill>
                <a:latin typeface="Malgun Gothic"/>
              </a:rPr>
              <a:t>· 빈손 — 빗나감, 점수 +30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75320" y="3218687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3D394A"/>
                </a:solidFill>
                <a:latin typeface="Malgun Gothic"/>
              </a:rPr>
              <a:t>· 본전 — 무실책 시 골드 +3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675887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3D394A"/>
                </a:solidFill>
                <a:latin typeface="Malgun Gothic"/>
              </a:rPr>
              <a:t>· 물주 — 무조건, 클리어 시 골드 +4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4297679"/>
            <a:ext cx="2834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빗나감 37.68% 를 자산으로 바꾼다. 조준을 덜 요구하는 대신 골드로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빌드를 산다. 개조 "판벌이" 와는 정면으로 부딪힌다.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6217920"/>
            <a:ext cx="9720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축마다 세 장씩이라 다섯 슬롯 중 둘이 남는다. 남은 두 칸을 무엇으로 채우는가가 같은 축 안에서도 런이 갈리는 자리다. 축 하나가 두 장뿐이 되지 않도록 태그별 장수를 표에서 센다.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39 / 50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4장 · 밸런스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알려진 문제와 조정안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지금 build 에서 확인된 것만 적는다. 고친 척하지 않는다.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79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36775"/>
            <a:ext cx="10817352" cy="118872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01367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822"/>
                </a:solidFill>
                <a:latin typeface="Malgun Gothic"/>
              </a:rPr>
              <a:t>중앙 조준이 지나치게 강하다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2440" y="1819655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0402A"/>
                </a:solidFill>
                <a:latin typeface="Malgun Gothic"/>
              </a:rPr>
              <a:t>높음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30552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불이 칩 25 를 주는데 배수를 키우는 칩과 겹치면 한 발이 900점까지 나온다.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게다가 중앙은 빗나갈 일이 거의 없어 위험이 없다.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130552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3D394A"/>
                </a:solidFill>
                <a:latin typeface="Malgun Gothic"/>
              </a:rPr>
              <a:t>→ 불의 칩 값을 내리거나, 중앙 조건 칩의 조건을 "한복판" 으로 좁힌다.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3D394A"/>
                </a:solidFill>
                <a:latin typeface="Malgun Gothic"/>
              </a:rPr>
              <a:t>개조 "멍석" 의 가격을 올리는 것은 근본 해결이 아니다.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2953511"/>
            <a:ext cx="10817352" cy="118872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118103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822"/>
                </a:solidFill>
                <a:latin typeface="Malgun Gothic"/>
              </a:rPr>
              <a:t>측정이 균등 조준 위에 서 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3136391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0402A"/>
                </a:solidFill>
                <a:latin typeface="Malgun Gothic"/>
              </a:rPr>
              <a:t>높음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447287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모든 밸런스 수치가 "게이지를 아무 때나 멈춘다" 는 가정이다.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실제 사람은 가운데를 노리므로 중앙 조건은 과소, 링 조건은 과대 평가된다.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447287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3D394A"/>
                </a:solidFill>
                <a:latin typeface="Malgun Gothic"/>
              </a:rPr>
              <a:t>→ 조준 모형을 하나 더 만든다 — 중앙 편향 정규분포. 두 모형의 값을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3D394A"/>
                </a:solidFill>
                <a:latin typeface="Malgun Gothic"/>
              </a:rPr>
              <a:t>나란히 두고 그 사이를 실제 범위로 읽는다.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270248"/>
            <a:ext cx="10817352" cy="118872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434840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822"/>
                </a:solidFill>
                <a:latin typeface="Malgun Gothic"/>
              </a:rPr>
              <a:t>연속 조건이 사실상 죽어 있다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4453128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중간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764024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"정밀"(연속 명중마다 배수 +3)의 발동률이 1.58% 다. 균등 조준이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같은 칸을 연달아 못 맞히기 때문이고, 다트당 기여가 26장 중 꼴찌다.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476402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3D394A"/>
                </a:solidFill>
                <a:latin typeface="Malgun Gothic"/>
              </a:rPr>
              <a:t>→ 조건을 "같은 칸" 에서 "같은 띠" 로 넓히거나, 자석 다트와 묶어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3D394A"/>
                </a:solidFill>
                <a:latin typeface="Malgun Gothic"/>
              </a:rPr>
              <a:t>연속을 만들 수 있는 길을 준다.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586983"/>
            <a:ext cx="10817352" cy="118872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751575"/>
            <a:ext cx="69494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1">
                <a:solidFill>
                  <a:srgbClr val="1A1822"/>
                </a:solidFill>
                <a:latin typeface="Malgun Gothic"/>
              </a:rPr>
              <a:t>플레이테스트 기록이 0건이다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5769864"/>
            <a:ext cx="10972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0402A"/>
                </a:solidFill>
                <a:latin typeface="Malgun Gothic"/>
              </a:rPr>
              <a:t>높음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6080759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유일한 검증이 헤드리스 자동 플레이인데, 그건 착탄점을 무작위로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다시 찍으므로 실력 게임의 실제 난이도를 재지 못한다.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6080759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3D394A"/>
                </a:solidFill>
                <a:latin typeface="Malgun Gothic"/>
              </a:rPr>
              <a:t>→ 사람 플레이 로그를 남긴다 — 라운드별 클리어율, 사망 라운드 분포,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3D394A"/>
                </a:solidFill>
                <a:latin typeface="Malgun Gothic"/>
              </a:rPr>
              <a:t>실제 조준 분포. 난이도 곡선의 근거를 가정에서 실측으로 옮긴다.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40 / 50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5장 · 연출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이미지 파일이 한 장도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보드 · 칩 · 다트 · 카지노 테이블 — 글자를 뺀 모든 것이 코드로 그려진다.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씬은 노드 하나이고, 그리는 함수 하나가 화면 전체를 매 프레임 다시 그린다.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847087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06E00"/>
                </a:solidFill>
                <a:latin typeface="Malgun Gothic"/>
              </a:rPr>
              <a:t>왜 이렇게 했는가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139695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640×360 에 최근접 필터라 이 크기에서 읽히는 것과 안 읽히는 것이 설계를 계속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되돌려 놓는다. 그림 파일이 있으면 "일단 그려 놓고 나중에" 가 되지만, 코드로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그리면 안 읽히는 것은 그 자리에서 고칠 수밖에 없다.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62655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06E00"/>
                </a:solidFill>
                <a:latin typeface="Malgun Gothic"/>
              </a:rPr>
              <a:t>실루엣이 정보다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3255263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칩은 원반, 개조는 사각판, 다트는 대각 획. 한 줄에 나란히 서도 형태만으로 갈린다.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칩 얼굴 위쪽에는 조건을 원시 도형으로 새겼다 — 값만 보이면 "홀수 애호" 와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"짝수 애호" 가 화면에서 구별되지 않기 때문이다.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078223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06E00"/>
                </a:solidFill>
                <a:latin typeface="Malgun Gothic"/>
              </a:rPr>
              <a:t>그림이 안 되면 기능을 바꾼다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370831"/>
            <a:ext cx="1042416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남은 다트를 손이 부채처럼 들고 있는 안을 두 번 만들었다가 버렸다. 어떤 각도로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그려도 살구색 덩어리로 읽혔기 때문이고, 벽에 꽂힌 자루로 바꾼 뒤에야 읽혔다.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그림이 안 되는 것을 설명으로 메우는 것은 UI 가 아니다.</a:t>
            </a:r>
          </a:p>
        </p:txBody>
      </p:sp>
      <p:sp>
        <p:nvSpPr>
          <p:cNvPr id="12" name="Oval 11"/>
          <p:cNvSpPr/>
          <p:nvPr/>
        </p:nvSpPr>
        <p:spPr>
          <a:xfrm>
            <a:off x="4526280" y="5376671"/>
            <a:ext cx="640080" cy="640080"/>
          </a:xfrm>
          <a:prstGeom prst="ellipse">
            <a:avLst/>
          </a:prstGeom>
          <a:solidFill>
            <a:srgbClr val="B0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51960" y="6126479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5376671"/>
            <a:ext cx="640080" cy="640080"/>
          </a:xfrm>
          <a:prstGeom prst="roundRect">
            <a:avLst>
              <a:gd name="adj" fmla="val 3000"/>
            </a:avLst>
          </a:prstGeom>
          <a:solidFill>
            <a:srgbClr val="2E7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6126479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개조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001000" y="5376671"/>
            <a:ext cx="640080" cy="640080"/>
          </a:xfrm>
          <a:prstGeom prst="line">
            <a:avLst/>
          </a:prstGeom>
          <a:ln w="76200">
            <a:solidFill>
              <a:srgbClr val="1F6FB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26679" y="6126479"/>
            <a:ext cx="11887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다트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41 / 50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5장 · 연출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팔레트와 해상도 규칙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색은 열셋뿐이고 전부 코드 상수다. 새 색을 쓰지 않는 것이 규칙이다.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79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55063"/>
            <a:ext cx="1417320" cy="566928"/>
          </a:xfrm>
          <a:prstGeom prst="roundRect">
            <a:avLst>
              <a:gd name="adj" fmla="val 3000"/>
            </a:avLst>
          </a:prstGeom>
          <a:solidFill>
            <a:srgbClr val="14111F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27685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바탕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47802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9490A1"/>
                </a:solidFill>
                <a:latin typeface="Arial"/>
              </a:rPr>
              <a:t>14111f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40280" y="1655063"/>
            <a:ext cx="1417320" cy="566928"/>
          </a:xfrm>
          <a:prstGeom prst="roundRect">
            <a:avLst>
              <a:gd name="adj" fmla="val 3000"/>
            </a:avLst>
          </a:prstGeom>
          <a:solidFill>
            <a:srgbClr val="221D33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227685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47802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9490A1"/>
                </a:solidFill>
                <a:latin typeface="Arial"/>
              </a:rPr>
              <a:t>221d33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1655063"/>
            <a:ext cx="1417320" cy="566928"/>
          </a:xfrm>
          <a:prstGeom prst="roundRect">
            <a:avLst>
              <a:gd name="adj" fmla="val 3000"/>
            </a:avLst>
          </a:prstGeom>
          <a:solidFill>
            <a:srgbClr val="2B2438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227685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어두운 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247802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9490A1"/>
                </a:solidFill>
                <a:latin typeface="Arial"/>
              </a:rPr>
              <a:t>2b2438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49240" y="1655063"/>
            <a:ext cx="1417320" cy="566928"/>
          </a:xfrm>
          <a:prstGeom prst="roundRect">
            <a:avLst>
              <a:gd name="adj" fmla="val 3000"/>
            </a:avLst>
          </a:prstGeom>
          <a:solidFill>
            <a:srgbClr val="E8DFC8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49240" y="227685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밝은 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49240" y="247802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9490A1"/>
                </a:solidFill>
                <a:latin typeface="Arial"/>
              </a:rPr>
              <a:t>e8dfc8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03720" y="1655063"/>
            <a:ext cx="1417320" cy="566928"/>
          </a:xfrm>
          <a:prstGeom prst="roundRect">
            <a:avLst>
              <a:gd name="adj" fmla="val 3000"/>
            </a:avLst>
          </a:prstGeom>
          <a:solidFill>
            <a:srgbClr val="F4EFE2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227685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글자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47802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9490A1"/>
                </a:solidFill>
                <a:latin typeface="Arial"/>
              </a:rPr>
              <a:t>f4efe2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58200" y="1655063"/>
            <a:ext cx="1417320" cy="566928"/>
          </a:xfrm>
          <a:prstGeom prst="roundRect">
            <a:avLst>
              <a:gd name="adj" fmla="val 3000"/>
            </a:avLst>
          </a:prstGeom>
          <a:solidFill>
            <a:srgbClr val="8F86A8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458200" y="227685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보조 글자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58200" y="247802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9490A1"/>
                </a:solidFill>
                <a:latin typeface="Arial"/>
              </a:rPr>
              <a:t>8f86a8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12680" y="1655063"/>
            <a:ext cx="1417320" cy="566928"/>
          </a:xfrm>
          <a:prstGeom prst="roundRect">
            <a:avLst>
              <a:gd name="adj" fmla="val 3000"/>
            </a:avLst>
          </a:prstGeom>
          <a:solidFill>
            <a:srgbClr val="7A7192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12680" y="227685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철사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2680" y="247802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9490A1"/>
                </a:solidFill>
                <a:latin typeface="Arial"/>
              </a:rPr>
              <a:t>7a7192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2660904"/>
            <a:ext cx="1417320" cy="566928"/>
          </a:xfrm>
          <a:prstGeom prst="roundRect">
            <a:avLst>
              <a:gd name="adj" fmla="val 3000"/>
            </a:avLst>
          </a:prstGeom>
          <a:solidFill>
            <a:srgbClr val="F2B134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28269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강조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48386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9490A1"/>
                </a:solidFill>
                <a:latin typeface="Arial"/>
              </a:rPr>
              <a:t>f2b134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40280" y="2660904"/>
            <a:ext cx="1417320" cy="566928"/>
          </a:xfrm>
          <a:prstGeom prst="roundRect">
            <a:avLst>
              <a:gd name="adj" fmla="val 3000"/>
            </a:avLst>
          </a:prstGeom>
          <a:solidFill>
            <a:srgbClr val="F2C94C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240280" y="328269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골드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40280" y="348386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9490A1"/>
                </a:solidFill>
                <a:latin typeface="Arial"/>
              </a:rPr>
              <a:t>f2c94c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94760" y="2660904"/>
            <a:ext cx="1417320" cy="566928"/>
          </a:xfrm>
          <a:prstGeom prst="roundRect">
            <a:avLst>
              <a:gd name="adj" fmla="val 3000"/>
            </a:avLst>
          </a:prstGeom>
          <a:solidFill>
            <a:srgbClr val="3F8FD8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94760" y="328269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칩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94760" y="348386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9490A1"/>
                </a:solidFill>
                <a:latin typeface="Arial"/>
              </a:rPr>
              <a:t>3f8fd8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349240" y="2660904"/>
            <a:ext cx="1417320" cy="566928"/>
          </a:xfrm>
          <a:prstGeom prst="roundRect">
            <a:avLst>
              <a:gd name="adj" fmla="val 3000"/>
            </a:avLst>
          </a:prstGeom>
          <a:solidFill>
            <a:srgbClr val="E2593F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349240" y="328269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배수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49240" y="348386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9490A1"/>
                </a:solidFill>
                <a:latin typeface="Arial"/>
              </a:rPr>
              <a:t>e2593f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03720" y="2660904"/>
            <a:ext cx="1417320" cy="566928"/>
          </a:xfrm>
          <a:prstGeom prst="roundRect">
            <a:avLst>
              <a:gd name="adj" fmla="val 3000"/>
            </a:avLst>
          </a:prstGeom>
          <a:solidFill>
            <a:srgbClr val="D8483D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903720" y="328269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빨강 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03720" y="348386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9490A1"/>
                </a:solidFill>
                <a:latin typeface="Arial"/>
              </a:rPr>
              <a:t>d8483d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458200" y="2660904"/>
            <a:ext cx="1417320" cy="566928"/>
          </a:xfrm>
          <a:prstGeom prst="roundRect">
            <a:avLst>
              <a:gd name="adj" fmla="val 3000"/>
            </a:avLst>
          </a:prstGeom>
          <a:solidFill>
            <a:srgbClr val="479A58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58200" y="3282696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1A1822"/>
                </a:solidFill>
                <a:latin typeface="Malgun Gothic"/>
              </a:rPr>
              <a:t>초록 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458200" y="348386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9490A1"/>
                </a:solidFill>
                <a:latin typeface="Arial"/>
              </a:rPr>
              <a:t>479a58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5800" y="379476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해상도 규칙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85800" y="417880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90A1"/>
                </a:solidFill>
                <a:latin typeface="Malgun Gothic"/>
              </a:rPr>
              <a:t>뷰포트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057400" y="4178808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640 × 360 고정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4489704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90A1"/>
                </a:solidFill>
                <a:latin typeface="Malgun Gothic"/>
              </a:rPr>
              <a:t>창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057400" y="4489704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1280 × 720 (정확히 2배)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" y="4800600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90A1"/>
                </a:solidFill>
                <a:latin typeface="Malgun Gothic"/>
              </a:rPr>
              <a:t>필터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057400" y="4800600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최근접 — 픽셀이 뭉개지지 않는다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85800" y="5111496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90A1"/>
                </a:solidFill>
                <a:latin typeface="Malgun Gothic"/>
              </a:rPr>
              <a:t>비율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5111496"/>
            <a:ext cx="3749039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D394A"/>
                </a:solidFill>
                <a:latin typeface="Malgun Gothic"/>
              </a:rPr>
              <a:t>유지. 창이 커져도 좌표가 안 움직인다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85800" y="5495544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창이 정확히 2배라 마우스 좌표가 0.5 단위로 들어온다.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이 전제 위에 화면 좌표가 전부 서 있다.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3794760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색에 붙은 뜻</a:t>
            </a:r>
          </a:p>
        </p:txBody>
      </p:sp>
      <p:sp>
        <p:nvSpPr>
          <p:cNvPr id="56" name="Oval 55"/>
          <p:cNvSpPr/>
          <p:nvPr/>
        </p:nvSpPr>
        <p:spPr>
          <a:xfrm>
            <a:off x="6309360" y="4224528"/>
            <a:ext cx="164592" cy="164592"/>
          </a:xfrm>
          <a:prstGeom prst="ellipse">
            <a:avLst/>
          </a:prstGeom>
          <a:solidFill>
            <a:srgbClr val="1F6FB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601968" y="4197096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22"/>
                </a:solidFill>
                <a:latin typeface="Malgun Gothic"/>
              </a:rPr>
              <a:t>칩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589520" y="4197096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점수를 올리는 것은 전부 파랑이다</a:t>
            </a:r>
          </a:p>
        </p:txBody>
      </p:sp>
      <p:sp>
        <p:nvSpPr>
          <p:cNvPr id="59" name="Oval 58"/>
          <p:cNvSpPr/>
          <p:nvPr/>
        </p:nvSpPr>
        <p:spPr>
          <a:xfrm>
            <a:off x="6309360" y="4700016"/>
            <a:ext cx="164592" cy="164592"/>
          </a:xfrm>
          <a:prstGeom prst="ellipse">
            <a:avLst/>
          </a:prstGeom>
          <a:solidFill>
            <a:srgbClr val="C0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01968" y="4672584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22"/>
                </a:solidFill>
                <a:latin typeface="Malgun Gothic"/>
              </a:rPr>
              <a:t>배수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589520" y="4672584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배수를 올리는 것은 전부 주황빨강이다</a:t>
            </a:r>
          </a:p>
        </p:txBody>
      </p:sp>
      <p:sp>
        <p:nvSpPr>
          <p:cNvPr id="62" name="Oval 61"/>
          <p:cNvSpPr/>
          <p:nvPr/>
        </p:nvSpPr>
        <p:spPr>
          <a:xfrm>
            <a:off x="6309360" y="5175504"/>
            <a:ext cx="164592" cy="164592"/>
          </a:xfrm>
          <a:prstGeom prst="ellipse">
            <a:avLst/>
          </a:prstGeom>
          <a:solidFill>
            <a:srgbClr val="B0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601968" y="5148072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22"/>
                </a:solidFill>
                <a:latin typeface="Malgun Gothic"/>
              </a:rPr>
              <a:t>강조 · 골드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7589520" y="5148072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지금 봐야 하는 것과 돈</a:t>
            </a:r>
          </a:p>
        </p:txBody>
      </p:sp>
      <p:sp>
        <p:nvSpPr>
          <p:cNvPr id="65" name="Oval 64"/>
          <p:cNvSpPr/>
          <p:nvPr/>
        </p:nvSpPr>
        <p:spPr>
          <a:xfrm>
            <a:off x="6309360" y="5650992"/>
            <a:ext cx="164592" cy="164592"/>
          </a:xfrm>
          <a:prstGeom prst="ellipse">
            <a:avLst/>
          </a:prstGeom>
          <a:solidFill>
            <a:srgbClr val="2E7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601968" y="5623560"/>
            <a:ext cx="9144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1A1822"/>
                </a:solidFill>
                <a:latin typeface="Malgun Gothic"/>
              </a:rPr>
              <a:t>판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89520" y="5623560"/>
            <a:ext cx="3931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판의 초록 칸과 상점 펠트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9360" y="6190488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Malgun Gothic"/>
              </a:rPr>
              <a:t>정산 카드에서 칩과 배수가 파랑·빨강으로 갈리는 것이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Malgun Gothic"/>
              </a:rPr>
              <a:t>이 규칙의 가장 중요한 자리다.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42 / 50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5장 · 연출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한 발이 정산되는 순간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060704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53312"/>
            <a:ext cx="73152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389888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칩 랙 다섯 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58784" y="166420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얼굴 위쪽이 조건, 아래쪽이 값이다.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값만 보이면 "홀수 애호" 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"짝수 애호" 가 구별되지 않는다.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450591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왼쪽 벽의 남은 다트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58784" y="2724911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라운드가 시작되면 오른쪽에서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날아와 꽂힌다. 자루마다 각도와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깊이가 조금씩 다르다.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511296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정산 카드는 가장자리에서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8784" y="3785615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조준에 집중하다가 점수를 받을 때만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화면 귀퉁이에서 튀어나온다.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한 장씩, 발동한 칩만 이름을 띄운다.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572000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상단 띠 하나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8784" y="48463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라운드 · 목표 진행 · 남은 다트 ·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자금이 한 줄에 있다. 조준 중에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눈이 갈 곳을 하나로 묶었다.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217920"/>
            <a:ext cx="9720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실행 중인 빌드를 그대로 찍은 화면이다. 목업이 아니다.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43 / 50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5장 · 연출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매물이 테이블 위로 떨어진다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060704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53312"/>
            <a:ext cx="73152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0" y="1389888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고정 진열대가 아니다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58784" y="1664208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먼 레일 뒤에서 던져져 펠트에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튕기고 서로 부딪히며 매번 다른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자리에 정착한다.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2450591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왼쪽은 팔고 오른쪽은 산다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58784" y="2724911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창구가 좌우로 둘이다. 매물을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오른쪽에 밀면 구매, 랙의 칩을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왼쪽에 밀면 판매.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0" y="3511296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던지면 미끄러진다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58784" y="3785615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놓는 순간의 손 속도가 물리로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넘어간다. 후려치면 관성으로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미끄러지다 마찰에 멈춘다.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4572000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A1822"/>
                </a:solidFill>
                <a:latin typeface="Malgun Gothic"/>
              </a:rPr>
              <a:t>못 사는 이유를 먼저 말한다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58784" y="484632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누르기 전에 툴팁이 알려 준다 —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골드 부족 · 랙 만석 · 바꿀 표준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다트 없음. 헛클릭이 사라진다.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6217920"/>
            <a:ext cx="97200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950" b="0">
                <a:solidFill>
                  <a:srgbClr val="9490A1"/>
                </a:solidFill>
                <a:latin typeface="Malgun Gothic"/>
              </a:rPr>
              <a:t>실수 매매가 부등식으로 불가능하다. 물리 트레이가 닿는 자리와 창구 빗변 사이에 최소 120px 의 여백이 있다(2000롤 실측) — 솔버에 한 줄도 안 가르치고 막았다.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44 / 50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5장 · 연출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테이블만 밝고, 딜러는 어둠 속이다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램프 하나가 펠트에만 떨어진다. 구도를 이렇게 잡으면 세 가지가 공짜로 나온다.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/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536191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865376"/>
            <a:ext cx="10817352" cy="109728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029968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06E00"/>
                </a:solidFill>
                <a:latin typeface="Malgun Gothic"/>
              </a:rPr>
              <a:t>얼굴을 안 그려도 된다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340864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640×360 에서 사람 얼굴은 어떤 각도로 그려도 뭉개진다. 딜러를 어둠에 두면 그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문제를 피하는 것이 아니라 없앤다 — 실루엣과 림 라이트 한 획이면 사람이 된다.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어둠은 알파 낮은 도형을 스물두 겹 쌓아 만든다. 셰이더가 없다.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3090672"/>
            <a:ext cx="10817352" cy="109728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3255264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BF"/>
                </a:solidFill>
                <a:latin typeface="Malgun Gothic"/>
              </a:rPr>
              <a:t>화풍이 안 싸운다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3566160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어둠 속 실루엣은 색이 몇 개 안 된다. 나머지가 전부 3~6톤짜리 도형이라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(칩 하나 58색 · 펠트 2색) 그림풍 인물을 얹으면 즉시 튄다 — 45배 차이다.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4315968"/>
            <a:ext cx="10817352" cy="109728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" y="4480559"/>
            <a:ext cx="1024128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3C"/>
                </a:solidFill>
                <a:latin typeface="Malgun Gothic"/>
              </a:rPr>
              <a:t>시선이 펠트로 간다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4791456"/>
            <a:ext cx="102412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매물과 던진 다트가 있어야 할 곳이 거기다. 칩 랙을 상단에서 바닥으로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내려 상단을 딜러에게 줬다 — 쓸 세로가 73px 에서 131px 이 됐다.</a:t>
            </a:r>
          </a:p>
          <a:p>
            <a:pPr algn="l">
              <a:lnSpc>
                <a:spcPct val="132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바닥 y[320,352] 는 세 화면이 동시에 비는 유일한 띠다.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596127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Malgun Gothic"/>
              </a:rPr>
              <a:t>리롤은 딜러가 판을 쓸어 담는다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907024"/>
            <a:ext cx="108173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아래팔이 면 위의 직선이고, 52° 정사영에서 면 위 직선은 화면 직선이다 — 그려지는 팔이 곧 미는 선이다.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기울기를 창구 빗변과 평행으로 잡으면 "어느 깊이에서 빠지는가" 를 따질 일이 없어진다. 두 시드 400롤에서 안전망 발동 0회.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45 / 50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5장 · 연출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점수를 받는 순간이 이 게임에서 제일 중요하다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조준은 긴장이고 정산은 보상이다. 보상 구간은 느리게, 한 장씩, 소리와 함께 간다.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79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55063"/>
            <a:ext cx="10817352" cy="658368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856231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B06E00"/>
                </a:solidFill>
                <a:latin typeface="Malgun Gothic"/>
              </a:rPr>
              <a:t>명중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1865376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822"/>
                </a:solidFill>
                <a:latin typeface="Malgun Gothic"/>
              </a:rPr>
              <a:t>히트스톱 · 화면 흔들림 · 착탄 섬광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5160" y="1874519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등급마다 세기가 다르다 — 빗나감 · 단타 · 더블 · 트리플 · 불 · 한복판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04872"/>
            <a:ext cx="10817352" cy="658368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06040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B06E00"/>
                </a:solidFill>
                <a:latin typeface="Malgun Gothic"/>
              </a:rPr>
              <a:t>카드 진입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615184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822"/>
                </a:solidFill>
                <a:latin typeface="Malgun Gothic"/>
              </a:rPr>
              <a:t>화면 가장자리에서 스프링으로 튀어나온다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2624328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감쇠 스프링이라 한 번 지나쳤다가 돌아온다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154679"/>
            <a:ext cx="10817352" cy="658368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35584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B06E00"/>
                </a:solidFill>
                <a:latin typeface="Malgun Gothic"/>
              </a:rPr>
              <a:t>칩 · 배수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14600" y="3364991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822"/>
                </a:solidFill>
                <a:latin typeface="Malgun Gothic"/>
              </a:rPr>
              <a:t>두 수가 따로 오른다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3374135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0.34초마다 한 단계. 소리는 반음씩 올라간다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3904487"/>
            <a:ext cx="10817352" cy="658368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105655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B06E00"/>
                </a:solidFill>
                <a:latin typeface="Malgun Gothic"/>
              </a:rPr>
              <a:t>칩 발동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14600" y="4114800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822"/>
                </a:solidFill>
                <a:latin typeface="Malgun Gothic"/>
              </a:rPr>
              <a:t>걸린 칩만 이름을 띄우고 랙에서 튄다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4123944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안 걸린 칩은 아무 반응이 없다 — 조건이 눈에 보인다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4654296"/>
            <a:ext cx="10817352" cy="658368"/>
          </a:xfrm>
          <a:prstGeom prst="roundRect">
            <a:avLst>
              <a:gd name="adj" fmla="val 3000"/>
            </a:avLst>
          </a:prstGeom>
          <a:solidFill>
            <a:srgbClr val="FBF4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4855464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B06E00"/>
                </a:solidFill>
                <a:latin typeface="Malgun Gothic"/>
              </a:rPr>
              <a:t>곱셈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14600" y="4864608"/>
            <a:ext cx="42062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A1822"/>
                </a:solidFill>
                <a:latin typeface="Malgun Gothic"/>
              </a:rPr>
              <a:t>두 수가 하나로 합쳐진다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95160" y="4873752"/>
            <a:ext cx="475488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목표선을 넘으면 그 자리에서 라운드가 끝난다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5495544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A1822"/>
                </a:solidFill>
                <a:latin typeface="Malgun Gothic"/>
              </a:rPr>
              <a:t>느리게 만든 것이 설계다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806440"/>
            <a:ext cx="1081735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처음에는 정산이 훨씬 빨랐다. 빠른 정산은 결과를 알려 주기만 하고 세어 볼 틈을 안 준다 —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플레이어가 앞질러 계산하는 즐거움이 사라진다. 그래서 한 단계에 0.34초를 두고, 소리가 다음 수를 예고하게 했다.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게임 중에 이 간격을 키보드로 조절할 수 있게 열어 둔 것도 그 값이 감각의 문제라는 것을 알기 때문이다.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46 / 50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5장 · 연출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소리도 파일이 없다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사인파와 사각파를 섞어 실행 중에 만든다. 음악은 없고 효과음만 있다.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79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655063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06E00"/>
                </a:solidFill>
                <a:latin typeface="Malgun Gothic"/>
              </a:rPr>
              <a:t>반음 상승이 정산의 뼈대다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65960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칩이 한 장씩 발동할 때마다 소리가 반음씩 올라간다. 몇 장이 남았는지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화면을 안 봐도 귀로 안다 — 그리고 마지막 음이 가장 높다.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679191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06E00"/>
                </a:solidFill>
                <a:latin typeface="Malgun Gothic"/>
              </a:rPr>
              <a:t>명중은 등급마다 다른 소리다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990087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빗나감은 낮고 짧게, 트리플은 두 음, 불은 세 음. 소리만 듣고도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어디에 꽂혔는지 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703320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06E00"/>
                </a:solidFill>
                <a:latin typeface="Malgun Gothic"/>
              </a:rPr>
              <a:t>거절은 같은 박자로 돌아온다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4014215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못 사는 것을 눌렀을 때의 소리와 화면 섬광이 같은 속도로 꺼진다.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승낙과 거절이 같은 박자라 손이 헷갈리지 않는다.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727448"/>
            <a:ext cx="106070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B06E00"/>
                </a:solidFill>
                <a:latin typeface="Malgun Gothic"/>
              </a:rPr>
              <a:t>음악이 없는 것은 미완이다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5038344"/>
            <a:ext cx="104241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지금은 절차적 합성음만 있다. 음악을 넣는다면 라운드 진행에 따라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100" b="0">
                <a:solidFill>
                  <a:srgbClr val="5E5A6B"/>
                </a:solidFill>
                <a:latin typeface="Malgun Gothic"/>
              </a:rPr>
              <a:t>층을 쌓는 방식이 맞겠지만, 아직 정하지 않았다.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47 / 50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6장 · 개발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기술 구조와 데이터 파이프라인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097280"/>
            <a:ext cx="8961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1150" b="0">
                <a:solidFill>
                  <a:srgbClr val="3D394A"/>
                </a:solidFill>
                <a:latin typeface="Malgun Gothic"/>
              </a:rPr>
              <a:t>엔진은 Godot 4.7, 언어는 GDScript. 씬은 노드 하나이고 이미지·사운드 파일이 0개다.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85800" y="1325879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85800" y="1636775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파일 구조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84248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Arial"/>
              </a:rPr>
              <a:t>scenes/main.tscn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71800" y="1984248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노드 하나. 여섯 줄이다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368296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Arial"/>
              </a:rPr>
              <a:t>scripts/game.gd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71800" y="2368296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게임 전체. 그리기 · 입력 · 물리 · 소리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752344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Arial"/>
              </a:rPr>
              <a:t>scripts/data.gd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2752344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표 여덟 장을 읽고 검사한다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136391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Arial"/>
              </a:rPr>
              <a:t>data/*.csv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3136391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수치 전부. 엑셀로 열어 고친다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20439"/>
            <a:ext cx="219456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B06E00"/>
                </a:solidFill>
                <a:latin typeface="Arial"/>
              </a:rPr>
              <a:t>scripts/tools/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520439"/>
            <a:ext cx="2834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검증기 · 측정기 · 던지기 수렴 검사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636775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데이터가 게임에 닿는 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2002536"/>
            <a:ext cx="1170432" cy="73152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2130552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A1822"/>
                </a:solidFill>
                <a:latin typeface="Malgun Gothic"/>
              </a:rPr>
              <a:t>엑셀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23865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50" b="0">
                <a:solidFill>
                  <a:srgbClr val="5E5A6B"/>
                </a:solidFill>
                <a:latin typeface="Malgun Gothic"/>
              </a:rPr>
              <a:t>표를 고친다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498080" y="2368296"/>
            <a:ext cx="118872" cy="0"/>
          </a:xfrm>
          <a:prstGeom prst="line">
            <a:avLst/>
          </a:prstGeom>
          <a:ln w="12700">
            <a:solidFill>
              <a:srgbClr val="9490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525512" y="2290572"/>
            <a:ext cx="182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35240" y="2002536"/>
            <a:ext cx="1170432" cy="73152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2130552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A1822"/>
                </a:solidFill>
                <a:latin typeface="Malgun Gothic"/>
              </a:rPr>
              <a:t>CSV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71815" y="23865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50" b="0">
                <a:solidFill>
                  <a:srgbClr val="5E5A6B"/>
                </a:solidFill>
                <a:latin typeface="Malgun Gothic"/>
              </a:rPr>
              <a:t>한 줄 저장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23960" y="2368296"/>
            <a:ext cx="118872" cy="0"/>
          </a:xfrm>
          <a:prstGeom prst="line">
            <a:avLst/>
          </a:prstGeom>
          <a:ln w="12700">
            <a:solidFill>
              <a:srgbClr val="9490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851392" y="2290572"/>
            <a:ext cx="182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▸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961120" y="2002536"/>
            <a:ext cx="1170432" cy="73152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2130552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A1822"/>
                </a:solidFill>
                <a:latin typeface="Malgun Gothic"/>
              </a:rPr>
              <a:t>검증기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97696" y="23865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50" b="0">
                <a:solidFill>
                  <a:srgbClr val="5E5A6B"/>
                </a:solidFill>
                <a:latin typeface="Malgun Gothic"/>
              </a:rPr>
              <a:t>오타를 잡는다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0149840" y="2368296"/>
            <a:ext cx="118872" cy="0"/>
          </a:xfrm>
          <a:prstGeom prst="line">
            <a:avLst/>
          </a:prstGeom>
          <a:ln w="12700">
            <a:solidFill>
              <a:srgbClr val="9490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10177272" y="2290572"/>
            <a:ext cx="182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▸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87000" y="2002536"/>
            <a:ext cx="1170432" cy="73152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287000" y="2130552"/>
            <a:ext cx="1170432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1A1822"/>
                </a:solidFill>
                <a:latin typeface="Malgun Gothic"/>
              </a:rPr>
              <a:t>게임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23576" y="23865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25000"/>
              </a:lnSpc>
              <a:spcAft>
                <a:spcPts val="0"/>
              </a:spcAft>
            </a:pPr>
            <a:r>
              <a:rPr sz="850" b="0">
                <a:solidFill>
                  <a:srgbClr val="5E5A6B"/>
                </a:solidFill>
                <a:latin typeface="Malgun Gothic"/>
              </a:rPr>
              <a:t>부팅할 때 읽는다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2898648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CSV 를 쓰는 것은 엑셀에서 정렬·비교하며 밸런스를 보기 위해서다.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대신 오타가 컴파일에 안 걸리므로 검증기가 그 자리를 대신한다.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3703320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검증 도구 셋 — 전부 종료 코드로 결과를 낸다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4087368"/>
            <a:ext cx="3401568" cy="137160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1832" y="427024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06E00"/>
                </a:solidFill>
                <a:latin typeface="Malgun Gothic"/>
              </a:rPr>
              <a:t>표 검사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" y="4599431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표 여덟 장의 형식 · 참조 · 범위 · 상위호환 · 완전분할을 한 번에 본다.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오류 개수를 종료 코드로 낸다.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43400" y="4087368"/>
            <a:ext cx="3401568" cy="137160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99432" y="427024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06E00"/>
                </a:solidFill>
                <a:latin typeface="Malgun Gothic"/>
              </a:rPr>
              <a:t>칩 측정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99432" y="4599431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실제 판정 함수에 36만 발을 통과시켜 발동률과 다트당 기여를 잰다.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시드를 박아 두 번 돌리면 같은 값이 나온다.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01000" y="4087368"/>
            <a:ext cx="3401568" cy="1371600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57031" y="4270248"/>
            <a:ext cx="2926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06E00"/>
                </a:solidFill>
                <a:latin typeface="Malgun Gothic"/>
              </a:rPr>
              <a:t>던지기 수렴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57031" y="4599431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다섯 방향으로 물건을 던져 잠들기 · 미끄럼 거리 · 트레이 안 ·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겹침 0 · 뜨지 않음을 검사한다.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" y="5623560"/>
            <a:ext cx="1081735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Malgun Gothic"/>
              </a:rPr>
              <a:t>자동 플레이 모드도 있다 — 사람 없이 여덟 라운드를 완주하며 상태가 막히거나 화면이 비는지 본다.</a:t>
            </a:r>
          </a:p>
          <a:p>
            <a:pPr algn="l">
              <a:lnSpc>
                <a:spcPct val="135000"/>
              </a:lnSpc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Malgun Gothic"/>
              </a:rPr>
              <a:t>다만 착탄점을 무작위로 다시 찍으므로 난이도 측정에는 못 쓴다. 그 한계를 코드 주석에 적어 두었다.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48 / 50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6장 · 개발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지금 플레이할 수 있는 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060704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85800" y="1417320"/>
            <a:ext cx="146304" cy="146304"/>
          </a:xfrm>
          <a:prstGeom prst="ellipse">
            <a:avLst/>
          </a:prstGeom>
          <a:solidFill>
            <a:srgbClr val="2E7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371600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22"/>
                </a:solidFill>
                <a:latin typeface="Malgun Gothic"/>
              </a:rPr>
              <a:t>조준 · 판정 · 라운드 진행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95160" y="1371600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7D3C"/>
                </a:solidFill>
                <a:latin typeface="Malgun Gothic"/>
              </a:rPr>
              <a:t>완성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0" y="1371600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여덟 라운드 완주 가능</a:t>
            </a:r>
          </a:p>
        </p:txBody>
      </p:sp>
      <p:sp>
        <p:nvSpPr>
          <p:cNvPr id="9" name="Oval 8"/>
          <p:cNvSpPr/>
          <p:nvPr/>
        </p:nvSpPr>
        <p:spPr>
          <a:xfrm>
            <a:off x="685800" y="1819656"/>
            <a:ext cx="146304" cy="146304"/>
          </a:xfrm>
          <a:prstGeom prst="ellipse">
            <a:avLst/>
          </a:prstGeom>
          <a:solidFill>
            <a:srgbClr val="2E7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773936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22"/>
                </a:solidFill>
                <a:latin typeface="Malgun Gothic"/>
              </a:rPr>
              <a:t>칩 26종 · 개조 8종 · 다트 5종 · 제약 6종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5160" y="1773936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7D3C"/>
                </a:solidFill>
                <a:latin typeface="Malgun Gothic"/>
              </a:rPr>
              <a:t>완성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1773936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수치는 CSV 여덟 장에서 편집</a:t>
            </a:r>
          </a:p>
        </p:txBody>
      </p:sp>
      <p:sp>
        <p:nvSpPr>
          <p:cNvPr id="13" name="Oval 12"/>
          <p:cNvSpPr/>
          <p:nvPr/>
        </p:nvSpPr>
        <p:spPr>
          <a:xfrm>
            <a:off x="685800" y="2221991"/>
            <a:ext cx="146304" cy="146304"/>
          </a:xfrm>
          <a:prstGeom prst="ellipse">
            <a:avLst/>
          </a:prstGeom>
          <a:solidFill>
            <a:srgbClr val="2E7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2176272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22"/>
                </a:solidFill>
                <a:latin typeface="Malgun Gothic"/>
              </a:rPr>
              <a:t>상점 — 물리 낙하 · 끌어 옮기기 · 던지기 · 두 갈래 구매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5160" y="217627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7D3C"/>
                </a:solidFill>
                <a:latin typeface="Malgun Gothic"/>
              </a:rPr>
              <a:t>완성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2176272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685800" y="2624327"/>
            <a:ext cx="146304" cy="146304"/>
          </a:xfrm>
          <a:prstGeom prst="ellipse">
            <a:avLst/>
          </a:prstGeom>
          <a:solidFill>
            <a:srgbClr val="2E7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8408" y="2578608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22"/>
                </a:solidFill>
                <a:latin typeface="Malgun Gothic"/>
              </a:rPr>
              <a:t>스테이지 3택 · 정산 · 골드 경제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95160" y="2578608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7D3C"/>
                </a:solidFill>
                <a:latin typeface="Malgun Gothic"/>
              </a:rPr>
              <a:t>완성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2578608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/>
            </a:r>
          </a:p>
        </p:txBody>
      </p:sp>
      <p:sp>
        <p:nvSpPr>
          <p:cNvPr id="21" name="Oval 20"/>
          <p:cNvSpPr/>
          <p:nvPr/>
        </p:nvSpPr>
        <p:spPr>
          <a:xfrm>
            <a:off x="685800" y="3026663"/>
            <a:ext cx="146304" cy="146304"/>
          </a:xfrm>
          <a:prstGeom prst="ellipse">
            <a:avLst/>
          </a:prstGeom>
          <a:solidFill>
            <a:srgbClr val="2E7D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" y="2980944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22"/>
                </a:solidFill>
                <a:latin typeface="Malgun Gothic"/>
              </a:rPr>
              <a:t>데이터 검증기 · 측정기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980944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7D3C"/>
                </a:solidFill>
                <a:latin typeface="Malgun Gothic"/>
              </a:rPr>
              <a:t>완성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2980944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오류 0 · 경고 2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" y="3428999"/>
            <a:ext cx="146304" cy="146304"/>
          </a:xfrm>
          <a:prstGeom prst="ellipse">
            <a:avLst/>
          </a:prstGeom>
          <a:solidFill>
            <a:srgbClr val="B06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8408" y="3383279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22"/>
                </a:solidFill>
                <a:latin typeface="Malgun Gothic"/>
              </a:rPr>
              <a:t>사운드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3383279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B06E00"/>
                </a:solidFill>
                <a:latin typeface="Malgun Gothic"/>
              </a:rPr>
              <a:t>부분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3383279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절차적 합성음만 — 음악 없음</a:t>
            </a:r>
          </a:p>
        </p:txBody>
      </p:sp>
      <p:sp>
        <p:nvSpPr>
          <p:cNvPr id="29" name="Oval 28"/>
          <p:cNvSpPr/>
          <p:nvPr/>
        </p:nvSpPr>
        <p:spPr>
          <a:xfrm>
            <a:off x="685800" y="3831335"/>
            <a:ext cx="146304" cy="146304"/>
          </a:xfrm>
          <a:prstGeom prst="ellipse">
            <a:avLst/>
          </a:prstGeom>
          <a:solidFill>
            <a:srgbClr val="C0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8408" y="3785615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22"/>
                </a:solidFill>
                <a:latin typeface="Malgun Gothic"/>
              </a:rPr>
              <a:t>튜토리얼 · 타이틀 · 설정 화면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3785615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0402A"/>
                </a:solidFill>
                <a:latin typeface="Malgun Gothic"/>
              </a:rPr>
              <a:t>없음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01000" y="3785615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첫 런에 기호 서른여덟 개를 문맥으로 배워야 한다</a:t>
            </a:r>
          </a:p>
        </p:txBody>
      </p:sp>
      <p:sp>
        <p:nvSpPr>
          <p:cNvPr id="33" name="Oval 32"/>
          <p:cNvSpPr/>
          <p:nvPr/>
        </p:nvSpPr>
        <p:spPr>
          <a:xfrm>
            <a:off x="685800" y="4233672"/>
            <a:ext cx="146304" cy="146304"/>
          </a:xfrm>
          <a:prstGeom prst="ellipse">
            <a:avLst/>
          </a:prstGeom>
          <a:solidFill>
            <a:srgbClr val="C040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78408" y="4187952"/>
            <a:ext cx="5852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A1822"/>
                </a:solidFill>
                <a:latin typeface="Malgun Gothic"/>
              </a:rPr>
              <a:t>메타 진행 · 언락 · 세이브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4187952"/>
            <a:ext cx="8229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0402A"/>
                </a:solidFill>
                <a:latin typeface="Malgun Gothic"/>
              </a:rPr>
              <a:t>없음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01000" y="4187952"/>
            <a:ext cx="4114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런마다 완전 초기화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" y="4773168"/>
            <a:ext cx="108173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A1822"/>
                </a:solidFill>
                <a:latin typeface="Malgun Gothic"/>
              </a:rPr>
              <a:t>개발 궤적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" y="5175504"/>
            <a:ext cx="2487168" cy="859536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05256" y="5321808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Malgun Gothic"/>
              </a:rPr>
              <a:t>1주차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" y="55961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컨셉 · 조준 · 판정 · 득점 연출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209544" y="5596128"/>
            <a:ext cx="182880" cy="0"/>
          </a:xfrm>
          <a:prstGeom prst="line">
            <a:avLst/>
          </a:prstGeom>
          <a:ln w="12700">
            <a:solidFill>
              <a:srgbClr val="9490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3300984" y="5518404"/>
            <a:ext cx="182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429000" y="5175504"/>
            <a:ext cx="2487168" cy="859536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48456" y="5321808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Malgun Gothic"/>
              </a:rPr>
              <a:t>2주차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48456" y="55961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칩과 상점 · 클리어 정산 · 스테이지 선택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952744" y="5596128"/>
            <a:ext cx="182880" cy="0"/>
          </a:xfrm>
          <a:prstGeom prst="line">
            <a:avLst/>
          </a:prstGeom>
          <a:ln w="12700">
            <a:solidFill>
              <a:srgbClr val="9490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6044184" y="5518404"/>
            <a:ext cx="182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▸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172200" y="5175504"/>
            <a:ext cx="2487168" cy="859536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91656" y="5321808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Malgun Gothic"/>
              </a:rPr>
              <a:t>3주차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391656" y="55961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상점을 물리 테이블로 · 인게임 UI · 탄창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695944" y="5596128"/>
            <a:ext cx="182880" cy="0"/>
          </a:xfrm>
          <a:prstGeom prst="line">
            <a:avLst/>
          </a:prstGeom>
          <a:ln w="12700">
            <a:solidFill>
              <a:srgbClr val="9490A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8787384" y="5518404"/>
            <a:ext cx="18288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9490A1"/>
                </a:solidFill>
                <a:latin typeface="Malgun Gothic"/>
              </a:rPr>
              <a:t>▸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915400" y="5175504"/>
            <a:ext cx="2487168" cy="859536"/>
          </a:xfrm>
          <a:prstGeom prst="roundRect">
            <a:avLst>
              <a:gd name="adj" fmla="val 3000"/>
            </a:avLst>
          </a:prstGeom>
          <a:solidFill>
            <a:srgbClr val="F4F3F7"/>
          </a:solidFill>
          <a:ln w="9525">
            <a:solidFill>
              <a:srgbClr val="E1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34856" y="5321808"/>
            <a:ext cx="21031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06E00"/>
                </a:solidFill>
                <a:latin typeface="Malgun Gothic"/>
              </a:rPr>
              <a:t>4주차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134856" y="5596128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아이콘 체계 · 데이터 테이블 · 기획서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5800" y="6217920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90A1"/>
                </a:solidFill>
                <a:latin typeface="Malgun Gothic"/>
              </a:rPr>
              <a:t>1인 개발 · 프로토타입 진행 중. 모든 수치는 현재 빌드의 실제 값이다.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49 / 50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54864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06E00"/>
                </a:solidFill>
                <a:latin typeface="Malgun Gothic"/>
              </a:rPr>
              <a:t>6장 · 개발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603504"/>
            <a:ext cx="10817352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A1822"/>
                </a:solidFill>
                <a:latin typeface="Malgun Gothic"/>
              </a:rPr>
              <a:t>다음에 할 것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85800" y="1060704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685800" y="1353312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822"/>
                </a:solidFill>
                <a:latin typeface="Malgun Gothic"/>
              </a:rPr>
              <a:t>먼저 할 것 — 근거를 실측으로 옮긴다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75564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B06E00"/>
                </a:solidFill>
                <a:latin typeface="Malgun Gothic"/>
              </a:rPr>
              <a:t>· 사람 플레이 로그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993391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라운드별 클리어율 · 사망 분포 · 실제 조준 분포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32257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B06E00"/>
                </a:solidFill>
                <a:latin typeface="Malgun Gothic"/>
              </a:rPr>
              <a:t>· 조준 모형 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560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균등과 중앙 편향을 나란히 두고 사이를 범위로 읽는다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8950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B06E00"/>
                </a:solidFill>
                <a:latin typeface="Malgun Gothic"/>
              </a:rPr>
              <a:t>· 중앙 조준 조정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1272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불의 칩 값과 중앙 조건 칩의 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564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B06E00"/>
                </a:solidFill>
                <a:latin typeface="Malgun Gothic"/>
              </a:rPr>
              <a:t>· 튜토리얼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" y="369417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첫 런에 배워야 하는 기호 서른여덟 개를 줄인다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353312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A1822"/>
                </a:solidFill>
                <a:latin typeface="Malgun Gothic"/>
              </a:rPr>
              <a:t>나중에 할 것 — 아직 안 정한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755648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490A1"/>
                </a:solidFill>
                <a:latin typeface="Malgun Gothic"/>
              </a:rPr>
              <a:t>· 8라운드 이후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1993391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무한 모드 · 승수 상승 · 일일 챌린지 중 미정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22576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490A1"/>
                </a:solidFill>
                <a:latin typeface="Malgun Gothic"/>
              </a:rPr>
              <a:t>· 리플레이 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2560320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시작 덱 변형 · 시작 판 변형 검토 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889504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490A1"/>
                </a:solidFill>
                <a:latin typeface="Malgun Gothic"/>
              </a:rPr>
              <a:t>· 목표 규모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312724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칩 40 · 개조 12 정도. 검증기의 경고가 확장 가이드다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456432"/>
            <a:ext cx="21945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9490A1"/>
                </a:solidFill>
                <a:latin typeface="Malgun Gothic"/>
              </a:rPr>
              <a:t>· 음악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2" y="3694176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050" b="0">
                <a:solidFill>
                  <a:srgbClr val="5E5A6B"/>
                </a:solidFill>
                <a:latin typeface="Malgun Gothic"/>
              </a:rPr>
              <a:t>라운드 진행에 층을 쌓는 방식이 맞겠지만 미정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3986784"/>
            <a:ext cx="10817352" cy="0"/>
          </a:xfrm>
          <a:prstGeom prst="line">
            <a:avLst/>
          </a:prstGeom>
          <a:ln w="9525">
            <a:solidFill>
              <a:srgbClr val="D6D3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85800" y="4261104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A1822"/>
                </a:solidFill>
                <a:latin typeface="Malgun Gothic"/>
              </a:rPr>
              <a:t>한 판에서 실력과 빌드가 만난다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992624"/>
            <a:ext cx="73152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3D394A"/>
                </a:solidFill>
                <a:latin typeface="Malgun Gothic"/>
              </a:rPr>
              <a:t>조준은 읽을 수 있는 패턴이고, 빌드는 곱셈이다.</a:t>
            </a:r>
          </a:p>
          <a:p>
            <a:pPr algn="l">
              <a:lnSpc>
                <a:spcPct val="140000"/>
              </a:lnSpc>
              <a:spcAft>
                <a:spcPts val="0"/>
              </a:spcAft>
            </a:pPr>
            <a:r>
              <a:rPr sz="1200" b="0">
                <a:solidFill>
                  <a:srgbClr val="3D394A"/>
                </a:solidFill>
                <a:latin typeface="Malgun Gothic"/>
              </a:rPr>
              <a:t>여덟 라운드 동안 매번 "얼마나 무리할까" 를 묻는다.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31596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B06E00"/>
                </a:solidFill>
                <a:latin typeface="Arial"/>
              </a:rPr>
              <a:t>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477316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87968" y="431596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B06E00"/>
                </a:solidFill>
                <a:latin typeface="Arial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477316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개조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37776" y="431596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B06E00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37776" y="477316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다트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387584" y="431596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B06E00"/>
                </a:solidFill>
                <a:latin typeface="Arial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87584" y="477316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제약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37392" y="4315968"/>
            <a:ext cx="7315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1">
                <a:solidFill>
                  <a:srgbClr val="B06E00"/>
                </a:solidFill>
                <a:latin typeface="Arial"/>
              </a:rPr>
              <a:t>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37392" y="4773168"/>
            <a:ext cx="7315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E5A6B"/>
                </a:solidFill>
                <a:latin typeface="Malgun Gothic"/>
              </a:rPr>
              <a:t>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" y="6272784"/>
            <a:ext cx="1081735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9490A1"/>
                </a:solidFill>
                <a:latin typeface="Malgun Gothic"/>
              </a:rPr>
              <a:t>프로토타입 진행 중 · Godot 4.7 · 1인 개발 · 이 문서의 수치는 전부 현재 빌드의 실제 값이다.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22992" y="6419088"/>
            <a:ext cx="128016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9490A1"/>
                </a:solidFill>
                <a:latin typeface="Arial"/>
              </a:rPr>
              <a:t>50 / 50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