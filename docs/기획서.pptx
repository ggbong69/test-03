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9" r:id="rId20"/>
    <p:sldId id="261" r:id="rId7"/>
    <p:sldId id="262" r:id="rId8"/>
    <p:sldId id="263" r:id="rId9"/>
    <p:sldId id="264" r:id="rId10"/>
    <p:sldId id="267" r:id="rId18"/>
    <p:sldId id="268" r:id="rId19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3.xml"/><Relationship Id="rId12" Type="http://schemas.openxmlformats.org/officeDocument/2006/relationships/slide" Target="slides/slide14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목표 점수</c:v>
                </c:pt>
              </c:strCache>
            </c:strRef>
          </c:tx>
          <c:spPr>
            <a:solidFill>
              <a:srgbClr val="E09B2A"/>
            </a:solidFill>
            <a:effectLst/>
          </c:spPr>
          <c:invertIfNegative val="0"/>
          <c:dLbls>
            <c:txPr>
              <a:bodyPr/>
              <a:lstStyle/>
              <a:p>
                <a:pPr>
                  <a:defRPr sz="1100" b="0">
                    <a:solidFill>
                      <a:srgbClr val="1A1822"/>
                    </a:solidFill>
                    <a:latin typeface="Arial"/>
                  </a:defRPr>
                </a:pPr>
                <a:endParaRPr lang="ko-KR"/>
              </a:p>
            </c:txPr>
            <c:numFmt formatCode="#,##0" sourceLinked="0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R1</c:v>
                  </c:pt>
                  <c:pt idx="1">
                    <c:v>R2</c:v>
                  </c:pt>
                  <c:pt idx="2">
                    <c:v>R3</c:v>
                  </c:pt>
                  <c:pt idx="3">
                    <c:v>R4</c:v>
                  </c:pt>
                  <c:pt idx="4">
                    <c:v>R5</c:v>
                  </c:pt>
                  <c:pt idx="5">
                    <c:v>R6</c:v>
                  </c:pt>
                  <c:pt idx="6">
                    <c:v>R7</c:v>
                  </c:pt>
                  <c:pt idx="7">
                    <c:v>R8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45</c:v>
                </c:pt>
                <c:pt idx="1">
                  <c:v>85</c:v>
                </c:pt>
                <c:pt idx="2">
                  <c:v>150</c:v>
                </c:pt>
                <c:pt idx="3">
                  <c:v>270</c:v>
                </c:pt>
                <c:pt idx="4">
                  <c:v>470</c:v>
                </c:pt>
                <c:pt idx="5">
                  <c:v>820</c:v>
                </c:pt>
                <c:pt idx="6">
                  <c:v>1450</c:v>
                </c:pt>
                <c:pt idx="7">
                  <c:v>2500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0">
                  <a:solidFill>
                    <a:srgbClr val="1A1822"/>
                  </a:solidFill>
                  <a:latin typeface="Arial"/>
                </a:defRPr>
              </a:pPr>
              <a:endParaRPr lang="ko-KR"/>
            </a:p>
          </c:txPr>
          <c:numFmt formatCode="#,##0" sourceLinked="0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9D7E0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E5A6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8E6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D9D7E0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E5A6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</c:spPr>
    </c:plotArea>
    <c:plotVisOnly val="1"/>
    <c:dispBlanksAs val="span"/>
  </c:chart>
  <c:spPr>
    <a:solidFill>
      <a:srgbClr val="FFFFFF"/>
    </a:solidFill>
    <a:ln>
      <a:noFill/>
    </a:ln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 줄 컨셉과 판. 이 게임의 모든 것이 이 원 위에서 정해진다는 것을 표지에서 미리 보여준다.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칩 × 배수가 이 게임의 전부다. 곱셈이라 한쪽이 0이면 결과도 0에 가깝다.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그림은 설명용 근사가 아니라 게임이 실제로 쓰는 비율 그대로다.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스킵이 없다. 여덟 번의 선택이 그 런의 성격이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축이 셋이고 역할이 갈려 있는 것이 이 게임의 구조적 차별점이다.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제약 여섯이 서로 다른 것을 아프게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여섯 발이면 60점. 1라운드는 맨손으로 넘을 수 있게 두고, 그 뒤로 벌린다.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상수마다 유도하려는 행동이 붙어 있다. 숫자를 감으로 박지 않았다.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에셋이 0개라는 것이 제약이자 정체성이다.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알고 있는 문제를 적는 것이 신뢰를 만든다. 숨기면 플레이해본 사람이 5분 만에 찾아낸다.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마무리. 표지의 판이 다시 나와 문서를 닫는다.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960120"/>
            <a:ext cx="3840480" cy="3840480"/>
          </a:xfrm>
          <a:prstGeom prst="rect">
            <a:avLst/>
          </a:prstGeom>
          <a:ln/>
        </p:spPr>
      </p:pic>
      <p:sp>
        <p:nvSpPr>
          <p:cNvPr id="3" name="Text 0"/>
          <p:cNvSpPr/>
          <p:nvPr/>
        </p:nvSpPr>
        <p:spPr>
          <a:xfrm>
            <a:off x="685800" y="7772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0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게임 기획서 · 프로토타입 진행 중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85800" y="1143000"/>
            <a:ext cx="6766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1A18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칩과 다트판</a:t>
            </a:r>
            <a:endParaRPr lang="en-US" sz="6000" dirty="0"/>
          </a:p>
        </p:txBody>
      </p:sp>
      <p:sp>
        <p:nvSpPr>
          <p:cNvPr id="5" name="Text 2"/>
          <p:cNvSpPr/>
          <p:nvPr/>
        </p:nvSpPr>
        <p:spPr>
          <a:xfrm>
            <a:off x="685800" y="2606040"/>
            <a:ext cx="6583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5E5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다트를 던지는 손과 판을 읽는 머리가 곱해지는 로그라이트.</a:t>
            </a:r>
            <a:endParaRPr lang="en-US" sz="17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5E5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조준은 실시간 타이밍이고, 점수는 카지노 칩이 쌓아 올린다.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685800" y="3886200"/>
            <a:ext cx="1613916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B06E00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685800" y="3886200"/>
            <a:ext cx="16139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싱글플레이 로그라이트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2446020" y="3886200"/>
            <a:ext cx="1367028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322B49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2446020" y="3886200"/>
            <a:ext cx="13670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E5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Godot 4.7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959352" y="3886200"/>
            <a:ext cx="1367028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322B49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3959352" y="3886200"/>
            <a:ext cx="13670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E5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640 × 360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472684" y="3886200"/>
            <a:ext cx="873252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322B49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472684" y="3886200"/>
            <a:ext cx="8732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E5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에셋 0개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486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0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6868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8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실력과 빌드가 더해지지 않고 곱해진다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800" y="1783080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5E5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점수는 칩 × 배수다. 어디에 꽂혔는가가 앞자리를 정하고,</a:t>
            </a:r>
            <a:endParaRPr lang="en-US" sz="15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5E5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들고 있는가가 뒷자리를 정한다.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2880360"/>
            <a:ext cx="1600200" cy="1371600"/>
          </a:xfrm>
          <a:prstGeom prst="roundRect">
            <a:avLst>
              <a:gd name="adj" fmla="val 4000"/>
            </a:avLst>
          </a:prstGeom>
          <a:solidFill>
            <a:srgbClr val="F2F1F5"/>
          </a:solidFill>
          <a:ln w="9525">
            <a:solidFill>
              <a:srgbClr val="D9D7E0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85800" y="3063240"/>
            <a:ext cx="1600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685800" y="374904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5E5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칩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286000" y="2880360"/>
            <a:ext cx="502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5E5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2788920" y="2880360"/>
            <a:ext cx="1600200" cy="1371600"/>
          </a:xfrm>
          <a:prstGeom prst="roundRect">
            <a:avLst>
              <a:gd name="adj" fmla="val 4000"/>
            </a:avLst>
          </a:prstGeom>
          <a:solidFill>
            <a:srgbClr val="F2F1F5"/>
          </a:solidFill>
          <a:ln w="9525">
            <a:solidFill>
              <a:srgbClr val="D9D7E0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788920" y="3063240"/>
            <a:ext cx="1600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C04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2788920" y="374904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5E5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배수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389120" y="2880360"/>
            <a:ext cx="502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5E5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4892040" y="2880360"/>
            <a:ext cx="1600200" cy="1371600"/>
          </a:xfrm>
          <a:prstGeom prst="roundRect">
            <a:avLst>
              <a:gd name="adj" fmla="val 4000"/>
            </a:avLst>
          </a:prstGeom>
          <a:solidFill>
            <a:srgbClr val="F2F1F5"/>
          </a:solidFill>
          <a:ln w="9525">
            <a:solidFill>
              <a:srgbClr val="D9D7E0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892040" y="3063240"/>
            <a:ext cx="1600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B06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225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4892040" y="374904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5E5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85800" y="45262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0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 중 하나만으로는 여덟 라운드를 못 넘긴다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85800" y="493776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5E5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조준이 완벽해도 빌드가 없으면 6라운드(목표 820점)에서 막히고,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5E5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빌드가 좋아도 빗나가면 곱할 것이 없다.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680960" y="1783080"/>
            <a:ext cx="3794760" cy="3108960"/>
          </a:xfrm>
          <a:prstGeom prst="roundRect">
            <a:avLst>
              <a:gd name="adj" fmla="val 2353"/>
            </a:avLst>
          </a:prstGeom>
          <a:solidFill>
            <a:srgbClr val="EBF4EF"/>
          </a:solidFill>
          <a:ln w="12700">
            <a:solidFill>
              <a:srgbClr val="322B49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8046720" y="21031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18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빗나감도 설계다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8046720" y="2606040"/>
            <a:ext cx="3108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1A18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조준 범위가 판보다 넓어 상당수가 빗나간다. 그런데 "빗나가면 점수 +30"이라는 칩이 있다.</a:t>
            </a:r>
            <a:endParaRPr lang="en-US" sz="1350" dirty="0"/>
          </a:p>
          <a:p>
            <a:pPr indent="0" marL="0">
              <a:lnSpc>
                <a:spcPts val="2200"/>
              </a:lnSpc>
              <a:buNone/>
            </a:pPr>
            <a:endParaRPr lang="en-US" sz="13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1A18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실패가 벌이 아니라 빌드의 축이 된다.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486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0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6868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8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것이 이 원 위에서 정해진다</a:t>
            </a:r>
            <a:endParaRPr lang="en-US" sz="3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828800"/>
            <a:ext cx="3566160" cy="3566160"/>
          </a:xfrm>
          <a:prstGeom prst="rect">
            <a:avLst/>
          </a:prstGeom>
          <a:ln/>
        </p:spPr>
      </p:pic>
      <p:sp>
        <p:nvSpPr>
          <p:cNvPr id="5" name="Text 2"/>
          <p:cNvSpPr/>
          <p:nvPr/>
        </p:nvSpPr>
        <p:spPr>
          <a:xfrm>
            <a:off x="685800" y="54406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E5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칸이 칩을 정하고, 링이 배수를 정한다.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754880" y="1965960"/>
            <a:ext cx="128016" cy="256032"/>
          </a:xfrm>
          <a:prstGeom prst="rect">
            <a:avLst/>
          </a:prstGeom>
          <a:solidFill>
            <a:srgbClr val="D8483D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5074920" y="187452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8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한복판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675120" y="18745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5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칩 50 · 배수 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9144000" y="187452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E5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0.00 – 0.06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754880" y="2441448"/>
            <a:ext cx="128016" cy="256032"/>
          </a:xfrm>
          <a:prstGeom prst="rect">
            <a:avLst/>
          </a:prstGeom>
          <a:solidFill>
            <a:srgbClr val="479A58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5074920" y="2350008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8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675120" y="235000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5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칩 25 · 배수 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9144000" y="2350008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E5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0.06 – 0.14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754880" y="2916936"/>
            <a:ext cx="128016" cy="256032"/>
          </a:xfrm>
          <a:prstGeom prst="rect">
            <a:avLst/>
          </a:prstGeom>
          <a:solidFill>
            <a:srgbClr val="E8DFC8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5074920" y="282549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8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단타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675120" y="282549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5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칸 값 · 배수 1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9144000" y="2825496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E5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0.14 – 0.56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754880" y="3392424"/>
            <a:ext cx="128016" cy="256032"/>
          </a:xfrm>
          <a:prstGeom prst="rect">
            <a:avLst/>
          </a:prstGeom>
          <a:solidFill>
            <a:srgbClr val="F2B134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74920" y="3300984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8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트리플 띠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675120" y="3300984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5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배수 3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9144000" y="33009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E5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0.56 – 0.66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754880" y="3867912"/>
            <a:ext cx="128016" cy="256032"/>
          </a:xfrm>
          <a:prstGeom prst="rect">
            <a:avLst/>
          </a:prstGeom>
          <a:solidFill>
            <a:srgbClr val="E8DFC8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3" name="Text 20"/>
          <p:cNvSpPr/>
          <p:nvPr/>
        </p:nvSpPr>
        <p:spPr>
          <a:xfrm>
            <a:off x="5074920" y="377647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8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단타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675120" y="37764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5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칸 값 · 배수 1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9144000" y="377647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E5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0.66 – 0.90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754880" y="4343400"/>
            <a:ext cx="128016" cy="256032"/>
          </a:xfrm>
          <a:prstGeom prst="rect">
            <a:avLst/>
          </a:prstGeom>
          <a:solidFill>
            <a:srgbClr val="E2593F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7" name="Text 24"/>
          <p:cNvSpPr/>
          <p:nvPr/>
        </p:nvSpPr>
        <p:spPr>
          <a:xfrm>
            <a:off x="5074920" y="425196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8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더블 띠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6675120" y="425196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5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배수 2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9144000" y="425196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E5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0.90 – 1.00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754880" y="4937760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1A18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불이 배수 25가 아니라 칩 25 · 배수 1이라는 점이 이 판의 성격을 정한다.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1A18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배수를 키우는 빌드에게 한복판은 안전한 기본값이고, 칩을 키우는 빌드에게는 트리플 띠가 정답이다.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486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0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루프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6868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8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라운드는 네 걸음이다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87452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F2F1F5"/>
          </a:solidFill>
          <a:ln w="9525">
            <a:solidFill>
              <a:srgbClr val="D9D7E0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960120" y="210312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06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60120" y="246888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8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 고르기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60120" y="2971800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E5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정공 · 도전 · 극한 중 하나.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E5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제약을 받을수록 보상이 커진다.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547872" y="187452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F2F1F5"/>
          </a:solidFill>
          <a:ln w="9525">
            <a:solidFill>
              <a:srgbClr val="D9D7E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822192" y="210312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06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822192" y="246888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8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던지기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822192" y="2971800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E5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다트 6개.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E5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목표를 넘긴 순간 끝난다.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9944" y="187452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F2F1F5"/>
          </a:solidFill>
          <a:ln w="9525">
            <a:solidFill>
              <a:srgbClr val="D9D7E0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684264" y="210312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06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684264" y="246888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8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정산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684264" y="2971800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E5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클리어 · 남은 다트 · 이자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E5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칩이 주는 골드.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9272016" y="187452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F2F1F5"/>
          </a:solidFill>
          <a:ln w="9525">
            <a:solidFill>
              <a:srgbClr val="D9D7E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9546336" y="210312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06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546336" y="246888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8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상점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546336" y="2971800"/>
            <a:ext cx="2057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E5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칩 2 · 개조 1 · 다트 1이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E5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테이블에 떨어진다.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85800" y="46177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0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목표를 넘긴 순간 라운드가 끝나고 남은 다트가 골드로 바뀐다.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85800" y="502920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5E5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"안전하게 다 던지기"와 "적은 발로 끝내기"가 매 라운드 저울에 오른다.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5E5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정산이 8회가 아니라 7회인 것도 설계다 — 마지막 라운드는 보상 없이 끝난다.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486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0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성장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6868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8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축이 서로를 대체하지 않는다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800" y="169164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5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보통 이 장르는 성장 축이 하나다. 여기는 셋이고, 각자 다른 질문에 답한다.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85800" y="2194560"/>
            <a:ext cx="3502152" cy="2514600"/>
          </a:xfrm>
          <a:prstGeom prst="roundRect">
            <a:avLst>
              <a:gd name="adj" fmla="val 2909"/>
            </a:avLst>
          </a:prstGeom>
          <a:solidFill>
            <a:srgbClr val="F2F1F5"/>
          </a:solidFill>
          <a:ln w="9525">
            <a:solidFill>
              <a:srgbClr val="D9D7E0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78408" y="2450592"/>
            <a:ext cx="310896" cy="310896"/>
          </a:xfrm>
          <a:prstGeom prst="ellipse">
            <a:avLst/>
          </a:prstGeom>
          <a:solidFill>
            <a:srgbClr val="3F8FD8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435608" y="2450592"/>
            <a:ext cx="24963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26종 · 슬롯 5칸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978408" y="2852928"/>
            <a:ext cx="29169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8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칩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978408" y="3310128"/>
            <a:ext cx="2916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8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어디를 노릴지를 바꾼다.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978408" y="3657600"/>
            <a:ext cx="29169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5E5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조건과 효과의 짝 — "트리플 명중 시 배수 +4".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5E5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슬롯이 5칸뿐이라 넣는 것이 곧 빼는 것이다.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462272" y="2194560"/>
            <a:ext cx="3502152" cy="2514600"/>
          </a:xfrm>
          <a:prstGeom prst="roundRect">
            <a:avLst>
              <a:gd name="adj" fmla="val 2909"/>
            </a:avLst>
          </a:prstGeom>
          <a:solidFill>
            <a:srgbClr val="F2F1F5"/>
          </a:solidFill>
          <a:ln w="9525">
            <a:solidFill>
              <a:srgbClr val="D9D7E0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754880" y="2450592"/>
            <a:ext cx="310896" cy="310896"/>
          </a:xfrm>
          <a:prstGeom prst="ellipse">
            <a:avLst/>
          </a:prstGeom>
          <a:solidFill>
            <a:srgbClr val="F2B134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212080" y="2450592"/>
            <a:ext cx="24963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B06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8종 · 슬롯 없음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754880" y="2852928"/>
            <a:ext cx="29169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8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보드 개조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754880" y="3310128"/>
            <a:ext cx="2916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8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얼마나 잘 맞출지를 바꾼다.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754880" y="3657600"/>
            <a:ext cx="29169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5E5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띠를 넓히고, 옮기고, 하나 더 만들고,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5E5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 자체를 키운다. 한 종류는 런에 한 번만.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238744" y="2194560"/>
            <a:ext cx="3502152" cy="2514600"/>
          </a:xfrm>
          <a:prstGeom prst="roundRect">
            <a:avLst>
              <a:gd name="adj" fmla="val 2909"/>
            </a:avLst>
          </a:prstGeom>
          <a:solidFill>
            <a:srgbClr val="F2F1F5"/>
          </a:solidFill>
          <a:ln w="9525">
            <a:solidFill>
              <a:srgbClr val="D9D7E0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8531352" y="2450592"/>
            <a:ext cx="310896" cy="310896"/>
          </a:xfrm>
          <a:prstGeom prst="ellipse">
            <a:avLst/>
          </a:prstGeom>
          <a:solidFill>
            <a:srgbClr val="479A58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8988552" y="2450592"/>
            <a:ext cx="24963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2E7D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5종 · 탄창 6발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531352" y="2852928"/>
            <a:ext cx="29169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8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다트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8531352" y="3310128"/>
            <a:ext cx="2916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8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던지는 감각을 바꾼다.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8531352" y="3657600"/>
            <a:ext cx="29169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5E5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무거운 것은 게이지가 느린 대신 배수가 깎이고,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5E5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자석은 중심으로 당긴다.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85800" y="4983480"/>
            <a:ext cx="10789920" cy="914400"/>
          </a:xfrm>
          <a:prstGeom prst="roundRect">
            <a:avLst>
              <a:gd name="adj" fmla="val 8000"/>
            </a:avLst>
          </a:prstGeom>
          <a:solidFill>
            <a:srgbClr val="EBF4EF"/>
          </a:solidFill>
          <a:ln w="12700">
            <a:solidFill>
              <a:srgbClr val="322B49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1051560" y="512064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50" dirty="0">
                <a:solidFill>
                  <a:srgbClr val="1A18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칩은 판이 뱉은 결과를 읽고, 개조는 판이 읽는 값을 바꾼다.</a:t>
            </a:r>
            <a:endParaRPr lang="en-US" sz="145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50" dirty="0">
                <a:solidFill>
                  <a:srgbClr val="1A18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개조 하나를 사면 칩 26종의 값어치가 전부 조금씩 움직인다.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B06E00"/>
                </a:solidFill>
                <a:latin typeface="Malgun Gothic"/>
              </a:rPr>
              <a:t>데이터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789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400" b="1">
                <a:solidFill>
                  <a:srgbClr val="1A1822"/>
                </a:solidFill>
                <a:latin typeface="Malgun Gothic"/>
              </a:rPr>
              <a:t>칩 스물여섯 장을 같은 자로 잰다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783080"/>
            <a:ext cx="7680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5E5A6B"/>
                </a:solidFill>
                <a:latin typeface="Malgun Gothic"/>
              </a:rPr>
              <a:t>실제 판정으로 36만 발을 던져 칩마다 발동률과 다트당 기여를 쟀다.</a:t>
            </a:r>
          </a:p>
          <a:p>
            <a:pPr algn="l"/>
            <a:r>
              <a:rPr sz="1200" b="0">
                <a:solidFill>
                  <a:srgbClr val="5E5A6B"/>
                </a:solidFill>
                <a:latin typeface="Malgun Gothic"/>
              </a:rPr>
              <a:t>조건이 넓고 값이 작은 칩과 좁고 큰 칩을 나란히 놓고 보기 위해서다.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697480"/>
            <a:ext cx="89611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B06E00"/>
                </a:solidFill>
                <a:latin typeface="Malgun Gothic"/>
              </a:rPr>
              <a:t>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81912" y="2697480"/>
            <a:ext cx="93268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B06E00"/>
                </a:solidFill>
                <a:latin typeface="Malgun Gothic"/>
              </a:rPr>
              <a:t>조건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0" y="2697480"/>
            <a:ext cx="76809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B06E00"/>
                </a:solidFill>
                <a:latin typeface="Malgun Gothic"/>
              </a:rPr>
              <a:t>효과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82696" y="2697480"/>
            <a:ext cx="274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>
                <a:solidFill>
                  <a:srgbClr val="B06E00"/>
                </a:solidFill>
                <a:latin typeface="Malgun Gothic"/>
              </a:rPr>
              <a:t>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57015" y="2697480"/>
            <a:ext cx="51206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>
                <a:solidFill>
                  <a:srgbClr val="B06E00"/>
                </a:solidFill>
                <a:latin typeface="Malgun Gothic"/>
              </a:rPr>
              <a:t>발동%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69079" y="2697480"/>
            <a:ext cx="457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>
                <a:solidFill>
                  <a:srgbClr val="B06E00"/>
                </a:solidFill>
                <a:latin typeface="Malgun Gothic"/>
              </a:rPr>
              <a:t>기여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971800"/>
            <a:ext cx="89611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1A1822"/>
                </a:solidFill>
                <a:latin typeface="Malgun Gothic"/>
              </a:rPr>
              <a:t>삼중고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81912" y="2971800"/>
            <a:ext cx="93268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5E5A6B"/>
                </a:solidFill>
                <a:latin typeface="Malgun Gothic"/>
              </a:rPr>
              <a:t>트리플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4600" y="2971800"/>
            <a:ext cx="76809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C0402A"/>
                </a:solidFill>
                <a:latin typeface="Malgun Gothic"/>
              </a:rPr>
              <a:t>배수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82696" y="2971800"/>
            <a:ext cx="274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5E5A6B"/>
                </a:solidFill>
                <a:latin typeface="Malgun Gothic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57015" y="2971800"/>
            <a:ext cx="51206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5E5A6B"/>
                </a:solidFill>
                <a:latin typeface="Malgun Gothic"/>
              </a:rPr>
              <a:t>7.58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69079" y="2971800"/>
            <a:ext cx="457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1A1822"/>
                </a:solidFill>
                <a:latin typeface="Malgun Gothic"/>
              </a:rPr>
              <a:t>3.17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195828"/>
            <a:ext cx="89611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1A1822"/>
                </a:solidFill>
                <a:latin typeface="Malgun Gothic"/>
              </a:rPr>
              <a:t>가장자리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81912" y="3195828"/>
            <a:ext cx="93268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5E5A6B"/>
                </a:solidFill>
                <a:latin typeface="Malgun Gothic"/>
              </a:rPr>
              <a:t>더블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14600" y="3195828"/>
            <a:ext cx="76809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C0402A"/>
                </a:solidFill>
                <a:latin typeface="Malgun Gothic"/>
              </a:rPr>
              <a:t>배수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82696" y="3195828"/>
            <a:ext cx="274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5E5A6B"/>
                </a:solidFill>
                <a:latin typeface="Malgun Gothic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57015" y="3195828"/>
            <a:ext cx="51206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5E5A6B"/>
                </a:solidFill>
                <a:latin typeface="Malgun Gothic"/>
              </a:rPr>
              <a:t>11.86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69079" y="3195828"/>
            <a:ext cx="457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1A1822"/>
                </a:solidFill>
                <a:latin typeface="Malgun Gothic"/>
              </a:rPr>
              <a:t>3.74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3419856"/>
            <a:ext cx="89611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1A1822"/>
                </a:solidFill>
                <a:latin typeface="Malgun Gothic"/>
              </a:rPr>
              <a:t>홀수 애호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81912" y="3419856"/>
            <a:ext cx="93268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5E5A6B"/>
                </a:solidFill>
                <a:latin typeface="Malgun Gothic"/>
              </a:rPr>
              <a:t>홀수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14600" y="3419856"/>
            <a:ext cx="76809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1F6FBF"/>
                </a:solidFill>
                <a:latin typeface="Malgun Gothic"/>
              </a:rPr>
              <a:t>점수 14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82696" y="3419856"/>
            <a:ext cx="274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5E5A6B"/>
                </a:solidFill>
                <a:latin typeface="Malgun Gothi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57015" y="3419856"/>
            <a:ext cx="51206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5E5A6B"/>
                </a:solidFill>
                <a:latin typeface="Malgun Gothic"/>
              </a:rPr>
              <a:t>30.41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69079" y="3419856"/>
            <a:ext cx="457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1A1822"/>
                </a:solidFill>
                <a:latin typeface="Malgun Gothic"/>
              </a:rPr>
              <a:t>6.14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3643884"/>
            <a:ext cx="89611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1A1822"/>
                </a:solidFill>
                <a:latin typeface="Malgun Gothic"/>
              </a:rPr>
              <a:t>짝수 애호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81912" y="3643884"/>
            <a:ext cx="93268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5E5A6B"/>
                </a:solidFill>
                <a:latin typeface="Malgun Gothic"/>
              </a:rPr>
              <a:t>짝수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14600" y="3643884"/>
            <a:ext cx="76809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1F6FBF"/>
                </a:solidFill>
                <a:latin typeface="Malgun Gothic"/>
              </a:rPr>
              <a:t>점수 14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82696" y="3643884"/>
            <a:ext cx="274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5E5A6B"/>
                </a:solidFill>
                <a:latin typeface="Malgun Gothic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57015" y="3643884"/>
            <a:ext cx="51206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5E5A6B"/>
                </a:solidFill>
                <a:latin typeface="Malgun Gothic"/>
              </a:rPr>
              <a:t>30.67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69079" y="3643884"/>
            <a:ext cx="457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1A1822"/>
                </a:solidFill>
                <a:latin typeface="Malgun Gothic"/>
              </a:rPr>
              <a:t>6.19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3867912"/>
            <a:ext cx="89611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1A1822"/>
                </a:solidFill>
                <a:latin typeface="Malgun Gothic"/>
              </a:rPr>
              <a:t>좌익수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81912" y="3867912"/>
            <a:ext cx="93268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5E5A6B"/>
                </a:solidFill>
                <a:latin typeface="Malgun Gothic"/>
              </a:rPr>
              <a:t>왼쪽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14600" y="3867912"/>
            <a:ext cx="76809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C0402A"/>
                </a:solidFill>
                <a:latin typeface="Malgun Gothic"/>
              </a:rPr>
              <a:t>배수 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82696" y="3867912"/>
            <a:ext cx="274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5E5A6B"/>
                </a:solidFill>
                <a:latin typeface="Malgun Gothic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57015" y="3867912"/>
            <a:ext cx="51206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5E5A6B"/>
                </a:solidFill>
                <a:latin typeface="Malgun Gothic"/>
              </a:rPr>
              <a:t>31.14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069079" y="3867912"/>
            <a:ext cx="457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1A1822"/>
                </a:solidFill>
                <a:latin typeface="Malgun Gothic"/>
              </a:rPr>
              <a:t>7.24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" y="4091939"/>
            <a:ext cx="89611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1A1822"/>
                </a:solidFill>
                <a:latin typeface="Malgun Gothic"/>
              </a:rPr>
              <a:t>우익수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81912" y="4091939"/>
            <a:ext cx="93268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5E5A6B"/>
                </a:solidFill>
                <a:latin typeface="Malgun Gothic"/>
              </a:rPr>
              <a:t>오른쪽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514600" y="4091939"/>
            <a:ext cx="76809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C0402A"/>
                </a:solidFill>
                <a:latin typeface="Malgun Gothic"/>
              </a:rPr>
              <a:t>배수 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82696" y="4091939"/>
            <a:ext cx="274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5E5A6B"/>
                </a:solidFill>
                <a:latin typeface="Malgun Gothic"/>
              </a:rPr>
              <a:t>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57015" y="4091939"/>
            <a:ext cx="51206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5E5A6B"/>
                </a:solidFill>
                <a:latin typeface="Malgun Gothic"/>
              </a:rPr>
              <a:t>31.16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69079" y="4091939"/>
            <a:ext cx="457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1A1822"/>
                </a:solidFill>
                <a:latin typeface="Malgun Gothic"/>
              </a:rPr>
              <a:t>6.32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" y="4315968"/>
            <a:ext cx="89611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1A1822"/>
                </a:solidFill>
                <a:latin typeface="Malgun Gothic"/>
              </a:rPr>
              <a:t>대물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581912" y="4315968"/>
            <a:ext cx="93268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5E5A6B"/>
                </a:solidFill>
                <a:latin typeface="Malgun Gothic"/>
              </a:rPr>
              <a:t>15 이상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514600" y="4315968"/>
            <a:ext cx="76809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1F6FBF"/>
                </a:solidFill>
                <a:latin typeface="Malgun Gothic"/>
              </a:rPr>
              <a:t>점수 16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282696" y="4315968"/>
            <a:ext cx="274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5E5A6B"/>
                </a:solidFill>
                <a:latin typeface="Malgun Gothic"/>
              </a:rPr>
              <a:t>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57015" y="4315968"/>
            <a:ext cx="51206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5E5A6B"/>
                </a:solidFill>
                <a:latin typeface="Malgun Gothic"/>
              </a:rPr>
              <a:t>18.44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69079" y="4315968"/>
            <a:ext cx="457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1A1822"/>
                </a:solidFill>
                <a:latin typeface="Malgun Gothic"/>
              </a:rPr>
              <a:t>4.25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" y="4539996"/>
            <a:ext cx="89611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1A1822"/>
                </a:solidFill>
                <a:latin typeface="Malgun Gothic"/>
              </a:rPr>
              <a:t>소물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581912" y="4539996"/>
            <a:ext cx="93268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5E5A6B"/>
                </a:solidFill>
                <a:latin typeface="Malgun Gothic"/>
              </a:rPr>
              <a:t>5 이하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514600" y="4539996"/>
            <a:ext cx="76809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C0402A"/>
                </a:solidFill>
                <a:latin typeface="Malgun Gothic"/>
              </a:rPr>
              <a:t>배수 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282696" y="4539996"/>
            <a:ext cx="274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5E5A6B"/>
                </a:solidFill>
                <a:latin typeface="Malgun Gothic"/>
              </a:rPr>
              <a:t>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557015" y="4539996"/>
            <a:ext cx="51206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5E5A6B"/>
                </a:solidFill>
                <a:latin typeface="Malgun Gothic"/>
              </a:rPr>
              <a:t>15.26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69079" y="4539996"/>
            <a:ext cx="457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1A1822"/>
                </a:solidFill>
                <a:latin typeface="Malgun Gothic"/>
              </a:rPr>
              <a:t>2.29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5800" y="4764024"/>
            <a:ext cx="89611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1A1822"/>
                </a:solidFill>
                <a:latin typeface="Malgun Gothic"/>
              </a:rPr>
              <a:t>외골수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581912" y="4764024"/>
            <a:ext cx="93268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5E5A6B"/>
                </a:solidFill>
                <a:latin typeface="Malgun Gothic"/>
              </a:rPr>
              <a:t>직전과 같음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514600" y="4764024"/>
            <a:ext cx="76809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C0402A"/>
                </a:solidFill>
                <a:latin typeface="Malgun Gothic"/>
              </a:rPr>
              <a:t>배수 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82696" y="4764024"/>
            <a:ext cx="274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5E5A6B"/>
                </a:solidFill>
                <a:latin typeface="Malgun Gothic"/>
              </a:rPr>
              <a:t>7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557015" y="4764024"/>
            <a:ext cx="51206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5E5A6B"/>
                </a:solidFill>
                <a:latin typeface="Malgun Gothic"/>
              </a:rPr>
              <a:t>1.54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069079" y="4764024"/>
            <a:ext cx="457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1A1822"/>
                </a:solidFill>
                <a:latin typeface="Malgun Gothic"/>
              </a:rPr>
              <a:t>0.66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4988052"/>
            <a:ext cx="89611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1A1822"/>
                </a:solidFill>
                <a:latin typeface="Malgun Gothic"/>
              </a:rPr>
              <a:t>변덕쟁이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581912" y="4988052"/>
            <a:ext cx="93268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5E5A6B"/>
                </a:solidFill>
                <a:latin typeface="Malgun Gothic"/>
              </a:rPr>
              <a:t>직전과 다름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514600" y="4988052"/>
            <a:ext cx="76809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1F6FBF"/>
                </a:solidFill>
                <a:latin typeface="Malgun Gothic"/>
              </a:rPr>
              <a:t>점수 22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282696" y="4988052"/>
            <a:ext cx="274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5E5A6B"/>
                </a:solidFill>
                <a:latin typeface="Malgun Gothic"/>
              </a:rPr>
              <a:t>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557015" y="4988052"/>
            <a:ext cx="51206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5E5A6B"/>
                </a:solidFill>
                <a:latin typeface="Malgun Gothic"/>
              </a:rPr>
              <a:t>60.76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069079" y="4988052"/>
            <a:ext cx="457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1A1822"/>
                </a:solidFill>
                <a:latin typeface="Malgun Gothic"/>
              </a:rPr>
              <a:t>19.16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85800" y="5212080"/>
            <a:ext cx="89611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1A1822"/>
                </a:solidFill>
                <a:latin typeface="Malgun Gothic"/>
              </a:rPr>
              <a:t>명중왕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581912" y="5212080"/>
            <a:ext cx="93268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5E5A6B"/>
                </a:solidFill>
                <a:latin typeface="Malgun Gothic"/>
              </a:rPr>
              <a:t>불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514600" y="5212080"/>
            <a:ext cx="76809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C0402A"/>
                </a:solidFill>
                <a:latin typeface="Malgun Gothic"/>
              </a:rPr>
              <a:t>배수 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282696" y="5212080"/>
            <a:ext cx="274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5E5A6B"/>
                </a:solidFill>
                <a:latin typeface="Malgun Gothic"/>
              </a:rPr>
              <a:t>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557015" y="5212080"/>
            <a:ext cx="51206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5E5A6B"/>
                </a:solidFill>
                <a:latin typeface="Malgun Gothic"/>
              </a:rPr>
              <a:t>1.22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069079" y="5212080"/>
            <a:ext cx="457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1A1822"/>
                </a:solidFill>
                <a:latin typeface="Malgun Gothic"/>
              </a:rPr>
              <a:t>2.88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5800" y="5436108"/>
            <a:ext cx="89611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1A1822"/>
                </a:solidFill>
                <a:latin typeface="Malgun Gothic"/>
              </a:rPr>
              <a:t>첫 발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581912" y="5436108"/>
            <a:ext cx="93268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5E5A6B"/>
                </a:solidFill>
                <a:latin typeface="Malgun Gothic"/>
              </a:rPr>
              <a:t>첫 발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514600" y="5436108"/>
            <a:ext cx="76809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1F6FBF"/>
                </a:solidFill>
                <a:latin typeface="Malgun Gothic"/>
              </a:rPr>
              <a:t>점수 45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282696" y="5436108"/>
            <a:ext cx="274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5E5A6B"/>
                </a:solidFill>
                <a:latin typeface="Malgun Gothic"/>
              </a:rP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557015" y="5436108"/>
            <a:ext cx="51206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5E5A6B"/>
                </a:solidFill>
                <a:latin typeface="Malgun Gothic"/>
              </a:rPr>
              <a:t>10.45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069079" y="5436108"/>
            <a:ext cx="457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1A1822"/>
                </a:solidFill>
                <a:latin typeface="Malgun Gothic"/>
              </a:rPr>
              <a:t>6.72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85800" y="5660136"/>
            <a:ext cx="89611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1A1822"/>
                </a:solidFill>
                <a:latin typeface="Malgun Gothic"/>
              </a:rPr>
              <a:t>막판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581912" y="5660136"/>
            <a:ext cx="93268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5E5A6B"/>
                </a:solidFill>
                <a:latin typeface="Malgun Gothic"/>
              </a:rPr>
              <a:t>막 발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514600" y="5660136"/>
            <a:ext cx="76809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C0402A"/>
                </a:solidFill>
                <a:latin typeface="Malgun Gothic"/>
              </a:rPr>
              <a:t>배수× 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282696" y="5660136"/>
            <a:ext cx="274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5E5A6B"/>
                </a:solidFill>
                <a:latin typeface="Malgun Gothic"/>
              </a:rPr>
              <a:t>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557015" y="5660136"/>
            <a:ext cx="51206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5E5A6B"/>
                </a:solidFill>
                <a:latin typeface="Malgun Gothic"/>
              </a:rPr>
              <a:t>10.40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069079" y="5660136"/>
            <a:ext cx="457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1A1822"/>
                </a:solidFill>
                <a:latin typeface="Malgun Gothic"/>
              </a:rPr>
              <a:t>1.59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663440" y="2697480"/>
            <a:ext cx="89611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B06E00"/>
                </a:solidFill>
                <a:latin typeface="Malgun Gothic"/>
              </a:rPr>
              <a:t>칩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559552" y="2697480"/>
            <a:ext cx="93268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B06E00"/>
                </a:solidFill>
                <a:latin typeface="Malgun Gothic"/>
              </a:rPr>
              <a:t>조건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492240" y="2697480"/>
            <a:ext cx="76809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B06E00"/>
                </a:solidFill>
                <a:latin typeface="Malgun Gothic"/>
              </a:rPr>
              <a:t>효과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60336" y="2697480"/>
            <a:ext cx="274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>
                <a:solidFill>
                  <a:srgbClr val="B06E00"/>
                </a:solidFill>
                <a:latin typeface="Malgun Gothic"/>
              </a:rPr>
              <a:t>가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534656" y="2697480"/>
            <a:ext cx="51206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>
                <a:solidFill>
                  <a:srgbClr val="B06E00"/>
                </a:solidFill>
                <a:latin typeface="Malgun Gothic"/>
              </a:rPr>
              <a:t>발동%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046720" y="2697480"/>
            <a:ext cx="457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>
                <a:solidFill>
                  <a:srgbClr val="B06E00"/>
                </a:solidFill>
                <a:latin typeface="Malgun Gothic"/>
              </a:rPr>
              <a:t>기여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663440" y="2971800"/>
            <a:ext cx="89611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1A1822"/>
                </a:solidFill>
                <a:latin typeface="Malgun Gothic"/>
              </a:rPr>
              <a:t>빈손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559552" y="2971800"/>
            <a:ext cx="93268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5E5A6B"/>
                </a:solidFill>
                <a:latin typeface="Malgun Gothic"/>
              </a:rPr>
              <a:t>빗나감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492240" y="2971800"/>
            <a:ext cx="76809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1F6FBF"/>
                </a:solidFill>
                <a:latin typeface="Malgun Gothic"/>
              </a:rPr>
              <a:t>점수 30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260336" y="2971800"/>
            <a:ext cx="274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5E5A6B"/>
                </a:solidFill>
                <a:latin typeface="Malgun Gothic"/>
              </a:rPr>
              <a:t>7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534656" y="2971800"/>
            <a:ext cx="51206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5E5A6B"/>
                </a:solidFill>
                <a:latin typeface="Malgun Gothic"/>
              </a:rPr>
              <a:t>37.70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2971800"/>
            <a:ext cx="457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1A1822"/>
                </a:solidFill>
                <a:latin typeface="Malgun Gothic"/>
              </a:rPr>
              <a:t>11.31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663440" y="3195828"/>
            <a:ext cx="89611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1A1822"/>
                </a:solidFill>
                <a:latin typeface="Malgun Gothic"/>
              </a:rPr>
              <a:t>정밀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559552" y="3195828"/>
            <a:ext cx="93268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5E5A6B"/>
                </a:solidFill>
                <a:latin typeface="Malgun Gothic"/>
              </a:rPr>
              <a:t>연속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492240" y="3195828"/>
            <a:ext cx="76809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C0402A"/>
                </a:solidFill>
                <a:latin typeface="Malgun Gothic"/>
              </a:rPr>
              <a:t>배수/연속 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260336" y="3195828"/>
            <a:ext cx="274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5E5A6B"/>
                </a:solidFill>
                <a:latin typeface="Malgun Gothic"/>
              </a:rPr>
              <a:t>11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534656" y="3195828"/>
            <a:ext cx="51206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5E5A6B"/>
                </a:solidFill>
                <a:latin typeface="Malgun Gothic"/>
              </a:rPr>
              <a:t>1.54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046720" y="3195828"/>
            <a:ext cx="457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1A1822"/>
                </a:solidFill>
                <a:latin typeface="Malgun Gothic"/>
              </a:rPr>
              <a:t>0.50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663440" y="3419856"/>
            <a:ext cx="89611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1A1822"/>
                </a:solidFill>
                <a:latin typeface="Malgun Gothic"/>
              </a:rPr>
              <a:t>기본기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559552" y="3419856"/>
            <a:ext cx="93268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5E5A6B"/>
                </a:solidFill>
                <a:latin typeface="Malgun Gothic"/>
              </a:rPr>
              <a:t>무조건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492240" y="3419856"/>
            <a:ext cx="76809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1F6FBF"/>
                </a:solidFill>
                <a:latin typeface="Malgun Gothic"/>
              </a:rPr>
              <a:t>점수 25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260336" y="3419856"/>
            <a:ext cx="274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5E5A6B"/>
                </a:solidFill>
                <a:latin typeface="Malgun Gothic"/>
              </a:rPr>
              <a:t>11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534656" y="3419856"/>
            <a:ext cx="51206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5E5A6B"/>
                </a:solidFill>
                <a:latin typeface="Malgun Gothic"/>
              </a:rPr>
              <a:t>62.30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046720" y="3419856"/>
            <a:ext cx="457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1A1822"/>
                </a:solidFill>
                <a:latin typeface="Malgun Gothic"/>
              </a:rPr>
              <a:t>22.33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663440" y="3643884"/>
            <a:ext cx="89611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1A1822"/>
                </a:solidFill>
                <a:latin typeface="Malgun Gothic"/>
              </a:rPr>
              <a:t>증폭기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559552" y="3643884"/>
            <a:ext cx="93268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5E5A6B"/>
                </a:solidFill>
                <a:latin typeface="Malgun Gothic"/>
              </a:rPr>
              <a:t>무조건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492240" y="3643884"/>
            <a:ext cx="76809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C0402A"/>
                </a:solidFill>
                <a:latin typeface="Malgun Gothic"/>
              </a:rPr>
              <a:t>배수× 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260336" y="3643884"/>
            <a:ext cx="274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5E5A6B"/>
                </a:solidFill>
                <a:latin typeface="Malgun Gothic"/>
              </a:rPr>
              <a:t>14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7534656" y="3643884"/>
            <a:ext cx="51206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5E5A6B"/>
                </a:solidFill>
                <a:latin typeface="Malgun Gothic"/>
              </a:rPr>
              <a:t>62.30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046720" y="3643884"/>
            <a:ext cx="457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1A1822"/>
                </a:solidFill>
                <a:latin typeface="Malgun Gothic"/>
              </a:rPr>
              <a:t>9.61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663440" y="3867912"/>
            <a:ext cx="89611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B06E00"/>
                </a:solidFill>
                <a:latin typeface="Malgun Gothic"/>
              </a:rPr>
              <a:t>밑천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559552" y="3867912"/>
            <a:ext cx="93268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5E5A6B"/>
                </a:solidFill>
                <a:latin typeface="Malgun Gothic"/>
              </a:rPr>
              <a:t>5 이하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492240" y="3867912"/>
            <a:ext cx="76809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C0402A"/>
                </a:solidFill>
                <a:latin typeface="Malgun Gothic"/>
              </a:rPr>
              <a:t>배수 2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260336" y="3867912"/>
            <a:ext cx="274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5E5A6B"/>
                </a:solidFill>
                <a:latin typeface="Malgun Gothic"/>
              </a:rPr>
              <a:t>4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534656" y="3867912"/>
            <a:ext cx="51206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5E5A6B"/>
                </a:solidFill>
                <a:latin typeface="Malgun Gothic"/>
              </a:rPr>
              <a:t>15.26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046720" y="3867912"/>
            <a:ext cx="457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1A1822"/>
                </a:solidFill>
                <a:latin typeface="Malgun Gothic"/>
              </a:rPr>
              <a:t>0.91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663440" y="4091939"/>
            <a:ext cx="89611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B06E00"/>
                </a:solidFill>
                <a:latin typeface="Malgun Gothic"/>
              </a:rPr>
              <a:t>판돈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559552" y="4091939"/>
            <a:ext cx="93268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5E5A6B"/>
                </a:solidFill>
                <a:latin typeface="Malgun Gothic"/>
              </a:rPr>
              <a:t>첫 발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492240" y="4091939"/>
            <a:ext cx="76809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1F6FBF"/>
                </a:solidFill>
                <a:latin typeface="Malgun Gothic"/>
              </a:rPr>
              <a:t>점수 26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260336" y="4091939"/>
            <a:ext cx="274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5E5A6B"/>
                </a:solidFill>
                <a:latin typeface="Malgun Gothic"/>
              </a:rPr>
              <a:t>7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534656" y="4091939"/>
            <a:ext cx="51206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5E5A6B"/>
                </a:solidFill>
                <a:latin typeface="Malgun Gothic"/>
              </a:rPr>
              <a:t>10.45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046720" y="4091939"/>
            <a:ext cx="457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1A1822"/>
                </a:solidFill>
                <a:latin typeface="Malgun Gothic"/>
              </a:rPr>
              <a:t>3.89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663440" y="4315968"/>
            <a:ext cx="89611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B06E00"/>
                </a:solidFill>
                <a:latin typeface="Malgun Gothic"/>
              </a:rPr>
              <a:t>본전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559552" y="4315968"/>
            <a:ext cx="93268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5E5A6B"/>
                </a:solidFill>
                <a:latin typeface="Malgun Gothic"/>
              </a:rPr>
              <a:t>직전과 다름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492240" y="4315968"/>
            <a:ext cx="76809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1F6FBF"/>
                </a:solidFill>
                <a:latin typeface="Malgun Gothic"/>
              </a:rPr>
              <a:t>점수 12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7260336" y="4315968"/>
            <a:ext cx="274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5E5A6B"/>
                </a:solidFill>
                <a:latin typeface="Malgun Gothic"/>
              </a:rP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534656" y="4315968"/>
            <a:ext cx="51206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5E5A6B"/>
                </a:solidFill>
                <a:latin typeface="Malgun Gothic"/>
              </a:rPr>
              <a:t>60.76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046720" y="4315968"/>
            <a:ext cx="457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1A1822"/>
                </a:solidFill>
                <a:latin typeface="Malgun Gothic"/>
              </a:rPr>
              <a:t>10.45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4663440" y="4539996"/>
            <a:ext cx="89611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B06E00"/>
                </a:solidFill>
                <a:latin typeface="Malgun Gothic"/>
              </a:rPr>
              <a:t>큰손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5559552" y="4539996"/>
            <a:ext cx="93268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5E5A6B"/>
                </a:solidFill>
                <a:latin typeface="Malgun Gothic"/>
              </a:rPr>
              <a:t>트리플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6492240" y="4539996"/>
            <a:ext cx="76809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C0402A"/>
                </a:solidFill>
                <a:latin typeface="Malgun Gothic"/>
              </a:rPr>
              <a:t>배수 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7260336" y="4539996"/>
            <a:ext cx="274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5E5A6B"/>
                </a:solidFill>
                <a:latin typeface="Malgun Gothic"/>
              </a:rPr>
              <a:t>11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7534656" y="4539996"/>
            <a:ext cx="51206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5E5A6B"/>
                </a:solidFill>
                <a:latin typeface="Malgun Gothic"/>
              </a:rPr>
              <a:t>7.58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046720" y="4539996"/>
            <a:ext cx="457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1A1822"/>
                </a:solidFill>
                <a:latin typeface="Malgun Gothic"/>
              </a:rPr>
              <a:t>2.38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4663440" y="4764024"/>
            <a:ext cx="89611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B06E00"/>
                </a:solidFill>
                <a:latin typeface="Malgun Gothic"/>
              </a:rPr>
              <a:t>물주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5559552" y="4764024"/>
            <a:ext cx="93268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5E5A6B"/>
                </a:solidFill>
                <a:latin typeface="Malgun Gothic"/>
              </a:rPr>
              <a:t>무조건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6492240" y="4764024"/>
            <a:ext cx="76809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1F6FBF"/>
                </a:solidFill>
                <a:latin typeface="Malgun Gothic"/>
              </a:rPr>
              <a:t>점수 16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7260336" y="4764024"/>
            <a:ext cx="274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5E5A6B"/>
                </a:solidFill>
                <a:latin typeface="Malgun Gothic"/>
              </a:rPr>
              <a:t>11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534656" y="4764024"/>
            <a:ext cx="51206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5E5A6B"/>
                </a:solidFill>
                <a:latin typeface="Malgun Gothic"/>
              </a:rPr>
              <a:t>62.30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8046720" y="4764024"/>
            <a:ext cx="457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1A1822"/>
                </a:solidFill>
                <a:latin typeface="Malgun Gothic"/>
              </a:rPr>
              <a:t>14.29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4663440" y="4988052"/>
            <a:ext cx="89611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1A1822"/>
                </a:solidFill>
                <a:latin typeface="Malgun Gothic"/>
              </a:rPr>
              <a:t>띠쟁이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559552" y="4988052"/>
            <a:ext cx="93268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5E5A6B"/>
                </a:solidFill>
                <a:latin typeface="Malgun Gothic"/>
              </a:rPr>
              <a:t>링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492240" y="4988052"/>
            <a:ext cx="76809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1F6FBF"/>
                </a:solidFill>
                <a:latin typeface="Malgun Gothic"/>
              </a:rPr>
              <a:t>점수 20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260336" y="4988052"/>
            <a:ext cx="274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5E5A6B"/>
                </a:solidFill>
                <a:latin typeface="Malgun Gothic"/>
              </a:rPr>
              <a:t>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534656" y="4988052"/>
            <a:ext cx="51206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5E5A6B"/>
                </a:solidFill>
                <a:latin typeface="Malgun Gothic"/>
              </a:rPr>
              <a:t>19.44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046720" y="4988052"/>
            <a:ext cx="457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1A1822"/>
                </a:solidFill>
                <a:latin typeface="Malgun Gothic"/>
              </a:rPr>
              <a:t>9.29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663440" y="5212080"/>
            <a:ext cx="89611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1A1822"/>
                </a:solidFill>
                <a:latin typeface="Malgun Gothic"/>
              </a:rPr>
              <a:t>손맛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559552" y="5212080"/>
            <a:ext cx="93268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5E5A6B"/>
                </a:solidFill>
                <a:latin typeface="Malgun Gothic"/>
              </a:rPr>
              <a:t>트리플 뒤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492240" y="5212080"/>
            <a:ext cx="76809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1F6FBF"/>
                </a:solidFill>
                <a:latin typeface="Malgun Gothic"/>
              </a:rPr>
              <a:t>점수 30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7260336" y="5212080"/>
            <a:ext cx="274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5E5A6B"/>
                </a:solidFill>
                <a:latin typeface="Malgun Gothic"/>
              </a:rPr>
              <a:t>7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534656" y="5212080"/>
            <a:ext cx="51206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5E5A6B"/>
                </a:solidFill>
                <a:latin typeface="Malgun Gothic"/>
              </a:rPr>
              <a:t>10.63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046720" y="5212080"/>
            <a:ext cx="457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1A1822"/>
                </a:solidFill>
                <a:latin typeface="Malgun Gothic"/>
              </a:rPr>
              <a:t>4.58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663440" y="5436108"/>
            <a:ext cx="89611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1A1822"/>
                </a:solidFill>
                <a:latin typeface="Malgun Gothic"/>
              </a:rPr>
              <a:t>칼끝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5559552" y="5436108"/>
            <a:ext cx="93268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5E5A6B"/>
                </a:solidFill>
                <a:latin typeface="Malgun Gothic"/>
              </a:rPr>
              <a:t>더블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6492240" y="5436108"/>
            <a:ext cx="76809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C0402A"/>
                </a:solidFill>
                <a:latin typeface="Malgun Gothic"/>
              </a:rPr>
              <a:t>배수× 2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7260336" y="5436108"/>
            <a:ext cx="274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5E5A6B"/>
                </a:solidFill>
                <a:latin typeface="Malgun Gothic"/>
              </a:rPr>
              <a:t>11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7534656" y="5436108"/>
            <a:ext cx="51206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5E5A6B"/>
                </a:solidFill>
                <a:latin typeface="Malgun Gothic"/>
              </a:rPr>
              <a:t>11.86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046720" y="5436108"/>
            <a:ext cx="457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1A1822"/>
                </a:solidFill>
                <a:latin typeface="Malgun Gothic"/>
              </a:rPr>
              <a:t>2.49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4663440" y="5660136"/>
            <a:ext cx="89611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1A1822"/>
                </a:solidFill>
                <a:latin typeface="Malgun Gothic"/>
              </a:rPr>
              <a:t>중물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5559552" y="5660136"/>
            <a:ext cx="93268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5E5A6B"/>
                </a:solidFill>
                <a:latin typeface="Malgun Gothic"/>
              </a:rPr>
              <a:t>6~14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92240" y="5660136"/>
            <a:ext cx="76809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1F6FBF"/>
                </a:solidFill>
                <a:latin typeface="Malgun Gothic"/>
              </a:rPr>
              <a:t>점수 40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260336" y="5660136"/>
            <a:ext cx="274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5E5A6B"/>
                </a:solidFill>
                <a:latin typeface="Malgun Gothic"/>
              </a:rPr>
              <a:t>14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7534656" y="5660136"/>
            <a:ext cx="51206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5E5A6B"/>
                </a:solidFill>
                <a:latin typeface="Malgun Gothic"/>
              </a:rPr>
              <a:t>27.38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046720" y="5660136"/>
            <a:ext cx="457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>
                <a:solidFill>
                  <a:srgbClr val="1A1822"/>
                </a:solidFill>
                <a:latin typeface="Malgun Gothic"/>
              </a:rPr>
              <a:t>15.82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823960" y="1783080"/>
            <a:ext cx="26974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822"/>
                </a:solidFill>
                <a:latin typeface="Malgun Gothic"/>
              </a:rPr>
              <a:t>표가 잡아낸 것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8823960" y="2121408"/>
            <a:ext cx="269748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5E5A6B"/>
                </a:solidFill>
                <a:latin typeface="Malgun Gothic"/>
              </a:rPr>
              <a:t>좌익수 31.14 + 우익수 31.16</a:t>
            </a:r>
          </a:p>
          <a:p>
            <a:pPr algn="l"/>
            <a:r>
              <a:rPr sz="1100" b="0">
                <a:solidFill>
                  <a:srgbClr val="5E5A6B"/>
                </a:solidFill>
                <a:latin typeface="Malgun Gothic"/>
              </a:rPr>
              <a:t>= 62.30. "무조건"과 같은 값이다.</a:t>
            </a:r>
          </a:p>
          <a:p>
            <a:pPr algn="l"/>
            <a:r>
              <a:rPr sz="1100" b="0">
                <a:solidFill>
                  <a:srgbClr val="5E5A6B"/>
                </a:solidFill>
                <a:latin typeface="Malgun Gothic"/>
              </a:rPr>
              <a:t>두 장이 판을 완전분할해</a:t>
            </a:r>
          </a:p>
          <a:p>
            <a:pPr algn="l"/>
            <a:r>
              <a:rPr sz="1100" b="0">
                <a:solidFill>
                  <a:srgbClr val="5E5A6B"/>
                </a:solidFill>
                <a:latin typeface="Malgun Gothic"/>
              </a:rPr>
              <a:t>조건이 사라진다.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823960" y="3474720"/>
            <a:ext cx="26974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5E5A6B"/>
                </a:solidFill>
                <a:latin typeface="Malgun Gothic"/>
              </a:rPr>
              <a:t>정밀은 골드당 0.05 로 최하다.</a:t>
            </a:r>
          </a:p>
          <a:p>
            <a:pPr algn="l"/>
            <a:r>
              <a:rPr sz="1100" b="0">
                <a:solidFill>
                  <a:srgbClr val="5E5A6B"/>
                </a:solidFill>
                <a:latin typeface="Malgun Gothic"/>
              </a:rPr>
              <a:t>균등 조준이 한 칸을 연달아</a:t>
            </a:r>
          </a:p>
          <a:p>
            <a:pPr algn="l"/>
            <a:r>
              <a:rPr sz="1100" b="0">
                <a:solidFill>
                  <a:srgbClr val="5E5A6B"/>
                </a:solidFill>
                <a:latin typeface="Malgun Gothic"/>
              </a:rPr>
              <a:t>못 맞히기 때문이고, 한 섹터를</a:t>
            </a:r>
          </a:p>
          <a:p>
            <a:pPr algn="l"/>
            <a:r>
              <a:rPr sz="1100" b="0">
                <a:solidFill>
                  <a:srgbClr val="5E5A6B"/>
                </a:solidFill>
                <a:latin typeface="Malgun Gothic"/>
              </a:rPr>
              <a:t>겨냥하는 플레이에서는 값이</a:t>
            </a:r>
          </a:p>
          <a:p>
            <a:pPr algn="l"/>
            <a:r>
              <a:rPr sz="1100" b="0">
                <a:solidFill>
                  <a:srgbClr val="5E5A6B"/>
                </a:solidFill>
                <a:latin typeface="Malgun Gothic"/>
              </a:rPr>
              <a:t>완전히 달라진다.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823960" y="5074920"/>
            <a:ext cx="26974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8E8A9B"/>
                </a:solidFill>
                <a:latin typeface="Malgun Gothic"/>
              </a:rPr>
              <a:t>이 표는 상한도 하한도 아닌</a:t>
            </a:r>
          </a:p>
          <a:p>
            <a:pPr algn="l"/>
            <a:r>
              <a:rPr sz="1000" b="0">
                <a:solidFill>
                  <a:srgbClr val="8E8A9B"/>
                </a:solidFill>
                <a:latin typeface="Malgun Gothic"/>
              </a:rPr>
              <a:t>기준선이다. 가운데를 노리는</a:t>
            </a:r>
          </a:p>
          <a:p>
            <a:pPr algn="l"/>
            <a:r>
              <a:rPr sz="1000" b="0">
                <a:solidFill>
                  <a:srgbClr val="8E8A9B"/>
                </a:solidFill>
                <a:latin typeface="Malgun Gothic"/>
              </a:rPr>
              <a:t>실제 플레이에서는 불과 6~14 가</a:t>
            </a:r>
          </a:p>
          <a:p>
            <a:pPr algn="l"/>
            <a:r>
              <a:rPr sz="1000" b="0">
                <a:solidFill>
                  <a:srgbClr val="8E8A9B"/>
                </a:solidFill>
                <a:latin typeface="Malgun Gothic"/>
              </a:rPr>
              <a:t>여기보다 자주 걸린다.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685800" y="6355080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8E8A9B"/>
                </a:solidFill>
                <a:latin typeface="Malgun Gothic"/>
              </a:rPr>
              <a:t>주황 이름은 골드 칩 — 득점 반쪽이 같은 조건의 다른 칩보다 낮고, 그 차액이 정산에서 골드로 돌아온다.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486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0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긴장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6868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8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 라운드 "얼마나 무리할까"를 묻는다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17099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E5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등급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148840" y="170992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E5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제약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3520440" y="17099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E5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480560" y="170992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5E5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보상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85800" y="2075688"/>
            <a:ext cx="5577840" cy="749808"/>
          </a:xfrm>
          <a:prstGeom prst="roundRect">
            <a:avLst>
              <a:gd name="adj" fmla="val 7317"/>
            </a:avLst>
          </a:prstGeom>
          <a:solidFill>
            <a:srgbClr val="F2F1F5"/>
          </a:solidFill>
          <a:ln w="9525">
            <a:solidFill>
              <a:srgbClr val="D9D7E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005840" y="2075688"/>
            <a:ext cx="1097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E5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정공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2148840" y="2075688"/>
            <a:ext cx="1371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5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제약 없음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520440" y="2075688"/>
            <a:ext cx="914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8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×1.00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480560" y="2075688"/>
            <a:ext cx="1920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8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85800" y="2935224"/>
            <a:ext cx="5577840" cy="749808"/>
          </a:xfrm>
          <a:prstGeom prst="roundRect">
            <a:avLst>
              <a:gd name="adj" fmla="val 7317"/>
            </a:avLst>
          </a:prstGeom>
          <a:solidFill>
            <a:srgbClr val="F2F1F5"/>
          </a:solidFill>
          <a:ln w="9525">
            <a:solidFill>
              <a:srgbClr val="D9D7E0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1005840" y="2935224"/>
            <a:ext cx="1097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0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도전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2148840" y="2935224"/>
            <a:ext cx="1371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5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제약 1개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520440" y="2935224"/>
            <a:ext cx="914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8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×1.00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480560" y="2935224"/>
            <a:ext cx="1920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8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골드 +5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85800" y="3794760"/>
            <a:ext cx="5577840" cy="749808"/>
          </a:xfrm>
          <a:prstGeom prst="roundRect">
            <a:avLst>
              <a:gd name="adj" fmla="val 7317"/>
            </a:avLst>
          </a:prstGeom>
          <a:solidFill>
            <a:srgbClr val="F2F1F5"/>
          </a:solidFill>
          <a:ln w="9525">
            <a:solidFill>
              <a:srgbClr val="D9D7E0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1005840" y="3794760"/>
            <a:ext cx="1097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0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극한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2148840" y="3794760"/>
            <a:ext cx="1371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5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제약 2개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520440" y="3794760"/>
            <a:ext cx="914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8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×1.25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480560" y="3794760"/>
            <a:ext cx="1920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8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골드 +10 · 칩 1개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85800" y="4727448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E5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스킵이 없다. 여덟 번의 선택이 그 런의 성격이 된다.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675120" y="18745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8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제약 여섯 가지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6675120" y="2377440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0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좁은 판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8321040" y="237744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5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띠 폭 절반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675120" y="2788920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0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역풍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8321040" y="278892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5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게이지 2배 속도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675120" y="3200400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0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안개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8321040" y="320040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5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조준 확인 구간 없음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675120" y="3611880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0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단벌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8321040" y="361188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5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다트 1개 감소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675120" y="4023360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0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금지 구역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8321040" y="402336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5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칸 점수 0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675120" y="4434840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0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둔화</a:t>
            </a:r>
            <a:endParaRPr lang="en-US" sz="1350" dirty="0"/>
          </a:p>
        </p:txBody>
      </p:sp>
      <p:sp>
        <p:nvSpPr>
          <p:cNvPr id="36" name="Text 34"/>
          <p:cNvSpPr/>
          <p:nvPr/>
        </p:nvSpPr>
        <p:spPr>
          <a:xfrm>
            <a:off x="8321040" y="443484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5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칩 하나 봉인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675120" y="493776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1A18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조준을 때리는 것과 빌드를 때리는 것이 반씩이라,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1A18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쪽이 약한지가 매번 다르다.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486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0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곡선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6868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8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목표는 라운드마다 약 1.75배로 오른다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85800" y="1783080"/>
          <a:ext cx="69494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955280" y="1783080"/>
            <a:ext cx="3520440" cy="3794760"/>
          </a:xfrm>
          <a:prstGeom prst="roundRect">
            <a:avLst>
              <a:gd name="adj" fmla="val 2078"/>
            </a:avLst>
          </a:prstGeom>
          <a:solidFill>
            <a:srgbClr val="F2F1F5"/>
          </a:solidFill>
          <a:ln w="9525">
            <a:solidFill>
              <a:srgbClr val="D9D7E0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8321040" y="214884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10점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8321040" y="28803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E5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아무것도 없는 판에서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E5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다트 하나가 버는 점수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321040" y="379476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A18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1라운드 목표를 45로 둔 것은 아이템 없이도 넘도록 하기 위해서다.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A18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뒤로는 빌드가 지수적으로 자라지 않으면 따라잡을 수 없게 벌어진다.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486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0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경제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6868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8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골드는 네 갈래로 들어오고, 전부 유인이 붙어 있다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828800"/>
            <a:ext cx="10789920" cy="841248"/>
          </a:xfrm>
          <a:prstGeom prst="roundRect">
            <a:avLst>
              <a:gd name="adj" fmla="val 6522"/>
            </a:avLst>
          </a:prstGeom>
          <a:solidFill>
            <a:srgbClr val="F2F1F5"/>
          </a:solidFill>
          <a:ln w="9525">
            <a:solidFill>
              <a:srgbClr val="D9D7E0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51560" y="1828800"/>
            <a:ext cx="19202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8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클리어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017520" y="1828800"/>
            <a:ext cx="1554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5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663440" y="1828800"/>
            <a:ext cx="6583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5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보상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85800" y="2761488"/>
            <a:ext cx="10789920" cy="841248"/>
          </a:xfrm>
          <a:prstGeom prst="roundRect">
            <a:avLst>
              <a:gd name="adj" fmla="val 6522"/>
            </a:avLst>
          </a:prstGeom>
          <a:solidFill>
            <a:srgbClr val="F2F1F5"/>
          </a:solidFill>
          <a:ln w="9525">
            <a:solidFill>
              <a:srgbClr val="D9D7E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051560" y="2761488"/>
            <a:ext cx="19202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8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남은 다트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3017520" y="2761488"/>
            <a:ext cx="1554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06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발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663440" y="2761488"/>
            <a:ext cx="6583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5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적은 발로 끝내라 — 넘긴 순간 라운드가 끝나므로 과잉 조준이 손해가 된다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85800" y="3694176"/>
            <a:ext cx="10789920" cy="841248"/>
          </a:xfrm>
          <a:prstGeom prst="roundRect">
            <a:avLst>
              <a:gd name="adj" fmla="val 6522"/>
            </a:avLst>
          </a:prstGeom>
          <a:solidFill>
            <a:srgbClr val="F2F1F5"/>
          </a:solidFill>
          <a:ln w="9525">
            <a:solidFill>
              <a:srgbClr val="D9D7E0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051560" y="3694176"/>
            <a:ext cx="19202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8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이자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3017520" y="3694176"/>
            <a:ext cx="1554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06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보유 5당 1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663440" y="3694176"/>
            <a:ext cx="6583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5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모아 둬라 — 상한 5. 저축과 즉시 구매가 저울에 오른다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85800" y="4626864"/>
            <a:ext cx="10789920" cy="841248"/>
          </a:xfrm>
          <a:prstGeom prst="roundRect">
            <a:avLst>
              <a:gd name="adj" fmla="val 6522"/>
            </a:avLst>
          </a:prstGeom>
          <a:solidFill>
            <a:srgbClr val="F2F1F5"/>
          </a:solidFill>
          <a:ln w="9525">
            <a:solidFill>
              <a:srgbClr val="D9D7E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051560" y="4626864"/>
            <a:ext cx="19202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8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골드 칩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3017520" y="4626864"/>
            <a:ext cx="1554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정산 시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663440" y="4626864"/>
            <a:ext cx="6583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5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슬롯 하나를 수입에 걸어라 — 다섯 종. 골드는 정산에서만 나온다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85800" y="562356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1A18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칩은 되팔 수 있다. 구매가의 절반(내림)이라 비싼 칩일수록 팔면 손해고,</a:t>
            </a:r>
            <a:endParaRPr lang="en-US" sz="13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1A18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되팔기가 자유로운 실험이 아니라 손해를 감수하는 갈아타기가 된다.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486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0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6868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8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 파일이 한 장도 없다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800" y="1737360"/>
            <a:ext cx="6766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450" dirty="0">
                <a:solidFill>
                  <a:srgbClr val="5E5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보드 · 칩 · 다트 · 카지노 테이블 — 글자를 뺀 모든 것이 코드로 그려진다.</a:t>
            </a:r>
            <a:endParaRPr lang="en-US" sz="1450" dirty="0"/>
          </a:p>
          <a:p>
            <a:pPr indent="0" marL="0">
              <a:lnSpc>
                <a:spcPts val="2500"/>
              </a:lnSpc>
              <a:buNone/>
            </a:pPr>
            <a:r>
              <a:rPr lang="en-US" sz="1450" dirty="0">
                <a:solidFill>
                  <a:srgbClr val="5E5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640 × 360 해상도에 최근접 필터라, 이 크기에서 읽히는 것과 안 읽히는 것이 설계를 계속 되돌려 놓는다.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85800" y="283464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0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상점은 위에서 비스듬히 내려다본 카지노 테이블이다.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85800" y="324612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1A18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매물이 먼 레일 뒤에서 던져져 펠트에 튕기고 서로 부딪히며 매번 다른 자리에 정착한다.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1A18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고정된 진열대가 아니라 물건이 놓인 판이고, 집어서 옮길 수 있다.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4343400"/>
            <a:ext cx="6766560" cy="1417320"/>
          </a:xfrm>
          <a:prstGeom prst="roundRect">
            <a:avLst>
              <a:gd name="adj" fmla="val 5161"/>
            </a:avLst>
          </a:prstGeom>
          <a:solidFill>
            <a:srgbClr val="EBF4EF"/>
          </a:solidFill>
          <a:ln w="12700">
            <a:solidFill>
              <a:srgbClr val="322B49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51560" y="452628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8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실루엣이 정보다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51560" y="4892040"/>
            <a:ext cx="6035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A18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아이템은 원반, 개조는 사각판, 다트는 대각 획. 칩 얼굴 위쪽에는 조건을 원시 도형으로 새겼다 — 값만 보이면 "홀수 애호"와 "짝수 애호"가 화면에서 구별되지 않기 때문이다.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0" y="173736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8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실루엣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092440" y="2331720"/>
            <a:ext cx="914400" cy="914400"/>
          </a:xfrm>
          <a:prstGeom prst="ellipse">
            <a:avLst/>
          </a:prstGeom>
          <a:solidFill>
            <a:srgbClr val="F2B134"/>
          </a:solidFill>
          <a:ln w="25400">
            <a:solidFill>
              <a:srgbClr val="14111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092440" y="33375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E5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칩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235440" y="2377440"/>
            <a:ext cx="868680" cy="822960"/>
          </a:xfrm>
          <a:prstGeom prst="rect">
            <a:avLst/>
          </a:prstGeom>
          <a:solidFill>
            <a:srgbClr val="479A58"/>
          </a:solidFill>
          <a:ln w="25400">
            <a:solidFill>
              <a:srgbClr val="14111F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9189720" y="333756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E5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개조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0378440" y="2377440"/>
            <a:ext cx="868680" cy="822960"/>
          </a:xfrm>
          <a:prstGeom prst="line">
            <a:avLst/>
          </a:prstGeom>
          <a:noFill/>
          <a:ln w="88900">
            <a:solidFill>
              <a:srgbClr val="1F6FBF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0332720" y="333756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E5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다트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955280" y="384048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A18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줄에 나란히 서도 무엇인지 형태만으로 갈린다.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5486400" cy="256032"/>
          </a:xfrm>
          <a:prstGeom prst="rect">
            <a:avLst/>
          </a:prstGeom>
          <a:noFill/>
          <a:ln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B06E00"/>
                </a:solidFill>
                <a:latin typeface="Malgun Gothic"/>
              </a:rPr>
              <a:t>화면 · 인게임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789920" cy="822960"/>
          </a:xfrm>
          <a:prstGeom prst="rect">
            <a:avLst/>
          </a:prstGeom>
          <a:noFill/>
          <a:ln/>
        </p:spPr>
        <p:txBody>
          <a:bodyPr wrap="square" lIns="0" rIns="0" tIns="0" bIns="0">
            <a:spAutoFit/>
          </a:bodyPr>
          <a:lstStyle/>
          <a:p>
            <a:pPr algn="l"/>
            <a:r>
              <a:rPr sz="3400" b="1">
                <a:solidFill>
                  <a:srgbClr val="1A1822"/>
                </a:solidFill>
                <a:latin typeface="Malgun Gothic"/>
              </a:rPr>
              <a:t>한 발이 정산되는 순간</a:t>
            </a:r>
          </a:p>
        </p:txBody>
      </p:sp>
      <p:pic>
        <p:nvPicPr>
          <p:cNvPr id="4" name="Picture 3" descr="ing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28800"/>
            <a:ext cx="7315200" cy="4114800"/>
          </a:xfrm>
          <a:prstGeom prst="rect">
            <a:avLst/>
          </a:prstGeom>
          <a:ln/>
        </p:spPr>
      </p:pic>
      <p:sp>
        <p:nvSpPr>
          <p:cNvPr id="5" name="TextBox 4"/>
          <p:cNvSpPr txBox="1"/>
          <p:nvPr/>
        </p:nvSpPr>
        <p:spPr>
          <a:xfrm>
            <a:off x="8366760" y="1874519"/>
            <a:ext cx="3108960" cy="237744"/>
          </a:xfrm>
          <a:prstGeom prst="rect">
            <a:avLst/>
          </a:prstGeom>
          <a:noFill/>
          <a:ln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822"/>
                </a:solidFill>
                <a:latin typeface="Malgun Gothic"/>
              </a:rPr>
              <a:t>칩 랙 다섯 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66760" y="2148839"/>
            <a:ext cx="3108960" cy="731520"/>
          </a:xfrm>
          <a:prstGeom prst="rect">
            <a:avLst/>
          </a:prstGeom>
          <a:noFill/>
          <a:ln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5E5A6B"/>
                </a:solidFill>
                <a:latin typeface="Malgun Gothic"/>
              </a:rPr>
              <a:t>얼굴 위쪽이 조건, 아래쪽이 값이다.</a:t>
            </a:r>
          </a:p>
          <a:p>
            <a:pPr algn="l"/>
            <a:r>
              <a:rPr sz="1100" b="0">
                <a:solidFill>
                  <a:srgbClr val="5E5A6B"/>
                </a:solidFill>
                <a:latin typeface="Malgun Gothic"/>
              </a:rPr>
              <a:t>값만 보이면 "홀수 애호"와</a:t>
            </a:r>
          </a:p>
          <a:p>
            <a:pPr algn="l"/>
            <a:r>
              <a:rPr sz="1100" b="0">
                <a:solidFill>
                  <a:srgbClr val="5E5A6B"/>
                </a:solidFill>
                <a:latin typeface="Malgun Gothic"/>
              </a:rPr>
              <a:t>"짝수 애호"가 구별되지 않는다.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66760" y="2953511"/>
            <a:ext cx="3108960" cy="237744"/>
          </a:xfrm>
          <a:prstGeom prst="rect">
            <a:avLst/>
          </a:prstGeom>
          <a:noFill/>
          <a:ln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822"/>
                </a:solidFill>
                <a:latin typeface="Malgun Gothic"/>
              </a:rPr>
              <a:t>왼쪽 벽의 남은 다트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3227831"/>
            <a:ext cx="3108960" cy="731520"/>
          </a:xfrm>
          <a:prstGeom prst="rect">
            <a:avLst/>
          </a:prstGeom>
          <a:noFill/>
          <a:ln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5E5A6B"/>
                </a:solidFill>
                <a:latin typeface="Malgun Gothic"/>
              </a:rPr>
              <a:t>라운드가 시작되면 오른쪽에서</a:t>
            </a:r>
          </a:p>
          <a:p>
            <a:pPr algn="l"/>
            <a:r>
              <a:rPr sz="1100" b="0">
                <a:solidFill>
                  <a:srgbClr val="5E5A6B"/>
                </a:solidFill>
                <a:latin typeface="Malgun Gothic"/>
              </a:rPr>
              <a:t>날아와 꽂힌다. 자루마다 각도와</a:t>
            </a:r>
          </a:p>
          <a:p>
            <a:pPr algn="l"/>
            <a:r>
              <a:rPr sz="1100" b="0">
                <a:solidFill>
                  <a:srgbClr val="5E5A6B"/>
                </a:solidFill>
                <a:latin typeface="Malgun Gothic"/>
              </a:rPr>
              <a:t>깊이가 조금씩 다르다.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66760" y="4032503"/>
            <a:ext cx="3108960" cy="237744"/>
          </a:xfrm>
          <a:prstGeom prst="rect">
            <a:avLst/>
          </a:prstGeom>
          <a:noFill/>
          <a:ln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822"/>
                </a:solidFill>
                <a:latin typeface="Malgun Gothic"/>
              </a:rPr>
              <a:t>정산은 한 장씩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4306823"/>
            <a:ext cx="3108960" cy="731520"/>
          </a:xfrm>
          <a:prstGeom prst="rect">
            <a:avLst/>
          </a:prstGeom>
          <a:noFill/>
          <a:ln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5E5A6B"/>
                </a:solidFill>
                <a:latin typeface="Malgun Gothic"/>
              </a:rPr>
              <a:t>점수와 배수가 따로 오르고,</a:t>
            </a:r>
          </a:p>
          <a:p>
            <a:pPr algn="l"/>
            <a:r>
              <a:rPr sz="1100" b="0">
                <a:solidFill>
                  <a:srgbClr val="5E5A6B"/>
                </a:solidFill>
                <a:latin typeface="Malgun Gothic"/>
              </a:rPr>
              <a:t>발동한 칩만 이름을 띄운다.</a:t>
            </a:r>
          </a:p>
          <a:p>
            <a:pPr algn="l"/>
            <a:r>
              <a:rPr sz="1100" b="0">
                <a:solidFill>
                  <a:srgbClr val="5E5A6B"/>
                </a:solidFill>
                <a:latin typeface="Malgun Gothic"/>
              </a:rPr>
              <a:t>소리는 한 단계마다 반음 오른다.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172200"/>
            <a:ext cx="10789920" cy="457200"/>
          </a:xfrm>
          <a:prstGeom prst="rect">
            <a:avLst/>
          </a:prstGeom>
          <a:noFill/>
          <a:ln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5E5A6B"/>
                </a:solidFill>
                <a:latin typeface="Malgun Gothic"/>
              </a:rPr>
              <a:t>이미지 파일이 한 장도 없다. 보드 · 칩 · 다트 · 손 — 글자를 뺀 모든 것이 코드로 그려진다.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5486400" cy="256032"/>
          </a:xfrm>
          <a:prstGeom prst="rect">
            <a:avLst/>
          </a:prstGeom>
          <a:noFill/>
          <a:ln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B06E00"/>
                </a:solidFill>
                <a:latin typeface="Malgun Gothic"/>
              </a:rPr>
              <a:t>화면 · 상점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868680"/>
            <a:ext cx="10789920" cy="822960"/>
          </a:xfrm>
          <a:prstGeom prst="rect">
            <a:avLst/>
          </a:prstGeom>
          <a:noFill/>
          <a:ln/>
        </p:spPr>
        <p:txBody>
          <a:bodyPr wrap="square" lIns="0" rIns="0" tIns="0" bIns="0">
            <a:spAutoFit/>
          </a:bodyPr>
          <a:lstStyle/>
          <a:p>
            <a:pPr algn="l"/>
            <a:r>
              <a:rPr sz="3400" b="1">
                <a:solidFill>
                  <a:srgbClr val="1A1822"/>
                </a:solidFill>
                <a:latin typeface="Malgun Gothic"/>
              </a:rPr>
              <a:t>매물이 테이블 위로 떨어진다</a:t>
            </a:r>
          </a:p>
        </p:txBody>
      </p:sp>
      <p:pic>
        <p:nvPicPr>
          <p:cNvPr id="4" name="Picture 3" descr="sh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28800"/>
            <a:ext cx="7315200" cy="4114800"/>
          </a:xfrm>
          <a:prstGeom prst="rect">
            <a:avLst/>
          </a:prstGeom>
          <a:ln/>
        </p:spPr>
      </p:pic>
      <p:sp>
        <p:nvSpPr>
          <p:cNvPr id="5" name="TextBox 4"/>
          <p:cNvSpPr txBox="1"/>
          <p:nvPr/>
        </p:nvSpPr>
        <p:spPr>
          <a:xfrm>
            <a:off x="8366760" y="1874519"/>
            <a:ext cx="3108960" cy="237744"/>
          </a:xfrm>
          <a:prstGeom prst="rect">
            <a:avLst/>
          </a:prstGeom>
          <a:noFill/>
          <a:ln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822"/>
                </a:solidFill>
                <a:latin typeface="Malgun Gothic"/>
              </a:rPr>
              <a:t>고정 진열대가 아니다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66760" y="2148839"/>
            <a:ext cx="3108960" cy="731520"/>
          </a:xfrm>
          <a:prstGeom prst="rect">
            <a:avLst/>
          </a:prstGeom>
          <a:noFill/>
          <a:ln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5E5A6B"/>
                </a:solidFill>
                <a:latin typeface="Malgun Gothic"/>
              </a:rPr>
              <a:t>먼 레일 뒤에서 던져져 펠트에</a:t>
            </a:r>
          </a:p>
          <a:p>
            <a:pPr algn="l"/>
            <a:r>
              <a:rPr sz="1100" b="0">
                <a:solidFill>
                  <a:srgbClr val="5E5A6B"/>
                </a:solidFill>
                <a:latin typeface="Malgun Gothic"/>
              </a:rPr>
              <a:t>튕기고 서로 부딪히며 매번 다른</a:t>
            </a:r>
          </a:p>
          <a:p>
            <a:pPr algn="l"/>
            <a:r>
              <a:rPr sz="1100" b="0">
                <a:solidFill>
                  <a:srgbClr val="5E5A6B"/>
                </a:solidFill>
                <a:latin typeface="Malgun Gothic"/>
              </a:rPr>
              <a:t>자리에 정착한다.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66760" y="2953511"/>
            <a:ext cx="3108960" cy="237744"/>
          </a:xfrm>
          <a:prstGeom prst="rect">
            <a:avLst/>
          </a:prstGeom>
          <a:noFill/>
          <a:ln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822"/>
                </a:solidFill>
                <a:latin typeface="Malgun Gothic"/>
              </a:rPr>
              <a:t>끌어서 옮기고, 밀어서 산다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3227831"/>
            <a:ext cx="3108960" cy="731520"/>
          </a:xfrm>
          <a:prstGeom prst="rect">
            <a:avLst/>
          </a:prstGeom>
          <a:noFill/>
          <a:ln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5E5A6B"/>
                </a:solidFill>
                <a:latin typeface="Malgun Gothic"/>
              </a:rPr>
              <a:t>계산대는 양방향 창구다. 매물을</a:t>
            </a:r>
          </a:p>
          <a:p>
            <a:pPr algn="l"/>
            <a:r>
              <a:rPr sz="1100" b="0">
                <a:solidFill>
                  <a:srgbClr val="5E5A6B"/>
                </a:solidFill>
                <a:latin typeface="Malgun Gothic"/>
              </a:rPr>
              <a:t>밀면 구매, 랙의 칩을 밀면 판매.</a:t>
            </a:r>
          </a:p>
          <a:p>
            <a:pPr algn="l"/>
            <a:r>
              <a:rPr sz="1100" b="0">
                <a:solidFill>
                  <a:srgbClr val="5E5A6B"/>
                </a:solidFill>
                <a:latin typeface="Malgun Gothic"/>
              </a:rPr>
              <a:t>같은 몸짓 하나로 끝난다.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66760" y="4032503"/>
            <a:ext cx="3108960" cy="237744"/>
          </a:xfrm>
          <a:prstGeom prst="rect">
            <a:avLst/>
          </a:prstGeom>
          <a:noFill/>
          <a:ln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822"/>
                </a:solidFill>
                <a:latin typeface="Malgun Gothic"/>
              </a:rPr>
              <a:t>못 사는 이유를 먼저 말한다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4306823"/>
            <a:ext cx="3108960" cy="731520"/>
          </a:xfrm>
          <a:prstGeom prst="rect">
            <a:avLst/>
          </a:prstGeom>
          <a:noFill/>
          <a:ln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5E5A6B"/>
                </a:solidFill>
                <a:latin typeface="Malgun Gothic"/>
              </a:rPr>
              <a:t>누르기 전에 툴팁이 알려 준다 —</a:t>
            </a:r>
          </a:p>
          <a:p>
            <a:pPr algn="l"/>
            <a:r>
              <a:rPr sz="1100" b="0">
                <a:solidFill>
                  <a:srgbClr val="5E5A6B"/>
                </a:solidFill>
                <a:latin typeface="Malgun Gothic"/>
              </a:rPr>
              <a:t>골드 부족 · 랙 만석 · 바꿀 표준</a:t>
            </a:r>
          </a:p>
          <a:p>
            <a:pPr algn="l"/>
            <a:r>
              <a:rPr sz="1100" b="0">
                <a:solidFill>
                  <a:srgbClr val="5E5A6B"/>
                </a:solidFill>
                <a:latin typeface="Malgun Gothic"/>
              </a:rPr>
              <a:t>다트 없음. 헛클릭이 사라진다.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172200"/>
            <a:ext cx="10789920" cy="457200"/>
          </a:xfrm>
          <a:prstGeom prst="rect">
            <a:avLst/>
          </a:prstGeom>
          <a:noFill/>
          <a:ln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>
                <a:solidFill>
                  <a:srgbClr val="5E5A6B"/>
                </a:solidFill>
                <a:latin typeface="Malgun Gothic"/>
              </a:rPr>
              <a:t>실수 구매가 부등식으로 불가능하다. 계산대는 깊이 215.7 이 필요한데 물리 트레이 상한이 165 다 — 40px 의 죽은 띠가 둘을 가른다.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486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0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현황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6868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8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플레이할 수 있는 것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38528"/>
            <a:ext cx="182880" cy="182880"/>
          </a:xfrm>
          <a:prstGeom prst="ellipse">
            <a:avLst/>
          </a:prstGeom>
          <a:solidFill>
            <a:srgbClr val="479A58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69848" y="178308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18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조준 · 점수 · 라운드 진행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263640" y="178308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E5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완성 — 8라운드 완주 가능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85800" y="2505456"/>
            <a:ext cx="182880" cy="182880"/>
          </a:xfrm>
          <a:prstGeom prst="ellipse">
            <a:avLst/>
          </a:prstGeom>
          <a:solidFill>
            <a:srgbClr val="479A58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69848" y="2350008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18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칩 26종 · 개조 8종 · 다트 5종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6263640" y="2350008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E5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완성 — 수치는 CSV 한 장에서 편집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85800" y="3072384"/>
            <a:ext cx="182880" cy="182880"/>
          </a:xfrm>
          <a:prstGeom prst="ellipse">
            <a:avLst/>
          </a:prstGeom>
          <a:solidFill>
            <a:srgbClr val="479A58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069848" y="2916936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18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상점 (물리 낙하 · 끌어 옮기기 · 두 갈래 구매)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263640" y="2916936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E5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완성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3639312"/>
            <a:ext cx="182880" cy="182880"/>
          </a:xfrm>
          <a:prstGeom prst="ellipse">
            <a:avLst/>
          </a:prstGeom>
          <a:solidFill>
            <a:srgbClr val="479A58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1069848" y="3483864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18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스테이지 3택 · 제약 6종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263640" y="3483864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E5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완성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85800" y="4206240"/>
            <a:ext cx="182880" cy="182880"/>
          </a:xfrm>
          <a:prstGeom prst="ellipse">
            <a:avLst/>
          </a:prstGeom>
          <a:solidFill>
            <a:srgbClr val="F2B134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069848" y="4050792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18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사운드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6263640" y="4050792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E5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절차적 합성음만 — 음악 없음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85800" y="4773168"/>
            <a:ext cx="182880" cy="182880"/>
          </a:xfrm>
          <a:prstGeom prst="ellipse">
            <a:avLst/>
          </a:prstGeom>
          <a:solidFill>
            <a:srgbClr val="E2593F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1069848" y="461772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18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메타 진행 · 언락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263640" y="461772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E5A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없음 — 런마다 완전 초기화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85800" y="5349240"/>
            <a:ext cx="10789920" cy="960120"/>
          </a:xfrm>
          <a:prstGeom prst="roundRect">
            <a:avLst>
              <a:gd name="adj" fmla="val 7619"/>
            </a:avLst>
          </a:prstGeom>
          <a:solidFill>
            <a:srgbClr val="EBF4EF"/>
          </a:solidFill>
          <a:ln w="12700">
            <a:solidFill>
              <a:srgbClr val="322B49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1051560" y="5468112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0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다음에 풀 문제 — 중앙 조준이 지나치게 강하다.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051560" y="5806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8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불이 칩 25를 주는데 배수를 키우는 칩과 겹치면 한 발이 900점까지 나오고, 중앙은 빗나갈 일도 거의 없다.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0" y="1463040"/>
            <a:ext cx="3108960" cy="3108960"/>
          </a:xfrm>
          <a:prstGeom prst="rect">
            <a:avLst/>
          </a:prstGeom>
          <a:ln/>
        </p:spPr>
      </p:pic>
      <p:sp>
        <p:nvSpPr>
          <p:cNvPr id="3" name="Text 0"/>
          <p:cNvSpPr/>
          <p:nvPr/>
        </p:nvSpPr>
        <p:spPr>
          <a:xfrm>
            <a:off x="685800" y="13716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06E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85800" y="178308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200" b="1" dirty="0">
                <a:solidFill>
                  <a:srgbClr val="1A18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판에서</a:t>
            </a:r>
            <a:endParaRPr lang="en-US" sz="42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200" b="1" dirty="0">
                <a:solidFill>
                  <a:srgbClr val="1A18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실력과 빌드가 만난다</a:t>
            </a:r>
            <a:endParaRPr lang="en-US" sz="4200" dirty="0"/>
          </a:p>
        </p:txBody>
      </p:sp>
      <p:sp>
        <p:nvSpPr>
          <p:cNvPr id="5" name="Text 2"/>
          <p:cNvSpPr/>
          <p:nvPr/>
        </p:nvSpPr>
        <p:spPr>
          <a:xfrm>
            <a:off x="685800" y="374904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600" dirty="0">
                <a:solidFill>
                  <a:srgbClr val="1A18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조준은 읽을 수 있는 패턴이고, 빌드는 곱셈이다.</a:t>
            </a:r>
            <a:endParaRPr lang="en-US" sz="16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600" dirty="0">
                <a:solidFill>
                  <a:srgbClr val="1A18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여덟 라운드 동안 매번 "얼마나 무리할까"를 묻는다.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85800" y="480060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B06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85800" y="53492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8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칩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2057400" y="480060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B06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2057400" y="53492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8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개조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3429000" y="480060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B06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3200" dirty="0"/>
          </a:p>
        </p:txBody>
      </p:sp>
      <p:sp>
        <p:nvSpPr>
          <p:cNvPr id="11" name="Text 8"/>
          <p:cNvSpPr/>
          <p:nvPr/>
        </p:nvSpPr>
        <p:spPr>
          <a:xfrm>
            <a:off x="3429000" y="53492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8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다트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800600" y="480060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B06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3200" dirty="0"/>
          </a:p>
        </p:txBody>
      </p:sp>
      <p:sp>
        <p:nvSpPr>
          <p:cNvPr id="13" name="Text 10"/>
          <p:cNvSpPr/>
          <p:nvPr/>
        </p:nvSpPr>
        <p:spPr>
          <a:xfrm>
            <a:off x="4800600" y="53492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8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제약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85800" y="594360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9A93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프로토타입 진행 중 · Godot 4.7 · 1인 개발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9A93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문서의 수치는 전부 현재 빌드의 실제 값이다.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칩과 다트판</dc:title>
  <dc:subject>PptxGenJS Presentation</dc:subject>
  <dc:creator/>
  <cp:lastModifiedBy/>
  <cp:revision>1</cp:revision>
  <dcterms:created xsi:type="dcterms:W3CDTF">2026-08-20T09:06:21Z</dcterms:created>
  <dcterms:modified xsi:type="dcterms:W3CDTF">2026-08-20T09:06:21Z</dcterms:modified>
</cp:coreProperties>
</file>